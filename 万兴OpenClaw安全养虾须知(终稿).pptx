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8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notesSlide2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26.png" ContentType="image/png"/>
  <Override PartName="/ppt/media/image125.png" ContentType="image/png"/>
  <Override PartName="/ppt/media/image124.png" ContentType="image/png"/>
  <Override PartName="/ppt/media/image122.wmf" ContentType="image/x-wmf"/>
  <Override PartName="/ppt/media/image77.jpeg" ContentType="image/jpeg"/>
  <Override PartName="/ppt/media/image55.png" ContentType="image/png"/>
  <Override PartName="/ppt/media/image119.jpeg" ContentType="image/jpeg"/>
  <Override PartName="/ppt/media/image39.png" ContentType="image/png"/>
  <Override PartName="/ppt/media/image116.png" ContentType="image/png"/>
  <Override PartName="/ppt/media/image115.png" ContentType="image/png"/>
  <Override PartName="/ppt/media/image113.png" ContentType="image/png"/>
  <Override PartName="/ppt/media/image112.png" ContentType="image/png"/>
  <Override PartName="/ppt/media/image106.png" ContentType="image/png"/>
  <Override PartName="/ppt/media/image105.png" ContentType="image/png"/>
  <Override PartName="/ppt/media/image104.png" ContentType="image/png"/>
  <Override PartName="/ppt/media/image103.png" ContentType="image/png"/>
  <Override PartName="/ppt/media/image102.png" ContentType="image/png"/>
  <Override PartName="/ppt/media/image99.png" ContentType="image/png"/>
  <Override PartName="/ppt/media/image98.png" ContentType="image/png"/>
  <Override PartName="/ppt/media/image97.png" ContentType="image/png"/>
  <Override PartName="/ppt/media/image29.png" ContentType="image/png"/>
  <Override PartName="/ppt/media/image123.jpeg" ContentType="image/jpeg"/>
  <Override PartName="/ppt/media/image96.png" ContentType="image/png"/>
  <Override PartName="/ppt/media/image28.png" ContentType="image/png"/>
  <Override PartName="/ppt/media/image92.png" ContentType="image/png"/>
  <Override PartName="/ppt/media/image24.png" ContentType="image/png"/>
  <Override PartName="/ppt/media/image88.jpeg" ContentType="image/jpeg"/>
  <Override PartName="/ppt/media/image121.png" ContentType="image/png"/>
  <Override PartName="/ppt/media/image87.jpeg" ContentType="image/jpeg"/>
  <Override PartName="/ppt/media/image84.jpeg" ContentType="image/jpeg"/>
  <Override PartName="/ppt/media/image52.png" ContentType="image/png"/>
  <Override PartName="/ppt/media/image149.png" ContentType="image/png"/>
  <Override PartName="/ppt/media/image107.png" ContentType="image/png"/>
  <Override PartName="/ppt/media/image10.png" ContentType="image/png"/>
  <Override PartName="/ppt/media/image6.png" ContentType="image/png"/>
  <Override PartName="/ppt/media/image86.png" ContentType="image/png"/>
  <Override PartName="/ppt/media/image18.png" ContentType="image/png"/>
  <Override PartName="/ppt/media/image36.png" ContentType="image/png"/>
  <Override PartName="/ppt/media/image108.png" ContentType="image/png"/>
  <Override PartName="/ppt/media/image11.png" ContentType="image/png"/>
  <Override PartName="/ppt/media/image7.png" ContentType="image/png"/>
  <Override PartName="/ppt/media/image62.jpeg" ContentType="image/jpeg"/>
  <Override PartName="/ppt/media/image37.png" ContentType="image/png"/>
  <Override PartName="/ppt/media/image13.png" ContentType="image/png"/>
  <Override PartName="/ppt/media/image127.png" ContentType="image/png"/>
  <Override PartName="/ppt/media/image30.png" ContentType="image/png"/>
  <Override PartName="/ppt/media/image1.png" ContentType="image/png"/>
  <Override PartName="/ppt/media/image153.png" ContentType="image/png"/>
  <Override PartName="/ppt/media/image40.png" ContentType="image/png"/>
  <Override PartName="/ppt/media/image137.png" ContentType="image/png"/>
  <Override PartName="/ppt/media/image41.png" ContentType="image/png"/>
  <Override PartName="/ppt/media/image138.png" ContentType="image/png"/>
  <Override PartName="/ppt/media/image43.png" ContentType="image/png"/>
  <Override PartName="/ppt/media/image54.png" ContentType="image/png"/>
  <Override PartName="/ppt/media/image139.png" ContentType="image/png"/>
  <Override PartName="/ppt/media/image95.jpeg" ContentType="image/jpeg"/>
  <Override PartName="/ppt/media/image42.png" ContentType="image/png"/>
  <Override PartName="/ppt/media/image141.png" ContentType="image/png"/>
  <Override PartName="/ppt/media/image50.png" ContentType="image/png"/>
  <Override PartName="/ppt/media/image147.png" ContentType="image/png"/>
  <Override PartName="/ppt/media/image143.png" ContentType="image/png"/>
  <Override PartName="/ppt/media/image51.png" ContentType="image/png"/>
  <Override PartName="/ppt/media/image148.png" ContentType="image/png"/>
  <Override PartName="/ppt/media/image145.png" ContentType="image/png"/>
  <Override PartName="/ppt/media/image109.png" ContentType="image/png"/>
  <Override PartName="/ppt/media/image53.png" ContentType="image/png"/>
  <Override PartName="/ppt/media/image58.png" ContentType="image/png"/>
  <Override PartName="/ppt/media/image46.jpeg" ContentType="image/jpeg"/>
  <Override PartName="/ppt/media/image144.png" ContentType="image/png"/>
  <Override PartName="/ppt/media/image146.jpeg" ContentType="image/jpeg"/>
  <Override PartName="/ppt/media/image142.png" ContentType="image/png"/>
  <Override PartName="/ppt/media/image56.png" ContentType="image/png"/>
  <Override PartName="/ppt/media/image151.png" ContentType="image/png"/>
  <Override PartName="/ppt/media/image152.png" ContentType="image/png"/>
  <Override PartName="/ppt/media/image100.png" ContentType="image/png"/>
  <Override PartName="/ppt/media/image49.png" ContentType="image/png"/>
  <Override PartName="/ppt/media/image135.png" ContentType="image/png"/>
  <Override PartName="/ppt/media/image134.png" ContentType="image/png"/>
  <Override PartName="/ppt/media/image47.png" ContentType="image/png"/>
  <Override PartName="/ppt/media/image133.png" ContentType="image/png"/>
  <Override PartName="/ppt/media/image132.png" ContentType="image/png"/>
  <Override PartName="/ppt/media/image76.jpeg" ContentType="image/jpeg"/>
  <Override PartName="/ppt/media/image45.png" ContentType="image/png"/>
  <Override PartName="/ppt/media/image131.png" ContentType="image/png"/>
  <Override PartName="/ppt/media/image48.jpeg" ContentType="image/jpeg"/>
  <Override PartName="/ppt/media/image129.png" ContentType="image/png"/>
  <Override PartName="/ppt/media/image94.jpeg" ContentType="image/jpeg"/>
  <Override PartName="/ppt/media/image32.png" ContentType="image/png"/>
  <Override PartName="/ppt/media/image44.png" ContentType="image/png"/>
  <Override PartName="/ppt/media/image130.png" ContentType="image/png"/>
  <Override PartName="/ppt/media/image79.png" ContentType="image/png"/>
  <Override PartName="/ppt/media/image128.jpeg" ContentType="image/jpeg"/>
  <Override PartName="/ppt/media/image136.png" ContentType="image/png"/>
  <Override PartName="/ppt/media/image140.png" ContentType="image/png"/>
  <Override PartName="/ppt/media/image69.jpeg" ContentType="image/jpeg"/>
  <Override PartName="/ppt/media/image27.jpeg" ContentType="image/jpeg"/>
  <Override PartName="/ppt/media/image111.png" ContentType="image/png"/>
  <Override PartName="/ppt/media/image35.png" ContentType="image/png"/>
  <Override PartName="/ppt/media/image60.png" ContentType="image/png"/>
  <Override PartName="/ppt/media/image157.png" ContentType="image/png"/>
  <Override PartName="/ppt/media/image5.png" ContentType="image/png"/>
  <Override PartName="/ppt/media/image17.png" ContentType="image/png"/>
  <Override PartName="/ppt/media/image38.png" ContentType="image/png"/>
  <Override PartName="/ppt/media/image8.jpeg" ContentType="image/jpeg"/>
  <Override PartName="/ppt/media/image34.png" ContentType="image/png"/>
  <Override PartName="/ppt/media/image156.png" ContentType="image/png"/>
  <Override PartName="/ppt/media/image4.png" ContentType="image/png"/>
  <Override PartName="/ppt/media/image16.png" ContentType="image/png"/>
  <Override PartName="/ppt/media/image33.png" ContentType="image/png"/>
  <Override PartName="/ppt/media/image155.png" ContentType="image/png"/>
  <Override PartName="/ppt/media/image3.png" ContentType="image/png"/>
  <Override PartName="/ppt/media/image83.png" ContentType="image/png"/>
  <Override PartName="/ppt/media/image15.png" ContentType="image/png"/>
  <Override PartName="/ppt/media/image12.png" ContentType="image/png"/>
  <Override PartName="/ppt/media/image80.png" ContentType="image/png"/>
  <Override PartName="/ppt/media/image154.png" ContentType="image/png"/>
  <Override PartName="/ppt/media/image2.png" ContentType="image/png"/>
  <Override PartName="/ppt/media/image82.png" ContentType="image/png"/>
  <Override PartName="/ppt/media/image14.png" ContentType="image/png"/>
  <Override PartName="/ppt/media/image93.png" ContentType="image/png"/>
  <Override PartName="/ppt/media/image25.png" ContentType="image/png"/>
  <Override PartName="/ppt/media/image9.png" ContentType="image/png"/>
  <Override PartName="/ppt/media/image150.jpeg" ContentType="image/jpeg"/>
  <Override PartName="/ppt/media/image31.png" ContentType="image/png"/>
  <Override PartName="/ppt/media/image114.jpeg" ContentType="image/jpeg"/>
  <Override PartName="/ppt/media/image57.png" ContentType="image/png"/>
  <Override PartName="/ppt/media/image20.png" ContentType="image/png"/>
  <Override PartName="/ppt/media/image21.png" ContentType="image/png"/>
  <Override PartName="/ppt/media/image89.jpeg" ContentType="image/jpeg"/>
  <Override PartName="/ppt/media/image118.png" ContentType="image/png"/>
  <Override PartName="/ppt/media/image59.png" ContentType="image/png"/>
  <Override PartName="/ppt/media/image110.png" ContentType="image/png"/>
  <Override PartName="/ppt/media/image90.png" ContentType="image/png"/>
  <Override PartName="/ppt/media/image22.png" ContentType="image/png"/>
  <Override PartName="/ppt/media/image23.png" ContentType="image/png"/>
  <Override PartName="/ppt/media/image26.jpeg" ContentType="image/jpeg"/>
  <Override PartName="/ppt/media/image85.jpeg" ContentType="image/jpeg"/>
  <Override PartName="/ppt/media/image101.png" ContentType="image/png"/>
  <Override PartName="/ppt/media/image61.jpeg" ContentType="image/jpeg"/>
  <Override PartName="/ppt/media/image74.png" ContentType="image/png"/>
  <Override PartName="/ppt/media/image63.png" ContentType="image/png"/>
  <Override PartName="/ppt/media/image64.png" ContentType="image/png"/>
  <Override PartName="/ppt/media/image78.jpeg" ContentType="image/jpeg"/>
  <Override PartName="/ppt/media/image65.png" ContentType="image/png"/>
  <Override PartName="/ppt/media/image19.png" ContentType="image/png"/>
  <Override PartName="/ppt/media/image117.jpeg" ContentType="image/jpeg"/>
  <Override PartName="/ppt/media/image66.png" ContentType="image/png"/>
  <Override PartName="/ppt/media/image120.jpeg" ContentType="image/jpeg"/>
  <Override PartName="/ppt/media/image67.png" ContentType="image/png"/>
  <Override PartName="/ppt/media/image68.png" ContentType="image/png"/>
  <Override PartName="/ppt/media/image70.png" ContentType="image/png"/>
  <Override PartName="/ppt/media/image91.jpeg" ContentType="image/jpeg"/>
  <Override PartName="/ppt/media/image71.png" ContentType="image/png"/>
  <Override PartName="/ppt/media/image72.png" ContentType="image/png"/>
  <Override PartName="/ppt/media/image73.png" ContentType="image/png"/>
  <Override PartName="/ppt/media/image75.png" ContentType="image/png"/>
  <Override PartName="/ppt/media/image8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Calibri"/>
              </a:rPr>
              <a:t>点击鼠标移动幻灯片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zh-CN" sz="2000" spc="-1" strike="noStrike">
                <a:latin typeface="Arial"/>
              </a:rPr>
              <a:t>点击编辑备注格式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&lt;页眉&gt;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86772EF6-0637-4557-84D2-57598DC517E4}" type="slidenum">
              <a:rPr b="0" lang="en-US" sz="1400" spc="-1" strike="noStrike">
                <a:latin typeface="Times New Roman"/>
              </a:rPr>
              <a:t>&lt;编号&gt;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24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E8F61BFA-1292-4180-92F7-D35F18B1EAF1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27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948F6236-971B-4CF1-9B91-AA2A6BC58CE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30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8FFA7907-874D-48E9-AB75-FA9D0B51517D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33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C8D895DF-BB9B-4BD5-A1C2-26E48A1D24F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https://developer.aliyun.com/article/1684032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36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F187367B-2AB8-48AA-9D2E-DEEB29FF4C90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39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DBF2C9D2-9B88-431F-9DBA-75A5B2DEDD17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42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F5666CC7-E743-4EA7-8364-028F7E538D61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https://cp.baidu.com/landing/tscp_doc/fbb88ba9e01a2e0fcba361e18e3e3ef3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45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02A45F75-439A-4803-87C6-207847AD1D52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https://cloud.tencent.com/developer/article/2640454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48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3FDC50F2-FD7E-4C17-A249-273993313FC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51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08286B0E-2E80-4022-94B6-58118AC8D17D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54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F5050259-B433-40D7-8673-29328C52E4E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57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2153528F-F8B4-4AB7-BFEC-A1531E21E793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60" name="TextShape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48E39F5F-A9BB-41E4-B287-047D8B8B13A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&lt;编号&gt;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92f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" name="图片 2" descr=""/>
          <p:cNvPicPr/>
          <p:nvPr/>
        </p:nvPicPr>
        <p:blipFill>
          <a:blip r:embed="rId2">
            <a:lum bright="70000" contrast="-70000"/>
          </a:blip>
          <a:stretch/>
        </p:blipFill>
        <p:spPr>
          <a:xfrm>
            <a:off x="9993960" y="315360"/>
            <a:ext cx="1716840" cy="365400"/>
          </a:xfrm>
          <a:prstGeom prst="rect">
            <a:avLst/>
          </a:prstGeom>
          <a:ln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Calibri"/>
              </a:rPr>
              <a:t>点击鼠标编辑标题文字格式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rgbClr val="000000"/>
                </a:solidFill>
                <a:latin typeface="Calibri"/>
              </a:rPr>
              <a:t>点击鼠标编辑大纲文字格式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第二个大纲级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Calibri"/>
              </a:rPr>
              <a:t>第三大纲级别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000000"/>
                </a:solidFill>
                <a:latin typeface="Calibri"/>
              </a:rPr>
              <a:t>第四大纲级别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Calibri"/>
              </a:rPr>
              <a:t>第五大纲级别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Calibri"/>
              </a:rPr>
              <a:t>第六大纲级别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Calibri"/>
              </a:rPr>
              <a:t>第七大纲级别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image" Target="../media/image62.jpeg"/><Relationship Id="rId3" Type="http://schemas.openxmlformats.org/officeDocument/2006/relationships/hyperlink" Target="https://github.com/jgamblin/OpenClawCVEs" TargetMode="External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hyperlink" Target="https://alidocs.dingtalk.com/i/nodes/NDoBb60VLQdBjLrBHPBQzmowJlemrZQ3?utm_scene=person_space" TargetMode="External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76.jpeg"/><Relationship Id="rId3" Type="http://schemas.openxmlformats.org/officeDocument/2006/relationships/image" Target="../media/image77.jpeg"/><Relationship Id="rId4" Type="http://schemas.openxmlformats.org/officeDocument/2006/relationships/image" Target="../media/image78.jpe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2.png"/><Relationship Id="rId2" Type="http://schemas.openxmlformats.org/officeDocument/2006/relationships/image" Target="../media/image83.png"/><Relationship Id="rId3" Type="http://schemas.openxmlformats.org/officeDocument/2006/relationships/image" Target="../media/image84.jpeg"/><Relationship Id="rId4" Type="http://schemas.openxmlformats.org/officeDocument/2006/relationships/image" Target="../media/image85.jpeg"/><Relationship Id="rId5" Type="http://schemas.openxmlformats.org/officeDocument/2006/relationships/image" Target="../media/image86.png"/><Relationship Id="rId6" Type="http://schemas.openxmlformats.org/officeDocument/2006/relationships/image" Target="../media/image87.jpeg"/><Relationship Id="rId7" Type="http://schemas.openxmlformats.org/officeDocument/2006/relationships/image" Target="../media/image88.jpeg"/><Relationship Id="rId8" Type="http://schemas.openxmlformats.org/officeDocument/2006/relationships/image" Target="../media/image89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0.png"/><Relationship Id="rId2" Type="http://schemas.openxmlformats.org/officeDocument/2006/relationships/image" Target="../media/image91.jpe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jpeg"/><Relationship Id="rId6" Type="http://schemas.openxmlformats.org/officeDocument/2006/relationships/image" Target="../media/image95.jpeg"/><Relationship Id="rId7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6.png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0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6.png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0.png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jpeg"/><Relationship Id="rId6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5.png"/><Relationship Id="rId2" Type="http://schemas.openxmlformats.org/officeDocument/2006/relationships/image" Target="../media/image116.png"/><Relationship Id="rId3" Type="http://schemas.openxmlformats.org/officeDocument/2006/relationships/image" Target="../media/image117.jpeg"/><Relationship Id="rId4" Type="http://schemas.openxmlformats.org/officeDocument/2006/relationships/image" Target="../media/image118.png"/><Relationship Id="rId5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9.jpeg"/><Relationship Id="rId2" Type="http://schemas.openxmlformats.org/officeDocument/2006/relationships/image" Target="../media/image120.jpeg"/><Relationship Id="rId3" Type="http://schemas.openxmlformats.org/officeDocument/2006/relationships/image" Target="../media/image121.png"/><Relationship Id="rId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22.wmf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3.jpe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24.png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29.png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32.png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Relationship Id="rId9" Type="http://schemas.openxmlformats.org/officeDocument/2006/relationships/image" Target="../media/image140.png"/><Relationship Id="rId10" Type="http://schemas.openxmlformats.org/officeDocument/2006/relationships/image" Target="../media/image141.png"/><Relationship Id="rId11" Type="http://schemas.openxmlformats.org/officeDocument/2006/relationships/image" Target="../media/image142.png"/><Relationship Id="rId12" Type="http://schemas.openxmlformats.org/officeDocument/2006/relationships/image" Target="../media/image143.png"/><Relationship Id="rId13" Type="http://schemas.openxmlformats.org/officeDocument/2006/relationships/image" Target="../media/image144.png"/><Relationship Id="rId14" Type="http://schemas.openxmlformats.org/officeDocument/2006/relationships/image" Target="../media/image145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46.jpeg"/><Relationship Id="rId2" Type="http://schemas.openxmlformats.org/officeDocument/2006/relationships/image" Target="../media/image147.png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50.jpeg"/><Relationship Id="rId2" Type="http://schemas.openxmlformats.org/officeDocument/2006/relationships/image" Target="../media/image151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Relationship Id="rId5" Type="http://schemas.openxmlformats.org/officeDocument/2006/relationships/image" Target="../media/image154.png"/><Relationship Id="rId6" Type="http://schemas.openxmlformats.org/officeDocument/2006/relationships/image" Target="../media/image155.png"/><Relationship Id="rId7" Type="http://schemas.openxmlformats.org/officeDocument/2006/relationships/image" Target="../media/image156.png"/><Relationship Id="rId8" Type="http://schemas.openxmlformats.org/officeDocument/2006/relationships/image" Target="../media/image157.png"/><Relationship Id="rId9" Type="http://schemas.openxmlformats.org/officeDocument/2006/relationships/hyperlink" Target="https://alidocs.dingtalk.com/i/nodes/OG9lyrgJPzdv7p3vTXnXGpyGWzN67Mw4?utm_scene=person_space" TargetMode="External"/><Relationship Id="rId10" Type="http://schemas.openxmlformats.org/officeDocument/2006/relationships/hyperlink" Target="https://alidocs.dingtalk.com/i/nodes/OG9lyrgJPzdv7p3vTXnXGpyGWzN67Mw4?utm_scene=person_space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1" descr="preencoded.png"/>
          <p:cNvPicPr/>
          <p:nvPr/>
        </p:nvPicPr>
        <p:blipFill>
          <a:blip r:embed="rId1"/>
          <a:srcRect l="-629" t="0" r="-629" b="0"/>
          <a:stretch/>
        </p:blipFill>
        <p:spPr>
          <a:xfrm>
            <a:off x="952920" y="0"/>
            <a:ext cx="18720" cy="6857640"/>
          </a:xfrm>
          <a:prstGeom prst="rect">
            <a:avLst/>
          </a:prstGeom>
          <a:ln>
            <a:noFill/>
          </a:ln>
        </p:spPr>
      </p:pic>
      <p:pic>
        <p:nvPicPr>
          <p:cNvPr id="47" name="Image 2" descr="preencoded.png"/>
          <p:cNvPicPr/>
          <p:nvPr/>
        </p:nvPicPr>
        <p:blipFill>
          <a:blip r:embed="rId2"/>
          <a:srcRect l="-2083" t="0" r="-2083" b="0"/>
          <a:stretch/>
        </p:blipFill>
        <p:spPr>
          <a:xfrm>
            <a:off x="0" y="1904760"/>
            <a:ext cx="12191400" cy="8640"/>
          </a:xfrm>
          <a:prstGeom prst="rect">
            <a:avLst/>
          </a:prstGeom>
          <a:ln>
            <a:noFill/>
          </a:ln>
        </p:spPr>
      </p:pic>
      <p:sp>
        <p:nvSpPr>
          <p:cNvPr id="48" name="CustomShape 1"/>
          <p:cNvSpPr/>
          <p:nvPr/>
        </p:nvSpPr>
        <p:spPr>
          <a:xfrm>
            <a:off x="8344080" y="3010320"/>
            <a:ext cx="4038480" cy="4038480"/>
          </a:xfrm>
          <a:prstGeom prst="ellipse">
            <a:avLst/>
          </a:prstGeom>
          <a:noFill/>
          <a:ln w="25560">
            <a:solidFill>
              <a:schemeClr val="accent1">
                <a:alpha val="10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9" name="Image 4" descr="preencoded.png"/>
          <p:cNvPicPr/>
          <p:nvPr/>
        </p:nvPicPr>
        <p:blipFill>
          <a:blip r:embed="rId3"/>
          <a:stretch/>
        </p:blipFill>
        <p:spPr>
          <a:xfrm>
            <a:off x="885960" y="1867320"/>
            <a:ext cx="75600" cy="75600"/>
          </a:xfrm>
          <a:prstGeom prst="rect">
            <a:avLst/>
          </a:prstGeom>
          <a:ln>
            <a:noFill/>
          </a:ln>
        </p:spPr>
      </p:pic>
      <p:pic>
        <p:nvPicPr>
          <p:cNvPr id="50" name="Image 5" descr="preencoded.png"/>
          <p:cNvPicPr/>
          <p:nvPr/>
        </p:nvPicPr>
        <p:blipFill>
          <a:blip r:embed="rId4"/>
          <a:stretch/>
        </p:blipFill>
        <p:spPr>
          <a:xfrm>
            <a:off x="10439640" y="1867320"/>
            <a:ext cx="75600" cy="75600"/>
          </a:xfrm>
          <a:prstGeom prst="rect">
            <a:avLst/>
          </a:prstGeom>
          <a:ln>
            <a:noFill/>
          </a:ln>
        </p:spPr>
      </p:pic>
      <p:pic>
        <p:nvPicPr>
          <p:cNvPr id="51" name="Image 6" descr="preencoded.png"/>
          <p:cNvPicPr/>
          <p:nvPr/>
        </p:nvPicPr>
        <p:blipFill>
          <a:blip r:embed="rId5"/>
          <a:stretch/>
        </p:blipFill>
        <p:spPr>
          <a:xfrm>
            <a:off x="1504080" y="647280"/>
            <a:ext cx="228240" cy="228240"/>
          </a:xfrm>
          <a:prstGeom prst="rect">
            <a:avLst/>
          </a:prstGeom>
          <a:ln>
            <a:noFill/>
          </a:ln>
        </p:spPr>
      </p:pic>
      <p:sp>
        <p:nvSpPr>
          <p:cNvPr id="52" name="CustomShape 2"/>
          <p:cNvSpPr/>
          <p:nvPr/>
        </p:nvSpPr>
        <p:spPr>
          <a:xfrm>
            <a:off x="1248120" y="2127960"/>
            <a:ext cx="9505800" cy="1467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1" lang="zh-CN" sz="4800" spc="-1" strike="noStrike">
                <a:solidFill>
                  <a:srgbClr val="ffffff"/>
                </a:solidFill>
                <a:latin typeface="Noto Sans SC"/>
                <a:ea typeface="Noto Sans SC"/>
              </a:rPr>
              <a:t>从能用到可控</a:t>
            </a:r>
            <a:endParaRPr b="0" lang="en-US" sz="4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3200" spc="-1" strike="noStrike">
                <a:solidFill>
                  <a:srgbClr val="4472c4"/>
                </a:solidFill>
                <a:latin typeface="Noto Sans SC"/>
                <a:ea typeface="Noto Sans SC"/>
              </a:rPr>
              <a:t>万兴</a:t>
            </a:r>
            <a:r>
              <a:rPr b="1" lang="en-US" sz="3200" spc="-1" strike="noStrike">
                <a:solidFill>
                  <a:srgbClr val="4472c4"/>
                </a:solidFill>
                <a:latin typeface="Noto Sans SC"/>
                <a:ea typeface="Noto Sans SC"/>
              </a:rPr>
              <a:t>OpenClaw</a:t>
            </a:r>
            <a:r>
              <a:rPr b="1" lang="zh-CN" sz="3200" spc="-1" strike="noStrike">
                <a:solidFill>
                  <a:srgbClr val="4472c4"/>
                </a:solidFill>
                <a:latin typeface="Noto Sans SC"/>
                <a:ea typeface="Noto Sans SC"/>
              </a:rPr>
              <a:t>安全养虾须知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3" name="CustomShape 3"/>
          <p:cNvSpPr/>
          <p:nvPr/>
        </p:nvSpPr>
        <p:spPr>
          <a:xfrm>
            <a:off x="8581680" y="3057840"/>
            <a:ext cx="114120" cy="114120"/>
          </a:xfrm>
          <a:prstGeom prst="ellipse">
            <a:avLst/>
          </a:prstGeom>
          <a:solidFill>
            <a:srgbClr val="ff5e5e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CustomShape 4"/>
          <p:cNvSpPr/>
          <p:nvPr/>
        </p:nvSpPr>
        <p:spPr>
          <a:xfrm>
            <a:off x="9753840" y="3057840"/>
            <a:ext cx="114120" cy="114120"/>
          </a:xfrm>
          <a:prstGeom prst="ellipse">
            <a:avLst/>
          </a:prstGeom>
          <a:solidFill>
            <a:srgbClr val="ffbd2e"/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CustomShape 5"/>
          <p:cNvSpPr/>
          <p:nvPr/>
        </p:nvSpPr>
        <p:spPr>
          <a:xfrm>
            <a:off x="10925280" y="3057840"/>
            <a:ext cx="114120" cy="1141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6" name="Group 6"/>
          <p:cNvGrpSpPr/>
          <p:nvPr/>
        </p:nvGrpSpPr>
        <p:grpSpPr>
          <a:xfrm>
            <a:off x="1470240" y="4792320"/>
            <a:ext cx="4304520" cy="971640"/>
            <a:chOff x="1470240" y="4792320"/>
            <a:chExt cx="4304520" cy="971640"/>
          </a:xfrm>
        </p:grpSpPr>
        <p:grpSp>
          <p:nvGrpSpPr>
            <p:cNvPr id="57" name="Group 7"/>
            <p:cNvGrpSpPr/>
            <p:nvPr/>
          </p:nvGrpSpPr>
          <p:grpSpPr>
            <a:xfrm>
              <a:off x="1470240" y="4792320"/>
              <a:ext cx="4304520" cy="971640"/>
              <a:chOff x="1470240" y="4792320"/>
              <a:chExt cx="4304520" cy="971640"/>
            </a:xfrm>
          </p:grpSpPr>
          <p:sp>
            <p:nvSpPr>
              <p:cNvPr id="58" name="CustomShape 8"/>
              <p:cNvSpPr/>
              <p:nvPr/>
            </p:nvSpPr>
            <p:spPr>
              <a:xfrm>
                <a:off x="1470240" y="4792320"/>
                <a:ext cx="4304520" cy="971640"/>
              </a:xfrm>
              <a:prstGeom prst="roundRect">
                <a:avLst>
                  <a:gd name="adj" fmla="val 22135"/>
                </a:avLst>
              </a:prstGeom>
              <a:solidFill>
                <a:schemeClr val="accent1">
                  <a:lumMod val="40000"/>
                  <a:lumOff val="60000"/>
                  <a:alpha val="5000"/>
                </a:schemeClr>
              </a:solidFill>
              <a:ln w="12600">
                <a:solidFill>
                  <a:schemeClr val="accent1">
                    <a:alpha val="30000"/>
                  </a:schemeClr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" name="CustomShape 9"/>
              <p:cNvSpPr/>
              <p:nvPr/>
            </p:nvSpPr>
            <p:spPr>
              <a:xfrm>
                <a:off x="1660320" y="4935960"/>
                <a:ext cx="4096080" cy="2768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500" spc="-1" strike="noStrike">
                    <a:solidFill>
                      <a:srgbClr val="ffffff"/>
                    </a:solidFill>
                    <a:latin typeface="Noto Sans SC"/>
                    <a:ea typeface="Noto Sans SC"/>
                  </a:rPr>
                  <a:t> </a:t>
                </a:r>
                <a:r>
                  <a:rPr b="0" lang="zh-CN" sz="1500" spc="-1" strike="noStrike">
                    <a:solidFill>
                      <a:srgbClr val="ffffff"/>
                    </a:solidFill>
                    <a:latin typeface="Noto Sans SC"/>
                    <a:ea typeface="Noto Sans SC"/>
                  </a:rPr>
                  <a:t>主讲人</a:t>
                </a:r>
                <a:r>
                  <a:rPr b="0" lang="zh-CN" sz="1500" spc="-1" strike="noStrike">
                    <a:solidFill>
                      <a:srgbClr val="ffffff"/>
                    </a:solidFill>
                    <a:latin typeface="Noto Sans SC"/>
                    <a:ea typeface="Noto Sans SC"/>
                  </a:rPr>
                  <a:t>孙瑜 </a:t>
                </a:r>
                <a:r>
                  <a:rPr b="0" lang="en-US" sz="1300" spc="-1" strike="noStrike">
                    <a:solidFill>
                      <a:srgbClr val="8892b0"/>
                    </a:solidFill>
                    <a:latin typeface="Noto Sans SC"/>
                    <a:ea typeface="Noto Sans SC"/>
                  </a:rPr>
                  <a:t>| </a:t>
                </a:r>
                <a:r>
                  <a:rPr b="0" lang="zh-CN" sz="1300" spc="-1" strike="noStrike">
                    <a:solidFill>
                      <a:srgbClr val="8892b0"/>
                    </a:solidFill>
                    <a:latin typeface="Noto Sans SC"/>
                    <a:ea typeface="Noto Sans SC"/>
                  </a:rPr>
                  <a:t>效率工程中心</a:t>
                </a:r>
                <a:endParaRPr b="0" lang="en-US" sz="1300" spc="-1" strike="noStrike">
                  <a:latin typeface="Arial"/>
                </a:endParaRPr>
              </a:p>
            </p:txBody>
          </p:sp>
          <p:sp>
            <p:nvSpPr>
              <p:cNvPr id="60" name="CustomShape 10"/>
              <p:cNvSpPr/>
              <p:nvPr/>
            </p:nvSpPr>
            <p:spPr>
              <a:xfrm>
                <a:off x="1869840" y="5316120"/>
                <a:ext cx="3809880" cy="2282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200" spc="-1" strike="noStrike">
                    <a:solidFill>
                      <a:srgbClr val="4472c4"/>
                    </a:solidFill>
                    <a:latin typeface="Noto Sans SC"/>
                    <a:ea typeface="Noto Sans SC"/>
                  </a:rPr>
                  <a:t>2026</a:t>
                </a:r>
                <a:r>
                  <a:rPr b="0" lang="zh-CN" sz="1200" spc="-1" strike="noStrike">
                    <a:solidFill>
                      <a:srgbClr val="4472c4"/>
                    </a:solidFill>
                    <a:latin typeface="Noto Sans SC"/>
                    <a:ea typeface="Noto Sans SC"/>
                  </a:rPr>
                  <a:t>年</a:t>
                </a:r>
                <a:r>
                  <a:rPr b="0" lang="en-US" sz="1200" spc="-1" strike="noStrike">
                    <a:solidFill>
                      <a:srgbClr val="4472c4"/>
                    </a:solidFill>
                    <a:latin typeface="Noto Sans SC"/>
                    <a:ea typeface="Noto Sans SC"/>
                  </a:rPr>
                  <a:t>3</a:t>
                </a:r>
                <a:r>
                  <a:rPr b="0" lang="zh-CN" sz="1200" spc="-1" strike="noStrike">
                    <a:solidFill>
                      <a:srgbClr val="4472c4"/>
                    </a:solidFill>
                    <a:latin typeface="Noto Sans SC"/>
                    <a:ea typeface="Noto Sans SC"/>
                  </a:rPr>
                  <a:t>月</a:t>
                </a:r>
                <a:r>
                  <a:rPr b="0" lang="en-US" sz="1200" spc="-1" strike="noStrike">
                    <a:solidFill>
                      <a:srgbClr val="4472c4"/>
                    </a:solidFill>
                    <a:latin typeface="Noto Sans SC"/>
                    <a:ea typeface="Noto Sans SC"/>
                  </a:rPr>
                  <a:t>26</a:t>
                </a:r>
                <a:r>
                  <a:rPr b="0" lang="zh-CN" sz="1200" spc="-1" strike="noStrike">
                    <a:solidFill>
                      <a:srgbClr val="4472c4"/>
                    </a:solidFill>
                    <a:latin typeface="Noto Sans SC"/>
                    <a:ea typeface="Noto Sans SC"/>
                  </a:rPr>
                  <a:t>日 </a:t>
                </a:r>
                <a:endParaRPr b="0" lang="en-US" sz="1200" spc="-1" strike="noStrike">
                  <a:latin typeface="Arial"/>
                </a:endParaRPr>
              </a:p>
            </p:txBody>
          </p:sp>
        </p:grpSp>
        <p:pic>
          <p:nvPicPr>
            <p:cNvPr id="61" name="Image 12" descr="preencoded.png"/>
            <p:cNvPicPr/>
            <p:nvPr/>
          </p:nvPicPr>
          <p:blipFill>
            <a:blip r:embed="rId6"/>
            <a:stretch/>
          </p:blipFill>
          <p:spPr>
            <a:xfrm>
              <a:off x="1689120" y="5339880"/>
              <a:ext cx="133200" cy="15228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62" name="图片 2" descr=""/>
          <p:cNvPicPr/>
          <p:nvPr/>
        </p:nvPicPr>
        <p:blipFill>
          <a:blip r:embed="rId7"/>
          <a:srcRect l="66793" t="0" r="0" b="15945"/>
          <a:stretch/>
        </p:blipFill>
        <p:spPr>
          <a:xfrm>
            <a:off x="6966360" y="875880"/>
            <a:ext cx="3067920" cy="5763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1" descr="preencoded.png"/>
          <p:cNvPicPr/>
          <p:nvPr/>
        </p:nvPicPr>
        <p:blipFill>
          <a:blip r:embed="rId1"/>
          <a:srcRect l="0" t="-314" r="0" b="-314"/>
          <a:stretch/>
        </p:blipFill>
        <p:spPr>
          <a:xfrm>
            <a:off x="952920" y="1238040"/>
            <a:ext cx="571320" cy="38160"/>
          </a:xfrm>
          <a:prstGeom prst="rect">
            <a:avLst/>
          </a:prstGeom>
          <a:ln>
            <a:noFill/>
          </a:ln>
        </p:spPr>
      </p:pic>
      <p:pic>
        <p:nvPicPr>
          <p:cNvPr id="64" name="Image 2" descr="preencoded.png"/>
          <p:cNvPicPr/>
          <p:nvPr/>
        </p:nvPicPr>
        <p:blipFill>
          <a:blip r:embed="rId2"/>
          <a:srcRect l="-629" t="0" r="-629" b="0"/>
          <a:stretch/>
        </p:blipFill>
        <p:spPr>
          <a:xfrm>
            <a:off x="2381040" y="1171440"/>
            <a:ext cx="24480" cy="5399640"/>
          </a:xfrm>
          <a:prstGeom prst="rect">
            <a:avLst/>
          </a:prstGeom>
          <a:ln>
            <a:noFill/>
          </a:ln>
        </p:spPr>
      </p:pic>
      <p:pic>
        <p:nvPicPr>
          <p:cNvPr id="65" name="Image 3" descr="preencoded.png"/>
          <p:cNvPicPr/>
          <p:nvPr/>
        </p:nvPicPr>
        <p:blipFill>
          <a:blip r:embed="rId3"/>
          <a:srcRect l="-20" t="0" r="-20" b="0"/>
          <a:stretch/>
        </p:blipFill>
        <p:spPr>
          <a:xfrm>
            <a:off x="2857680" y="1238400"/>
            <a:ext cx="7657920" cy="761400"/>
          </a:xfrm>
          <a:prstGeom prst="rect">
            <a:avLst/>
          </a:prstGeom>
          <a:ln>
            <a:noFill/>
          </a:ln>
        </p:spPr>
      </p:pic>
      <p:pic>
        <p:nvPicPr>
          <p:cNvPr id="66" name="Image 4" descr="preencoded.png"/>
          <p:cNvPicPr/>
          <p:nvPr/>
        </p:nvPicPr>
        <p:blipFill>
          <a:blip r:embed="rId4"/>
          <a:srcRect l="-20" t="0" r="-20" b="0"/>
          <a:stretch/>
        </p:blipFill>
        <p:spPr>
          <a:xfrm>
            <a:off x="2857680" y="2381400"/>
            <a:ext cx="7657920" cy="761400"/>
          </a:xfrm>
          <a:prstGeom prst="rect">
            <a:avLst/>
          </a:prstGeom>
          <a:ln>
            <a:noFill/>
          </a:ln>
        </p:spPr>
      </p:pic>
      <p:pic>
        <p:nvPicPr>
          <p:cNvPr id="67" name="Image 5" descr="preencoded.png"/>
          <p:cNvPicPr/>
          <p:nvPr/>
        </p:nvPicPr>
        <p:blipFill>
          <a:blip r:embed="rId5"/>
          <a:srcRect l="-20" t="0" r="-20" b="0"/>
          <a:stretch/>
        </p:blipFill>
        <p:spPr>
          <a:xfrm>
            <a:off x="2857680" y="3524400"/>
            <a:ext cx="7657920" cy="761400"/>
          </a:xfrm>
          <a:prstGeom prst="rect">
            <a:avLst/>
          </a:prstGeom>
          <a:ln>
            <a:noFill/>
          </a:ln>
        </p:spPr>
      </p:pic>
      <p:pic>
        <p:nvPicPr>
          <p:cNvPr id="68" name="Image 6" descr="preencoded.png"/>
          <p:cNvPicPr/>
          <p:nvPr/>
        </p:nvPicPr>
        <p:blipFill>
          <a:blip r:embed="rId6"/>
          <a:srcRect l="-20" t="0" r="-20" b="0"/>
          <a:stretch/>
        </p:blipFill>
        <p:spPr>
          <a:xfrm>
            <a:off x="2857680" y="4667400"/>
            <a:ext cx="7657920" cy="761400"/>
          </a:xfrm>
          <a:prstGeom prst="rect">
            <a:avLst/>
          </a:prstGeom>
          <a:ln>
            <a:noFill/>
          </a:ln>
        </p:spPr>
      </p:pic>
      <p:sp>
        <p:nvSpPr>
          <p:cNvPr id="69" name="CustomShape 1"/>
          <p:cNvSpPr/>
          <p:nvPr/>
        </p:nvSpPr>
        <p:spPr>
          <a:xfrm>
            <a:off x="952920" y="571680"/>
            <a:ext cx="7924680" cy="58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3100" spc="148" strike="noStrike">
                <a:solidFill>
                  <a:srgbClr val="ffffff"/>
                </a:solidFill>
                <a:latin typeface="Noto Sans SC"/>
                <a:ea typeface="Noto Sans SC"/>
              </a:rPr>
              <a:t>目录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70" name="CustomShape 2"/>
          <p:cNvSpPr/>
          <p:nvPr/>
        </p:nvSpPr>
        <p:spPr>
          <a:xfrm>
            <a:off x="875880" y="1476000"/>
            <a:ext cx="1219320" cy="27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ffcc"/>
                </a:solidFill>
                <a:latin typeface="Noto Sans SC"/>
                <a:ea typeface="Noto Sans SC"/>
              </a:rPr>
              <a:t>Part 1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71" name="Image 8" descr="preencoded.png"/>
          <p:cNvPicPr/>
          <p:nvPr/>
        </p:nvPicPr>
        <p:blipFill>
          <a:blip r:embed="rId7"/>
          <a:stretch/>
        </p:blipFill>
        <p:spPr>
          <a:xfrm>
            <a:off x="2314440" y="1505160"/>
            <a:ext cx="209160" cy="209160"/>
          </a:xfrm>
          <a:prstGeom prst="rect">
            <a:avLst/>
          </a:prstGeom>
          <a:ln>
            <a:noFill/>
          </a:ln>
        </p:spPr>
      </p:pic>
      <p:pic>
        <p:nvPicPr>
          <p:cNvPr id="72" name="Image 9" descr="preencoded.png"/>
          <p:cNvPicPr/>
          <p:nvPr/>
        </p:nvPicPr>
        <p:blipFill>
          <a:blip r:embed="rId8"/>
          <a:stretch/>
        </p:blipFill>
        <p:spPr>
          <a:xfrm>
            <a:off x="3143880" y="1476000"/>
            <a:ext cx="228240" cy="228240"/>
          </a:xfrm>
          <a:prstGeom prst="rect">
            <a:avLst/>
          </a:prstGeom>
          <a:ln>
            <a:noFill/>
          </a:ln>
        </p:spPr>
      </p:pic>
      <p:sp>
        <p:nvSpPr>
          <p:cNvPr id="73" name="CustomShape 3"/>
          <p:cNvSpPr/>
          <p:nvPr/>
        </p:nvSpPr>
        <p:spPr>
          <a:xfrm>
            <a:off x="3619080" y="1380960"/>
            <a:ext cx="5429520" cy="30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ffffff"/>
                </a:solidFill>
                <a:latin typeface="Noto Sans SC"/>
                <a:ea typeface="Noto Sans SC"/>
              </a:rPr>
              <a:t>今天你养虾了吗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4" name="CustomShape 4"/>
          <p:cNvSpPr/>
          <p:nvPr/>
        </p:nvSpPr>
        <p:spPr>
          <a:xfrm>
            <a:off x="3619080" y="1714680"/>
            <a:ext cx="54295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2b0"/>
                </a:solidFill>
                <a:latin typeface="Noto Sans SC"/>
                <a:ea typeface="Noto Sans SC"/>
              </a:rPr>
              <a:t>OpenClaw</a:t>
            </a:r>
            <a:r>
              <a:rPr b="0" lang="zh-CN" sz="1200" spc="-1" strike="noStrike">
                <a:solidFill>
                  <a:srgbClr val="8892b0"/>
                </a:solidFill>
                <a:latin typeface="Noto Sans SC"/>
                <a:ea typeface="Noto Sans SC"/>
              </a:rPr>
              <a:t>的机遇与我们的新时代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5" name="CustomShape 5"/>
          <p:cNvSpPr/>
          <p:nvPr/>
        </p:nvSpPr>
        <p:spPr>
          <a:xfrm>
            <a:off x="8973000" y="1476000"/>
            <a:ext cx="1219320" cy="27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0ffcc"/>
                </a:solidFill>
                <a:latin typeface="Noto Sans SC"/>
                <a:ea typeface="Noto Sans SC"/>
              </a:rPr>
              <a:t>5 </a:t>
            </a:r>
            <a:r>
              <a:rPr b="0" lang="zh-CN" sz="1500" spc="-1" strike="noStrike">
                <a:solidFill>
                  <a:srgbClr val="00ffcc"/>
                </a:solidFill>
                <a:latin typeface="Noto Sans SC"/>
                <a:ea typeface="Noto Sans SC"/>
              </a:rPr>
              <a:t>分钟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6" name="CustomShape 6"/>
          <p:cNvSpPr/>
          <p:nvPr/>
        </p:nvSpPr>
        <p:spPr>
          <a:xfrm>
            <a:off x="875880" y="2619000"/>
            <a:ext cx="1219320" cy="27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bd2e"/>
                </a:solidFill>
                <a:latin typeface="Noto Sans SC"/>
                <a:ea typeface="Noto Sans SC"/>
              </a:rPr>
              <a:t>Part 2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77" name="Image 10" descr="preencoded.png"/>
          <p:cNvPicPr/>
          <p:nvPr/>
        </p:nvPicPr>
        <p:blipFill>
          <a:blip r:embed="rId9"/>
          <a:stretch/>
        </p:blipFill>
        <p:spPr>
          <a:xfrm>
            <a:off x="2314440" y="2648160"/>
            <a:ext cx="209160" cy="209160"/>
          </a:xfrm>
          <a:prstGeom prst="rect">
            <a:avLst/>
          </a:prstGeom>
          <a:ln>
            <a:noFill/>
          </a:ln>
        </p:spPr>
      </p:pic>
      <p:pic>
        <p:nvPicPr>
          <p:cNvPr id="78" name="Image 11" descr="preencoded.png"/>
          <p:cNvPicPr/>
          <p:nvPr/>
        </p:nvPicPr>
        <p:blipFill>
          <a:blip r:embed="rId10"/>
          <a:stretch/>
        </p:blipFill>
        <p:spPr>
          <a:xfrm>
            <a:off x="3143880" y="2619000"/>
            <a:ext cx="228240" cy="228240"/>
          </a:xfrm>
          <a:prstGeom prst="rect">
            <a:avLst/>
          </a:prstGeom>
          <a:ln>
            <a:noFill/>
          </a:ln>
        </p:spPr>
      </p:pic>
      <p:sp>
        <p:nvSpPr>
          <p:cNvPr id="79" name="CustomShape 7"/>
          <p:cNvSpPr/>
          <p:nvPr/>
        </p:nvSpPr>
        <p:spPr>
          <a:xfrm>
            <a:off x="3619080" y="2523960"/>
            <a:ext cx="5429520" cy="30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ffffff"/>
                </a:solidFill>
                <a:latin typeface="Noto Sans SC"/>
                <a:ea typeface="Noto Sans SC"/>
              </a:rPr>
              <a:t>强大的工具，潜在的陷阱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0" name="CustomShape 8"/>
          <p:cNvSpPr/>
          <p:nvPr/>
        </p:nvSpPr>
        <p:spPr>
          <a:xfrm>
            <a:off x="3619080" y="2857680"/>
            <a:ext cx="54295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8892b0"/>
                </a:solidFill>
                <a:latin typeface="Noto Sans SC"/>
                <a:ea typeface="Noto Sans SC"/>
              </a:rPr>
              <a:t>深入理解</a:t>
            </a:r>
            <a:r>
              <a:rPr b="0" lang="en-US" sz="1200" spc="-1" strike="noStrike">
                <a:solidFill>
                  <a:srgbClr val="8892b0"/>
                </a:solidFill>
                <a:latin typeface="Noto Sans SC"/>
                <a:ea typeface="Noto Sans SC"/>
              </a:rPr>
              <a:t>OpenClaw</a:t>
            </a:r>
            <a:r>
              <a:rPr b="0" lang="zh-CN" sz="1200" spc="-1" strike="noStrike">
                <a:solidFill>
                  <a:srgbClr val="8892b0"/>
                </a:solidFill>
                <a:latin typeface="Noto Sans SC"/>
                <a:ea typeface="Noto Sans SC"/>
              </a:rPr>
              <a:t>的核心安全风险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1" name="CustomShape 9"/>
          <p:cNvSpPr/>
          <p:nvPr/>
        </p:nvSpPr>
        <p:spPr>
          <a:xfrm>
            <a:off x="8973000" y="2619000"/>
            <a:ext cx="1219320" cy="27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bd2e"/>
                </a:solidFill>
                <a:latin typeface="Noto Sans SC"/>
                <a:ea typeface="Noto Sans SC"/>
              </a:rPr>
              <a:t>15 </a:t>
            </a:r>
            <a:r>
              <a:rPr b="0" lang="zh-CN" sz="1500" spc="-1" strike="noStrike">
                <a:solidFill>
                  <a:srgbClr val="ffbd2e"/>
                </a:solidFill>
                <a:latin typeface="Noto Sans SC"/>
                <a:ea typeface="Noto Sans SC"/>
              </a:rPr>
              <a:t>分钟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CustomShape 10"/>
          <p:cNvSpPr/>
          <p:nvPr/>
        </p:nvSpPr>
        <p:spPr>
          <a:xfrm>
            <a:off x="875880" y="3762000"/>
            <a:ext cx="1219320" cy="27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8bdf8"/>
                </a:solidFill>
                <a:latin typeface="Noto Sans SC"/>
                <a:ea typeface="Noto Sans SC"/>
              </a:rPr>
              <a:t>Part 3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83" name="Image 12" descr="preencoded.png"/>
          <p:cNvPicPr/>
          <p:nvPr/>
        </p:nvPicPr>
        <p:blipFill>
          <a:blip r:embed="rId11"/>
          <a:stretch/>
        </p:blipFill>
        <p:spPr>
          <a:xfrm>
            <a:off x="2314440" y="3791160"/>
            <a:ext cx="209160" cy="209160"/>
          </a:xfrm>
          <a:prstGeom prst="rect">
            <a:avLst/>
          </a:prstGeom>
          <a:ln>
            <a:noFill/>
          </a:ln>
        </p:spPr>
      </p:pic>
      <p:pic>
        <p:nvPicPr>
          <p:cNvPr id="84" name="Image 13" descr="preencoded.png"/>
          <p:cNvPicPr/>
          <p:nvPr/>
        </p:nvPicPr>
        <p:blipFill>
          <a:blip r:embed="rId12"/>
          <a:stretch/>
        </p:blipFill>
        <p:spPr>
          <a:xfrm>
            <a:off x="3143880" y="3762000"/>
            <a:ext cx="228240" cy="228240"/>
          </a:xfrm>
          <a:prstGeom prst="rect">
            <a:avLst/>
          </a:prstGeom>
          <a:ln>
            <a:noFill/>
          </a:ln>
        </p:spPr>
      </p:pic>
      <p:sp>
        <p:nvSpPr>
          <p:cNvPr id="85" name="CustomShape 11"/>
          <p:cNvSpPr/>
          <p:nvPr/>
        </p:nvSpPr>
        <p:spPr>
          <a:xfrm>
            <a:off x="3619080" y="3666960"/>
            <a:ext cx="5429520" cy="30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zh-CN" sz="1600" spc="72" strike="noStrike">
                <a:solidFill>
                  <a:srgbClr val="ffffff"/>
                </a:solidFill>
                <a:latin typeface="Noto Sans SC"/>
                <a:ea typeface="Noto Sans SC"/>
              </a:rPr>
              <a:t>万兴养虾安全须知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6" name="CustomShape 12"/>
          <p:cNvSpPr/>
          <p:nvPr/>
        </p:nvSpPr>
        <p:spPr>
          <a:xfrm>
            <a:off x="3619080" y="4000680"/>
            <a:ext cx="54295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8892b0"/>
                </a:solidFill>
                <a:latin typeface="Noto Sans SC"/>
                <a:ea typeface="Noto Sans SC"/>
              </a:rPr>
              <a:t>公司安全要求与最佳实践指南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7" name="CustomShape 13"/>
          <p:cNvSpPr/>
          <p:nvPr/>
        </p:nvSpPr>
        <p:spPr>
          <a:xfrm>
            <a:off x="8973000" y="3762000"/>
            <a:ext cx="1219320" cy="27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8bdf8"/>
                </a:solidFill>
                <a:latin typeface="Noto Sans SC"/>
                <a:ea typeface="Noto Sans SC"/>
              </a:rPr>
              <a:t>15 </a:t>
            </a:r>
            <a:r>
              <a:rPr b="0" lang="zh-CN" sz="1500" spc="-1" strike="noStrike">
                <a:solidFill>
                  <a:srgbClr val="38bdf8"/>
                </a:solidFill>
                <a:latin typeface="Noto Sans SC"/>
                <a:ea typeface="Noto Sans SC"/>
              </a:rPr>
              <a:t>分钟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8" name="CustomShape 14"/>
          <p:cNvSpPr/>
          <p:nvPr/>
        </p:nvSpPr>
        <p:spPr>
          <a:xfrm>
            <a:off x="875880" y="4905000"/>
            <a:ext cx="1219320" cy="27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a78bfa"/>
                </a:solidFill>
                <a:latin typeface="Noto Sans SC"/>
                <a:ea typeface="Noto Sans SC"/>
              </a:rPr>
              <a:t>Part 4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89" name="Image 14" descr="preencoded.png"/>
          <p:cNvPicPr/>
          <p:nvPr/>
        </p:nvPicPr>
        <p:blipFill>
          <a:blip r:embed="rId13"/>
          <a:stretch/>
        </p:blipFill>
        <p:spPr>
          <a:xfrm>
            <a:off x="2314440" y="4934160"/>
            <a:ext cx="209160" cy="209160"/>
          </a:xfrm>
          <a:prstGeom prst="rect">
            <a:avLst/>
          </a:prstGeom>
          <a:ln>
            <a:noFill/>
          </a:ln>
        </p:spPr>
      </p:pic>
      <p:pic>
        <p:nvPicPr>
          <p:cNvPr id="90" name="Image 15" descr="preencoded.png"/>
          <p:cNvPicPr/>
          <p:nvPr/>
        </p:nvPicPr>
        <p:blipFill>
          <a:blip r:embed="rId14"/>
          <a:srcRect l="-126" t="0" r="-126" b="0"/>
          <a:stretch/>
        </p:blipFill>
        <p:spPr>
          <a:xfrm>
            <a:off x="3143880" y="4905000"/>
            <a:ext cx="285840" cy="228240"/>
          </a:xfrm>
          <a:prstGeom prst="rect">
            <a:avLst/>
          </a:prstGeom>
          <a:ln>
            <a:noFill/>
          </a:ln>
        </p:spPr>
      </p:pic>
      <p:sp>
        <p:nvSpPr>
          <p:cNvPr id="91" name="CustomShape 15"/>
          <p:cNvSpPr/>
          <p:nvPr/>
        </p:nvSpPr>
        <p:spPr>
          <a:xfrm>
            <a:off x="3619080" y="4809960"/>
            <a:ext cx="5429520" cy="30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ffffff"/>
                </a:solidFill>
                <a:latin typeface="Noto Sans SC"/>
                <a:ea typeface="Noto Sans SC"/>
              </a:rPr>
              <a:t>思考与建议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2" name="CustomShape 16"/>
          <p:cNvSpPr/>
          <p:nvPr/>
        </p:nvSpPr>
        <p:spPr>
          <a:xfrm>
            <a:off x="3619080" y="5143680"/>
            <a:ext cx="54295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8892b0"/>
                </a:solidFill>
                <a:latin typeface="Noto Sans SC"/>
                <a:ea typeface="Noto Sans SC"/>
              </a:rPr>
              <a:t>思考课程给你带来哪些启发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3" name="CustomShape 17"/>
          <p:cNvSpPr/>
          <p:nvPr/>
        </p:nvSpPr>
        <p:spPr>
          <a:xfrm>
            <a:off x="8973000" y="4905000"/>
            <a:ext cx="1219320" cy="27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a78bfa"/>
                </a:solidFill>
                <a:latin typeface="Noto Sans SC"/>
                <a:ea typeface="Noto Sans SC"/>
              </a:rPr>
              <a:t>5 </a:t>
            </a:r>
            <a:r>
              <a:rPr b="0" lang="zh-CN" sz="1500" spc="-1" strike="noStrike">
                <a:solidFill>
                  <a:srgbClr val="a78bfa"/>
                </a:solidFill>
                <a:latin typeface="Noto Sans SC"/>
                <a:ea typeface="Noto Sans SC"/>
              </a:rPr>
              <a:t>分钟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94" name="Image 6" descr="preencoded.png"/>
          <p:cNvPicPr/>
          <p:nvPr/>
        </p:nvPicPr>
        <p:blipFill>
          <a:blip r:embed="rId15"/>
          <a:srcRect l="-20" t="0" r="-20" b="0"/>
          <a:stretch/>
        </p:blipFill>
        <p:spPr>
          <a:xfrm>
            <a:off x="2857680" y="5667480"/>
            <a:ext cx="7657920" cy="761400"/>
          </a:xfrm>
          <a:prstGeom prst="rect">
            <a:avLst/>
          </a:prstGeom>
          <a:ln>
            <a:noFill/>
          </a:ln>
        </p:spPr>
      </p:pic>
      <p:sp>
        <p:nvSpPr>
          <p:cNvPr id="95" name="CustomShape 18"/>
          <p:cNvSpPr/>
          <p:nvPr/>
        </p:nvSpPr>
        <p:spPr>
          <a:xfrm>
            <a:off x="875880" y="5905440"/>
            <a:ext cx="1219320" cy="27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d7d31"/>
                </a:solidFill>
                <a:latin typeface="Noto Sans SC"/>
                <a:ea typeface="Noto Sans SC"/>
              </a:rPr>
              <a:t>Part 5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6" name="CustomShape 19"/>
          <p:cNvSpPr/>
          <p:nvPr/>
        </p:nvSpPr>
        <p:spPr>
          <a:xfrm>
            <a:off x="3619080" y="5810400"/>
            <a:ext cx="5429520" cy="30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ffffff"/>
                </a:solidFill>
                <a:latin typeface="Noto Sans SC"/>
                <a:ea typeface="Noto Sans SC"/>
              </a:rPr>
              <a:t>总结回顾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7" name="CustomShape 20"/>
          <p:cNvSpPr/>
          <p:nvPr/>
        </p:nvSpPr>
        <p:spPr>
          <a:xfrm>
            <a:off x="3619080" y="6144120"/>
            <a:ext cx="54295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8892b0"/>
                </a:solidFill>
                <a:latin typeface="Noto Sans SC"/>
                <a:ea typeface="Noto Sans SC"/>
              </a:rPr>
              <a:t>关键要点回顾 </a:t>
            </a:r>
            <a:r>
              <a:rPr b="0" lang="en-US" sz="1200" spc="-1" strike="noStrike">
                <a:solidFill>
                  <a:srgbClr val="8892b0"/>
                </a:solidFill>
                <a:latin typeface="Noto Sans SC"/>
                <a:ea typeface="Noto Sans SC"/>
              </a:rPr>
              <a:t>&amp; </a:t>
            </a:r>
            <a:r>
              <a:rPr b="0" lang="zh-CN" sz="1200" spc="-1" strike="noStrike">
                <a:solidFill>
                  <a:srgbClr val="8892b0"/>
                </a:solidFill>
                <a:latin typeface="Noto Sans SC"/>
                <a:ea typeface="Noto Sans SC"/>
              </a:rPr>
              <a:t>现场交流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8" name="CustomShape 21"/>
          <p:cNvSpPr/>
          <p:nvPr/>
        </p:nvSpPr>
        <p:spPr>
          <a:xfrm>
            <a:off x="8973000" y="5905440"/>
            <a:ext cx="1219320" cy="27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7d31"/>
                </a:solidFill>
                <a:latin typeface="Noto Sans SC"/>
                <a:ea typeface="Noto Sans SC"/>
              </a:rPr>
              <a:t>5 </a:t>
            </a:r>
            <a:r>
              <a:rPr b="0" lang="zh-CN" sz="1500" spc="-1" strike="noStrike">
                <a:solidFill>
                  <a:srgbClr val="ed7d31"/>
                </a:solidFill>
                <a:latin typeface="Noto Sans SC"/>
                <a:ea typeface="Noto Sans SC"/>
              </a:rPr>
              <a:t>分钟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99" name="图片 46" descr=""/>
          <p:cNvPicPr/>
          <p:nvPr/>
        </p:nvPicPr>
        <p:blipFill>
          <a:blip r:embed="rId16"/>
          <a:stretch/>
        </p:blipFill>
        <p:spPr>
          <a:xfrm>
            <a:off x="3110760" y="5910120"/>
            <a:ext cx="318960" cy="318960"/>
          </a:xfrm>
          <a:prstGeom prst="rect">
            <a:avLst/>
          </a:prstGeom>
          <a:ln>
            <a:noFill/>
          </a:ln>
        </p:spPr>
      </p:pic>
      <p:pic>
        <p:nvPicPr>
          <p:cNvPr id="100" name="Image 14" descr="preencoded.png"/>
          <p:cNvPicPr/>
          <p:nvPr/>
        </p:nvPicPr>
        <p:blipFill>
          <a:blip r:embed="rId17"/>
          <a:stretch/>
        </p:blipFill>
        <p:spPr>
          <a:xfrm>
            <a:off x="2276280" y="5963040"/>
            <a:ext cx="209160" cy="209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1091520" y="2876400"/>
            <a:ext cx="515700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zh-CN" sz="3200" spc="-1" strike="noStrike">
                <a:solidFill>
                  <a:srgbClr val="ffffff"/>
                </a:solidFill>
                <a:latin typeface="微软雅黑"/>
                <a:ea typeface="微软雅黑"/>
              </a:rPr>
              <a:t>第一部分 你养“龙虾”了吗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02" name="图片 3" descr=""/>
          <p:cNvPicPr/>
          <p:nvPr/>
        </p:nvPicPr>
        <p:blipFill>
          <a:blip r:embed="rId1"/>
          <a:srcRect l="0" t="7940" r="0" b="4679"/>
          <a:stretch/>
        </p:blipFill>
        <p:spPr>
          <a:xfrm>
            <a:off x="6501960" y="2033640"/>
            <a:ext cx="5494680" cy="2790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761040" y="128160"/>
            <a:ext cx="6857640" cy="80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00" spc="148" strike="noStrike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b="1" lang="zh-CN" sz="3100" spc="148" strike="noStrike">
                <a:solidFill>
                  <a:srgbClr val="ffffff"/>
                </a:solidFill>
                <a:latin typeface="微软雅黑"/>
                <a:ea typeface="微软雅黑"/>
              </a:rPr>
              <a:t>今天你养虾了吗</a:t>
            </a:r>
            <a:endParaRPr b="0" lang="en-US" sz="3100" spc="-1" strike="noStrike">
              <a:latin typeface="Arial"/>
            </a:endParaRPr>
          </a:p>
        </p:txBody>
      </p:sp>
      <p:pic>
        <p:nvPicPr>
          <p:cNvPr id="104" name="图片 4" descr=""/>
          <p:cNvPicPr/>
          <p:nvPr/>
        </p:nvPicPr>
        <p:blipFill>
          <a:blip r:embed="rId1"/>
          <a:stretch/>
        </p:blipFill>
        <p:spPr>
          <a:xfrm>
            <a:off x="3284640" y="1630080"/>
            <a:ext cx="5206680" cy="3904920"/>
          </a:xfrm>
          <a:prstGeom prst="rect">
            <a:avLst/>
          </a:prstGeom>
          <a:ln>
            <a:noFill/>
          </a:ln>
        </p:spPr>
      </p:pic>
      <p:grpSp>
        <p:nvGrpSpPr>
          <p:cNvPr id="105" name="Group 2"/>
          <p:cNvGrpSpPr/>
          <p:nvPr/>
        </p:nvGrpSpPr>
        <p:grpSpPr>
          <a:xfrm>
            <a:off x="6410520" y="1520640"/>
            <a:ext cx="5114880" cy="3707280"/>
            <a:chOff x="6410520" y="1520640"/>
            <a:chExt cx="5114880" cy="3707280"/>
          </a:xfrm>
        </p:grpSpPr>
        <p:sp>
          <p:nvSpPr>
            <p:cNvPr id="106" name="CustomShape 3"/>
            <p:cNvSpPr/>
            <p:nvPr/>
          </p:nvSpPr>
          <p:spPr>
            <a:xfrm>
              <a:off x="6426360" y="3200040"/>
              <a:ext cx="5067360" cy="894960"/>
            </a:xfrm>
            <a:prstGeom prst="roundRect">
              <a:avLst>
                <a:gd name="adj" fmla="val 17386"/>
              </a:avLst>
            </a:prstGeom>
            <a:solidFill>
              <a:srgbClr val="ffffff"/>
            </a:solidFill>
            <a:ln w="12600">
              <a:solidFill>
                <a:srgbClr val="e9d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CustomShape 4"/>
            <p:cNvSpPr/>
            <p:nvPr/>
          </p:nvSpPr>
          <p:spPr>
            <a:xfrm>
              <a:off x="6410520" y="4332960"/>
              <a:ext cx="5067360" cy="894960"/>
            </a:xfrm>
            <a:prstGeom prst="roundRect">
              <a:avLst>
                <a:gd name="adj" fmla="val 17386"/>
              </a:avLst>
            </a:prstGeom>
            <a:solidFill>
              <a:srgbClr val="ffffff"/>
            </a:solidFill>
            <a:ln w="12600">
              <a:solidFill>
                <a:srgbClr val="e9d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CustomShape 5"/>
            <p:cNvSpPr/>
            <p:nvPr/>
          </p:nvSpPr>
          <p:spPr>
            <a:xfrm>
              <a:off x="6458040" y="2115360"/>
              <a:ext cx="5067360" cy="894960"/>
            </a:xfrm>
            <a:prstGeom prst="roundRect">
              <a:avLst>
                <a:gd name="adj" fmla="val 17386"/>
              </a:avLst>
            </a:prstGeom>
            <a:solidFill>
              <a:srgbClr val="ffffff"/>
            </a:solidFill>
            <a:ln w="12600">
              <a:solidFill>
                <a:srgbClr val="e9d5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CustomShape 6"/>
            <p:cNvSpPr/>
            <p:nvPr/>
          </p:nvSpPr>
          <p:spPr>
            <a:xfrm>
              <a:off x="7300080" y="1520640"/>
              <a:ext cx="3692880" cy="2998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ts val="1650"/>
                </a:lnSpc>
              </a:pPr>
              <a:r>
                <a:rPr b="1" lang="zh-CN" sz="16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为什么</a:t>
              </a:r>
              <a:r>
                <a:rPr b="1" lang="en-US" sz="16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OpenClaw </a:t>
              </a:r>
              <a:r>
                <a:rPr b="1" lang="zh-CN" sz="16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会爆火？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110" name="CustomShape 7"/>
            <p:cNvSpPr/>
            <p:nvPr/>
          </p:nvSpPr>
          <p:spPr>
            <a:xfrm>
              <a:off x="8878680" y="2320920"/>
              <a:ext cx="2114280" cy="5094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ts val="1650"/>
                </a:lnSpc>
              </a:pPr>
              <a:r>
                <a:rPr b="0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变革窗口已开</a:t>
              </a:r>
              <a:endParaRPr b="0" lang="en-US" sz="1400" spc="-1" strike="noStrike">
                <a:latin typeface="Arial"/>
              </a:endParaRPr>
            </a:p>
            <a:p>
              <a:pPr algn="ctr">
                <a:lnSpc>
                  <a:spcPts val="1650"/>
                </a:lnSpc>
              </a:pPr>
              <a:r>
                <a:rPr b="0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待时而动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11" name="CustomShape 8"/>
            <p:cNvSpPr/>
            <p:nvPr/>
          </p:nvSpPr>
          <p:spPr>
            <a:xfrm>
              <a:off x="7127640" y="3351240"/>
              <a:ext cx="1713960" cy="5094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ts val="1650"/>
                </a:lnSpc>
              </a:pPr>
              <a:r>
                <a:rPr b="1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地利</a:t>
              </a:r>
              <a:endParaRPr b="0" lang="en-US" sz="1400" spc="-1" strike="noStrike">
                <a:latin typeface="Arial"/>
              </a:endParaRPr>
            </a:p>
            <a:p>
              <a:pPr algn="ctr">
                <a:lnSpc>
                  <a:spcPts val="1650"/>
                </a:lnSpc>
              </a:pPr>
              <a:r>
                <a:rPr b="1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落地生根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12" name="CustomShape 9"/>
            <p:cNvSpPr/>
            <p:nvPr/>
          </p:nvSpPr>
          <p:spPr>
            <a:xfrm>
              <a:off x="8668080" y="3407040"/>
              <a:ext cx="2514240" cy="5094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ts val="1650"/>
                </a:lnSpc>
              </a:pPr>
              <a:r>
                <a:rPr b="0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日常场景（飞书、钉钉）</a:t>
              </a:r>
              <a:endParaRPr b="0" lang="en-US" sz="1400" spc="-1" strike="noStrike">
                <a:latin typeface="Arial"/>
              </a:endParaRPr>
            </a:p>
            <a:p>
              <a:pPr algn="ctr">
                <a:lnSpc>
                  <a:spcPts val="1650"/>
                </a:lnSpc>
              </a:pPr>
              <a:r>
                <a:rPr b="0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开源、门槛低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13" name="CustomShape 10"/>
            <p:cNvSpPr/>
            <p:nvPr/>
          </p:nvSpPr>
          <p:spPr>
            <a:xfrm>
              <a:off x="7144200" y="4528800"/>
              <a:ext cx="1713960" cy="5094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ts val="1650"/>
                </a:lnSpc>
              </a:pPr>
              <a:r>
                <a:rPr b="1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人和</a:t>
              </a:r>
              <a:endParaRPr b="0" lang="en-US" sz="1400" spc="-1" strike="noStrike">
                <a:latin typeface="Arial"/>
              </a:endParaRPr>
            </a:p>
            <a:p>
              <a:pPr algn="ctr">
                <a:lnSpc>
                  <a:spcPts val="1650"/>
                </a:lnSpc>
              </a:pPr>
              <a:r>
                <a:rPr b="1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众擎易举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14" name="CustomShape 11"/>
            <p:cNvSpPr/>
            <p:nvPr/>
          </p:nvSpPr>
          <p:spPr>
            <a:xfrm>
              <a:off x="8991720" y="4505040"/>
              <a:ext cx="2114280" cy="7182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ts val="1650"/>
                </a:lnSpc>
              </a:pPr>
              <a:r>
                <a:rPr b="0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大模型</a:t>
              </a:r>
              <a:r>
                <a:rPr b="0" lang="en-US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token</a:t>
              </a:r>
              <a:r>
                <a:rPr b="0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消耗、设备</a:t>
              </a:r>
              <a:r>
                <a:rPr b="0" lang="en-US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Mac</a:t>
              </a:r>
              <a:r>
                <a:rPr b="0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大卖、各类</a:t>
              </a:r>
              <a:r>
                <a:rPr b="0" lang="en-US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Xclaw</a:t>
              </a:r>
              <a:endParaRPr b="0" lang="en-US" sz="1400" spc="-1" strike="noStrike">
                <a:latin typeface="Arial"/>
              </a:endParaRPr>
            </a:p>
          </p:txBody>
        </p:sp>
        <p:pic>
          <p:nvPicPr>
            <p:cNvPr id="115" name="Image 4" descr="preencoded.png"/>
            <p:cNvPicPr/>
            <p:nvPr/>
          </p:nvPicPr>
          <p:blipFill>
            <a:blip r:embed="rId2"/>
            <a:stretch/>
          </p:blipFill>
          <p:spPr>
            <a:xfrm>
              <a:off x="6999120" y="2477160"/>
              <a:ext cx="256680" cy="228240"/>
            </a:xfrm>
            <a:prstGeom prst="rect">
              <a:avLst/>
            </a:prstGeom>
            <a:ln>
              <a:noFill/>
            </a:ln>
          </p:spPr>
        </p:pic>
        <p:sp>
          <p:nvSpPr>
            <p:cNvPr id="116" name="CustomShape 12"/>
            <p:cNvSpPr/>
            <p:nvPr/>
          </p:nvSpPr>
          <p:spPr>
            <a:xfrm>
              <a:off x="7045920" y="2304720"/>
              <a:ext cx="1713960" cy="5094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ts val="1650"/>
                </a:lnSpc>
              </a:pPr>
              <a:r>
                <a:rPr b="1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天时</a:t>
              </a:r>
              <a:endParaRPr b="0" lang="en-US" sz="1400" spc="-1" strike="noStrike">
                <a:latin typeface="Arial"/>
              </a:endParaRPr>
            </a:p>
            <a:p>
              <a:pPr algn="ctr">
                <a:lnSpc>
                  <a:spcPts val="1650"/>
                </a:lnSpc>
              </a:pPr>
              <a:r>
                <a:rPr b="1" lang="zh-CN" sz="1400" spc="-1" strike="noStrike">
                  <a:solidFill>
                    <a:srgbClr val="7c3aed"/>
                  </a:solidFill>
                  <a:latin typeface="微软雅黑"/>
                  <a:ea typeface="微软雅黑"/>
                </a:rPr>
                <a:t>或跃在渊</a:t>
              </a:r>
              <a:endParaRPr b="0" lang="en-US" sz="1400" spc="-1" strike="noStrike">
                <a:latin typeface="Arial"/>
              </a:endParaRPr>
            </a:p>
          </p:txBody>
        </p:sp>
        <p:pic>
          <p:nvPicPr>
            <p:cNvPr id="117" name="Image 5" descr="preencoded.png"/>
            <p:cNvPicPr/>
            <p:nvPr/>
          </p:nvPicPr>
          <p:blipFill>
            <a:blip r:embed="rId3"/>
            <a:srcRect l="-126" t="0" r="-126" b="0"/>
            <a:stretch/>
          </p:blipFill>
          <p:spPr>
            <a:xfrm>
              <a:off x="7029360" y="4645800"/>
              <a:ext cx="285840" cy="2282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8" name="Image 6" descr="preencoded.png"/>
            <p:cNvPicPr/>
            <p:nvPr/>
          </p:nvPicPr>
          <p:blipFill>
            <a:blip r:embed="rId4"/>
            <a:srcRect l="-126" t="0" r="-126" b="0"/>
            <a:stretch/>
          </p:blipFill>
          <p:spPr>
            <a:xfrm>
              <a:off x="7001280" y="3533040"/>
              <a:ext cx="285840" cy="228240"/>
            </a:xfrm>
            <a:prstGeom prst="rect">
              <a:avLst/>
            </a:prstGeom>
            <a:ln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006 0 L -0.25 0 E">
                                      <p:cBhvr>
                                        <p:cTn id="6" dur="9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图片 11" descr=""/>
          <p:cNvPicPr/>
          <p:nvPr/>
        </p:nvPicPr>
        <p:blipFill>
          <a:blip r:embed="rId1"/>
          <a:stretch/>
        </p:blipFill>
        <p:spPr>
          <a:xfrm>
            <a:off x="1494360" y="996120"/>
            <a:ext cx="9330480" cy="5207400"/>
          </a:xfrm>
          <a:prstGeom prst="rect">
            <a:avLst/>
          </a:prstGeom>
          <a:ln>
            <a:noFill/>
          </a:ln>
        </p:spPr>
      </p:pic>
      <p:sp>
        <p:nvSpPr>
          <p:cNvPr id="120" name="CustomShape 1"/>
          <p:cNvSpPr/>
          <p:nvPr/>
        </p:nvSpPr>
        <p:spPr>
          <a:xfrm>
            <a:off x="761040" y="128160"/>
            <a:ext cx="6857640" cy="80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00" spc="148" strike="noStrike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b="1" lang="zh-CN" sz="3100" spc="148" strike="noStrike">
                <a:solidFill>
                  <a:srgbClr val="ffffff"/>
                </a:solidFill>
                <a:latin typeface="微软雅黑"/>
                <a:ea typeface="微软雅黑"/>
              </a:rPr>
              <a:t>今天你养虾了吗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577800" y="6271560"/>
            <a:ext cx="110361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“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Linux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操作系统用了约 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30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年才达到当前的普及水平，而 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OpenClaw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仅用短短 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3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周就实现了全面超越”——黄仁勋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1467720" y="4916880"/>
            <a:ext cx="8640" cy="1437840"/>
          </a:xfrm>
          <a:prstGeom prst="rect">
            <a:avLst/>
          </a:prstGeom>
          <a:solidFill>
            <a:srgbClr val="38bdf8">
              <a:alpha val="30000"/>
            </a:srgbClr>
          </a:solidFill>
          <a:ln w="12600">
            <a:solidFill>
              <a:srgbClr val="38bd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23" name="Group 2"/>
          <p:cNvGrpSpPr/>
          <p:nvPr/>
        </p:nvGrpSpPr>
        <p:grpSpPr>
          <a:xfrm>
            <a:off x="333000" y="6292800"/>
            <a:ext cx="380880" cy="380880"/>
            <a:chOff x="333000" y="6292800"/>
            <a:chExt cx="380880" cy="380880"/>
          </a:xfrm>
        </p:grpSpPr>
        <p:pic>
          <p:nvPicPr>
            <p:cNvPr id="124" name="Image 1" descr="preencoded.png"/>
            <p:cNvPicPr/>
            <p:nvPr/>
          </p:nvPicPr>
          <p:blipFill>
            <a:blip r:embed="rId1"/>
            <a:srcRect l="0" t="-314" r="0" b="-314"/>
            <a:stretch/>
          </p:blipFill>
          <p:spPr>
            <a:xfrm>
              <a:off x="333000" y="6635520"/>
              <a:ext cx="380880" cy="38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5" name="Image 2" descr="preencoded.png"/>
            <p:cNvPicPr/>
            <p:nvPr/>
          </p:nvPicPr>
          <p:blipFill>
            <a:blip r:embed="rId2"/>
            <a:srcRect l="-314" t="0" r="-314" b="0"/>
            <a:stretch/>
          </p:blipFill>
          <p:spPr>
            <a:xfrm>
              <a:off x="333000" y="6292800"/>
              <a:ext cx="38160" cy="38088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26" name="CustomShape 3"/>
          <p:cNvSpPr/>
          <p:nvPr/>
        </p:nvSpPr>
        <p:spPr>
          <a:xfrm>
            <a:off x="761040" y="128160"/>
            <a:ext cx="6857640" cy="80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00" spc="148" strike="noStrike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b="1" lang="zh-CN" sz="3100" spc="148" strike="noStrike">
                <a:solidFill>
                  <a:srgbClr val="ffffff"/>
                </a:solidFill>
                <a:latin typeface="微软雅黑"/>
                <a:ea typeface="微软雅黑"/>
              </a:rPr>
              <a:t>今天你养虾了吗</a:t>
            </a:r>
            <a:endParaRPr b="0" lang="en-US" sz="3100" spc="-1" strike="noStrike">
              <a:latin typeface="Arial"/>
            </a:endParaRPr>
          </a:p>
        </p:txBody>
      </p:sp>
      <p:grpSp>
        <p:nvGrpSpPr>
          <p:cNvPr id="127" name="Group 4"/>
          <p:cNvGrpSpPr/>
          <p:nvPr/>
        </p:nvGrpSpPr>
        <p:grpSpPr>
          <a:xfrm>
            <a:off x="612360" y="937080"/>
            <a:ext cx="11265840" cy="821160"/>
            <a:chOff x="612360" y="937080"/>
            <a:chExt cx="11265840" cy="821160"/>
          </a:xfrm>
        </p:grpSpPr>
        <p:sp>
          <p:nvSpPr>
            <p:cNvPr id="128" name="CustomShape 5"/>
            <p:cNvSpPr/>
            <p:nvPr/>
          </p:nvSpPr>
          <p:spPr>
            <a:xfrm>
              <a:off x="612360" y="937080"/>
              <a:ext cx="11265840" cy="821160"/>
            </a:xfrm>
            <a:prstGeom prst="roundRect">
              <a:avLst>
                <a:gd name="adj" fmla="val 22135"/>
              </a:avLst>
            </a:prstGeom>
            <a:solidFill>
              <a:srgbClr val="00ffcc">
                <a:alpha val="5000"/>
              </a:srgbClr>
            </a:solidFill>
            <a:ln w="12600">
              <a:solidFill>
                <a:srgbClr val="00ffcc">
                  <a:alpha val="3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29" name="Image 11" descr="preencoded.png"/>
            <p:cNvPicPr/>
            <p:nvPr/>
          </p:nvPicPr>
          <p:blipFill>
            <a:blip r:embed="rId3"/>
            <a:srcRect l="-709" t="0" r="-709" b="0"/>
            <a:stretch/>
          </p:blipFill>
          <p:spPr>
            <a:xfrm>
              <a:off x="1339920" y="1193040"/>
              <a:ext cx="320400" cy="266760"/>
            </a:xfrm>
            <a:prstGeom prst="rect">
              <a:avLst/>
            </a:prstGeom>
            <a:ln>
              <a:noFill/>
            </a:ln>
          </p:spPr>
        </p:pic>
        <p:sp>
          <p:nvSpPr>
            <p:cNvPr id="130" name="CustomShape 6"/>
            <p:cNvSpPr/>
            <p:nvPr/>
          </p:nvSpPr>
          <p:spPr>
            <a:xfrm>
              <a:off x="1798200" y="1071360"/>
              <a:ext cx="9155880" cy="5529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20000"/>
                </a:lnSpc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AI</a:t>
              </a: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从技术探索迈向规模化应用的关键阶段，企业级业务智能体将成为驱动产业生产力的核心载体。 集成大模型、工具调用生态、业务数据治理为一体的新型业务发动机，解决企业营销、销售、生产制造（研</a:t>
              </a: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-</a:t>
              </a: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产</a:t>
              </a: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-</a:t>
              </a: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供</a:t>
              </a: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-</a:t>
              </a: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销</a:t>
              </a: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-</a:t>
              </a: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服）、职能服务（人事、法务、财务等）全链路业务场景问题。</a:t>
              </a:r>
              <a:endParaRPr b="0" lang="en-US" sz="1400" spc="-1" strike="noStrike">
                <a:latin typeface="Arial"/>
              </a:endParaRPr>
            </a:p>
          </p:txBody>
        </p:sp>
      </p:grpSp>
      <p:sp>
        <p:nvSpPr>
          <p:cNvPr id="131" name="CustomShape 7"/>
          <p:cNvSpPr/>
          <p:nvPr/>
        </p:nvSpPr>
        <p:spPr>
          <a:xfrm>
            <a:off x="5194080" y="1960920"/>
            <a:ext cx="3159360" cy="2722680"/>
          </a:xfrm>
          <a:prstGeom prst="rect">
            <a:avLst/>
          </a:prstGeom>
          <a:noFill/>
          <a:ln>
            <a:solidFill>
              <a:srgbClr val="3bc7ff"/>
            </a:solidFill>
          </a:ln>
        </p:spPr>
        <p:style>
          <a:lnRef idx="3">
            <a:schemeClr val="accent1"/>
          </a:lnRef>
          <a:fillRef idx="0"/>
          <a:effectRef idx="0"/>
          <a:fontRef idx="minor"/>
        </p:style>
      </p:sp>
      <p:sp>
        <p:nvSpPr>
          <p:cNvPr id="132" name="CustomShape 8"/>
          <p:cNvSpPr/>
          <p:nvPr/>
        </p:nvSpPr>
        <p:spPr>
          <a:xfrm>
            <a:off x="6154200" y="2062800"/>
            <a:ext cx="1239120" cy="324720"/>
          </a:xfrm>
          <a:prstGeom prst="rect">
            <a:avLst/>
          </a:prstGeom>
          <a:solidFill>
            <a:srgbClr val="3bc7ff"/>
          </a:solidFill>
          <a:ln>
            <a:noFill/>
          </a:ln>
        </p:spPr>
        <p:style>
          <a:lnRef idx="0"/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业务职能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3" name="CustomShape 9"/>
          <p:cNvSpPr/>
          <p:nvPr/>
        </p:nvSpPr>
        <p:spPr>
          <a:xfrm>
            <a:off x="8627400" y="1960920"/>
            <a:ext cx="3159360" cy="2722680"/>
          </a:xfrm>
          <a:prstGeom prst="rect">
            <a:avLst/>
          </a:prstGeom>
          <a:noFill/>
          <a:ln>
            <a:solidFill>
              <a:srgbClr val="3bc7ff"/>
            </a:solidFill>
          </a:ln>
        </p:spPr>
        <p:style>
          <a:lnRef idx="3">
            <a:schemeClr val="accent1"/>
          </a:lnRef>
          <a:fillRef idx="0"/>
          <a:effectRef idx="0"/>
          <a:fontRef idx="minor"/>
        </p:style>
      </p:sp>
      <p:sp>
        <p:nvSpPr>
          <p:cNvPr id="134" name="CustomShape 10"/>
          <p:cNvSpPr/>
          <p:nvPr/>
        </p:nvSpPr>
        <p:spPr>
          <a:xfrm>
            <a:off x="9501480" y="2062800"/>
            <a:ext cx="1411200" cy="324720"/>
          </a:xfrm>
          <a:prstGeom prst="rect">
            <a:avLst/>
          </a:prstGeom>
          <a:solidFill>
            <a:srgbClr val="3bc7ff"/>
          </a:solidFill>
          <a:ln>
            <a:noFill/>
          </a:ln>
        </p:spPr>
        <p:style>
          <a:lnRef idx="0"/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支撑职能</a:t>
            </a:r>
            <a:endParaRPr b="0" lang="en-US" sz="1600" spc="-1" strike="noStrike">
              <a:latin typeface="Arial"/>
            </a:endParaRPr>
          </a:p>
        </p:txBody>
      </p:sp>
      <p:grpSp>
        <p:nvGrpSpPr>
          <p:cNvPr id="135" name="Group 11"/>
          <p:cNvGrpSpPr/>
          <p:nvPr/>
        </p:nvGrpSpPr>
        <p:grpSpPr>
          <a:xfrm>
            <a:off x="5280480" y="2489400"/>
            <a:ext cx="1410840" cy="335520"/>
            <a:chOff x="5280480" y="2489400"/>
            <a:chExt cx="1410840" cy="335520"/>
          </a:xfrm>
        </p:grpSpPr>
        <p:pic>
          <p:nvPicPr>
            <p:cNvPr id="136" name="图片 9" descr="机器人"/>
            <p:cNvPicPr/>
            <p:nvPr/>
          </p:nvPicPr>
          <p:blipFill>
            <a:blip r:embed="rId4"/>
            <a:stretch/>
          </p:blipFill>
          <p:spPr>
            <a:xfrm>
              <a:off x="5280480" y="2489400"/>
              <a:ext cx="335520" cy="335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137" name="CustomShape 12"/>
            <p:cNvSpPr/>
            <p:nvPr/>
          </p:nvSpPr>
          <p:spPr>
            <a:xfrm>
              <a:off x="5665680" y="2525760"/>
              <a:ext cx="1025640" cy="28404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bc7ff"/>
              </a:solidFill>
            </a:ln>
          </p:spPr>
          <p:style>
            <a:lnRef idx="2">
              <a:schemeClr val="accent1"/>
            </a:lnRef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研发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38" name="Group 13"/>
          <p:cNvGrpSpPr/>
          <p:nvPr/>
        </p:nvGrpSpPr>
        <p:grpSpPr>
          <a:xfrm>
            <a:off x="6855120" y="2489400"/>
            <a:ext cx="1411200" cy="335520"/>
            <a:chOff x="6855120" y="2489400"/>
            <a:chExt cx="1411200" cy="335520"/>
          </a:xfrm>
        </p:grpSpPr>
        <p:pic>
          <p:nvPicPr>
            <p:cNvPr id="139" name="图片 13" descr="机器人"/>
            <p:cNvPicPr/>
            <p:nvPr/>
          </p:nvPicPr>
          <p:blipFill>
            <a:blip r:embed="rId5"/>
            <a:stretch/>
          </p:blipFill>
          <p:spPr>
            <a:xfrm>
              <a:off x="6855120" y="2489400"/>
              <a:ext cx="335520" cy="335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140" name="CustomShape 14"/>
            <p:cNvSpPr/>
            <p:nvPr/>
          </p:nvSpPr>
          <p:spPr>
            <a:xfrm>
              <a:off x="7240680" y="2525760"/>
              <a:ext cx="1025640" cy="28404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bc7ff"/>
              </a:solidFill>
            </a:ln>
          </p:spPr>
          <p:style>
            <a:lnRef idx="2">
              <a:schemeClr val="accent1"/>
            </a:lnRef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销售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41" name="Group 15"/>
          <p:cNvGrpSpPr/>
          <p:nvPr/>
        </p:nvGrpSpPr>
        <p:grpSpPr>
          <a:xfrm>
            <a:off x="5280480" y="3486240"/>
            <a:ext cx="1410840" cy="335520"/>
            <a:chOff x="5280480" y="3486240"/>
            <a:chExt cx="1410840" cy="335520"/>
          </a:xfrm>
        </p:grpSpPr>
        <p:pic>
          <p:nvPicPr>
            <p:cNvPr id="142" name="图片 16" descr="机器人"/>
            <p:cNvPicPr/>
            <p:nvPr/>
          </p:nvPicPr>
          <p:blipFill>
            <a:blip r:embed="rId6"/>
            <a:stretch/>
          </p:blipFill>
          <p:spPr>
            <a:xfrm>
              <a:off x="5280480" y="3486240"/>
              <a:ext cx="335520" cy="335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143" name="CustomShape 16"/>
            <p:cNvSpPr/>
            <p:nvPr/>
          </p:nvSpPr>
          <p:spPr>
            <a:xfrm>
              <a:off x="5665680" y="3522600"/>
              <a:ext cx="1025640" cy="28404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bc7ff"/>
              </a:solidFill>
            </a:ln>
          </p:spPr>
          <p:style>
            <a:lnRef idx="2">
              <a:schemeClr val="accent1"/>
            </a:lnRef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生产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44" name="Group 17"/>
          <p:cNvGrpSpPr/>
          <p:nvPr/>
        </p:nvGrpSpPr>
        <p:grpSpPr>
          <a:xfrm>
            <a:off x="6855120" y="3486240"/>
            <a:ext cx="1411200" cy="335520"/>
            <a:chOff x="6855120" y="3486240"/>
            <a:chExt cx="1411200" cy="335520"/>
          </a:xfrm>
        </p:grpSpPr>
        <p:pic>
          <p:nvPicPr>
            <p:cNvPr id="145" name="图片 19" descr="机器人"/>
            <p:cNvPicPr/>
            <p:nvPr/>
          </p:nvPicPr>
          <p:blipFill>
            <a:blip r:embed="rId7"/>
            <a:stretch/>
          </p:blipFill>
          <p:spPr>
            <a:xfrm>
              <a:off x="6855120" y="3486240"/>
              <a:ext cx="335520" cy="335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146" name="CustomShape 18"/>
            <p:cNvSpPr/>
            <p:nvPr/>
          </p:nvSpPr>
          <p:spPr>
            <a:xfrm>
              <a:off x="7240680" y="3522600"/>
              <a:ext cx="1025640" cy="28404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bc7ff"/>
              </a:solidFill>
            </a:ln>
          </p:spPr>
          <p:style>
            <a:lnRef idx="2">
              <a:schemeClr val="accent1"/>
            </a:lnRef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供应链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47" name="Group 19"/>
          <p:cNvGrpSpPr/>
          <p:nvPr/>
        </p:nvGrpSpPr>
        <p:grpSpPr>
          <a:xfrm>
            <a:off x="8699040" y="2490120"/>
            <a:ext cx="1411200" cy="335520"/>
            <a:chOff x="8699040" y="2490120"/>
            <a:chExt cx="1411200" cy="335520"/>
          </a:xfrm>
        </p:grpSpPr>
        <p:pic>
          <p:nvPicPr>
            <p:cNvPr id="148" name="图片 22" descr="机器人"/>
            <p:cNvPicPr/>
            <p:nvPr/>
          </p:nvPicPr>
          <p:blipFill>
            <a:blip r:embed="rId8"/>
            <a:stretch/>
          </p:blipFill>
          <p:spPr>
            <a:xfrm>
              <a:off x="8699040" y="2490120"/>
              <a:ext cx="335520" cy="335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149" name="CustomShape 20"/>
            <p:cNvSpPr/>
            <p:nvPr/>
          </p:nvSpPr>
          <p:spPr>
            <a:xfrm>
              <a:off x="9084600" y="2526120"/>
              <a:ext cx="1025640" cy="28404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bc7ff"/>
              </a:solidFill>
            </a:ln>
          </p:spPr>
          <p:style>
            <a:lnRef idx="2">
              <a:schemeClr val="accent1"/>
            </a:lnRef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人力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50" name="Group 21"/>
          <p:cNvGrpSpPr/>
          <p:nvPr/>
        </p:nvGrpSpPr>
        <p:grpSpPr>
          <a:xfrm>
            <a:off x="10274040" y="2490120"/>
            <a:ext cx="1410840" cy="335520"/>
            <a:chOff x="10274040" y="2490120"/>
            <a:chExt cx="1410840" cy="335520"/>
          </a:xfrm>
        </p:grpSpPr>
        <p:pic>
          <p:nvPicPr>
            <p:cNvPr id="151" name="图片 25" descr="机器人"/>
            <p:cNvPicPr/>
            <p:nvPr/>
          </p:nvPicPr>
          <p:blipFill>
            <a:blip r:embed="rId9"/>
            <a:stretch/>
          </p:blipFill>
          <p:spPr>
            <a:xfrm>
              <a:off x="10274040" y="2490120"/>
              <a:ext cx="335520" cy="335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152" name="CustomShape 22"/>
            <p:cNvSpPr/>
            <p:nvPr/>
          </p:nvSpPr>
          <p:spPr>
            <a:xfrm>
              <a:off x="10659240" y="2526120"/>
              <a:ext cx="1025640" cy="28404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bc7ff"/>
              </a:solidFill>
            </a:ln>
          </p:spPr>
          <p:style>
            <a:lnRef idx="2">
              <a:schemeClr val="accent1"/>
            </a:lnRef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IT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53" name="Group 23"/>
          <p:cNvGrpSpPr/>
          <p:nvPr/>
        </p:nvGrpSpPr>
        <p:grpSpPr>
          <a:xfrm>
            <a:off x="8699040" y="3486960"/>
            <a:ext cx="1411200" cy="335520"/>
            <a:chOff x="8699040" y="3486960"/>
            <a:chExt cx="1411200" cy="335520"/>
          </a:xfrm>
        </p:grpSpPr>
        <p:pic>
          <p:nvPicPr>
            <p:cNvPr id="154" name="图片 28" descr="机器人"/>
            <p:cNvPicPr/>
            <p:nvPr/>
          </p:nvPicPr>
          <p:blipFill>
            <a:blip r:embed="rId10"/>
            <a:stretch/>
          </p:blipFill>
          <p:spPr>
            <a:xfrm>
              <a:off x="8699040" y="3486960"/>
              <a:ext cx="335520" cy="335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155" name="CustomShape 24"/>
            <p:cNvSpPr/>
            <p:nvPr/>
          </p:nvSpPr>
          <p:spPr>
            <a:xfrm>
              <a:off x="9084600" y="3523320"/>
              <a:ext cx="1025640" cy="28404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bc7ff"/>
              </a:solidFill>
            </a:ln>
          </p:spPr>
          <p:style>
            <a:lnRef idx="2">
              <a:schemeClr val="accent1"/>
            </a:lnRef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财务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56" name="Group 25"/>
          <p:cNvGrpSpPr/>
          <p:nvPr/>
        </p:nvGrpSpPr>
        <p:grpSpPr>
          <a:xfrm>
            <a:off x="10274040" y="3486960"/>
            <a:ext cx="1410840" cy="335520"/>
            <a:chOff x="10274040" y="3486960"/>
            <a:chExt cx="1410840" cy="335520"/>
          </a:xfrm>
        </p:grpSpPr>
        <p:pic>
          <p:nvPicPr>
            <p:cNvPr id="157" name="图片 31" descr="机器人"/>
            <p:cNvPicPr/>
            <p:nvPr/>
          </p:nvPicPr>
          <p:blipFill>
            <a:blip r:embed="rId11"/>
            <a:stretch/>
          </p:blipFill>
          <p:spPr>
            <a:xfrm>
              <a:off x="10274040" y="3486960"/>
              <a:ext cx="335520" cy="335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158" name="CustomShape 26"/>
            <p:cNvSpPr/>
            <p:nvPr/>
          </p:nvSpPr>
          <p:spPr>
            <a:xfrm>
              <a:off x="10659240" y="3523320"/>
              <a:ext cx="1025640" cy="28404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bc7ff"/>
              </a:solidFill>
            </a:ln>
          </p:spPr>
          <p:style>
            <a:lnRef idx="2">
              <a:schemeClr val="accent1"/>
            </a:lnRef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法务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59" name="CustomShape 27"/>
          <p:cNvSpPr/>
          <p:nvPr/>
        </p:nvSpPr>
        <p:spPr>
          <a:xfrm>
            <a:off x="5208480" y="2845080"/>
            <a:ext cx="1503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辅助或自主编程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智能专科检索与分析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仿真模拟与参数优化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0" name="CustomShape 28"/>
          <p:cNvSpPr/>
          <p:nvPr/>
        </p:nvSpPr>
        <p:spPr>
          <a:xfrm>
            <a:off x="6778800" y="2845080"/>
            <a:ext cx="1503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销售线索分配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话术实时推荐与接管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销售预测与业务洞察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1" name="CustomShape 29"/>
          <p:cNvSpPr/>
          <p:nvPr/>
        </p:nvSpPr>
        <p:spPr>
          <a:xfrm>
            <a:off x="5208480" y="3849480"/>
            <a:ext cx="1503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智能生产与调度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预测性设备维护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具身智能指挥作业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2" name="CustomShape 30"/>
          <p:cNvSpPr/>
          <p:nvPr/>
        </p:nvSpPr>
        <p:spPr>
          <a:xfrm>
            <a:off x="6778800" y="3849480"/>
            <a:ext cx="1503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智能需求预测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动态库存优化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物流经管优化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3" name="CustomShape 31"/>
          <p:cNvSpPr/>
          <p:nvPr/>
        </p:nvSpPr>
        <p:spPr>
          <a:xfrm>
            <a:off x="8632440" y="2845080"/>
            <a:ext cx="1503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简历筛选与人才库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员工离职预测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个性化培训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4" name="CustomShape 32"/>
          <p:cNvSpPr/>
          <p:nvPr/>
        </p:nvSpPr>
        <p:spPr>
          <a:xfrm>
            <a:off x="10202760" y="2845080"/>
            <a:ext cx="1503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智能故障分析运维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代码自动审查与生成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网络安全运营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5" name="CustomShape 33"/>
          <p:cNvSpPr/>
          <p:nvPr/>
        </p:nvSpPr>
        <p:spPr>
          <a:xfrm>
            <a:off x="8632440" y="3845880"/>
            <a:ext cx="1503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票据识别与自动记账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异常交易智能审查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现金流预测与预警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6" name="CustomShape 34"/>
          <p:cNvSpPr/>
          <p:nvPr/>
        </p:nvSpPr>
        <p:spPr>
          <a:xfrm>
            <a:off x="10202760" y="3845880"/>
            <a:ext cx="1503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合同智能审查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法规追踪与合规自查</a:t>
            </a:r>
            <a:endParaRPr b="0" lang="en-US" sz="10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zh-CN" sz="1000" spc="-1" strike="noStrike">
                <a:solidFill>
                  <a:srgbClr val="ffffff"/>
                </a:solidFill>
                <a:latin typeface="微软雅黑"/>
                <a:ea typeface="微软雅黑"/>
              </a:rPr>
              <a:t>案件预测与证据分析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7" name="CustomShape 35"/>
          <p:cNvSpPr/>
          <p:nvPr/>
        </p:nvSpPr>
        <p:spPr>
          <a:xfrm>
            <a:off x="6413040" y="4344840"/>
            <a:ext cx="7210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... ...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8" name="CustomShape 36"/>
          <p:cNvSpPr/>
          <p:nvPr/>
        </p:nvSpPr>
        <p:spPr>
          <a:xfrm>
            <a:off x="9846720" y="4344840"/>
            <a:ext cx="7210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... ...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9" name="CustomShape 37"/>
          <p:cNvSpPr/>
          <p:nvPr/>
        </p:nvSpPr>
        <p:spPr>
          <a:xfrm>
            <a:off x="5194080" y="5080320"/>
            <a:ext cx="6592680" cy="569160"/>
          </a:xfrm>
          <a:prstGeom prst="rect">
            <a:avLst/>
          </a:prstGeom>
          <a:noFill/>
          <a:ln>
            <a:solidFill>
              <a:srgbClr val="3bc7ff"/>
            </a:solidFill>
          </a:ln>
        </p:spPr>
        <p:style>
          <a:lnRef idx="3">
            <a:schemeClr val="accent1"/>
          </a:lnRef>
          <a:fillRef idx="0"/>
          <a:effectRef idx="0"/>
          <a:fontRef idx="minor"/>
        </p:style>
      </p:sp>
      <p:sp>
        <p:nvSpPr>
          <p:cNvPr id="170" name="CustomShape 38"/>
          <p:cNvSpPr/>
          <p:nvPr/>
        </p:nvSpPr>
        <p:spPr>
          <a:xfrm>
            <a:off x="5513400" y="4747320"/>
            <a:ext cx="324720" cy="26388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3bc7ff"/>
          </a:solidFill>
          <a:ln>
            <a:solidFill>
              <a:srgbClr val="3bc7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</p:sp>
      <p:sp>
        <p:nvSpPr>
          <p:cNvPr id="171" name="CustomShape 39"/>
          <p:cNvSpPr/>
          <p:nvPr/>
        </p:nvSpPr>
        <p:spPr>
          <a:xfrm>
            <a:off x="6661440" y="4747320"/>
            <a:ext cx="324720" cy="26388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3bc7ff"/>
          </a:solidFill>
          <a:ln>
            <a:solidFill>
              <a:srgbClr val="3bc7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</p:sp>
      <p:sp>
        <p:nvSpPr>
          <p:cNvPr id="172" name="CustomShape 40"/>
          <p:cNvSpPr/>
          <p:nvPr/>
        </p:nvSpPr>
        <p:spPr>
          <a:xfrm>
            <a:off x="7809480" y="4747320"/>
            <a:ext cx="324720" cy="26388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3bc7ff"/>
          </a:solidFill>
          <a:ln>
            <a:solidFill>
              <a:srgbClr val="3bc7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</p:sp>
      <p:sp>
        <p:nvSpPr>
          <p:cNvPr id="173" name="CustomShape 41"/>
          <p:cNvSpPr/>
          <p:nvPr/>
        </p:nvSpPr>
        <p:spPr>
          <a:xfrm>
            <a:off x="8957520" y="4747320"/>
            <a:ext cx="324720" cy="26388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3bc7ff"/>
          </a:solidFill>
          <a:ln>
            <a:solidFill>
              <a:srgbClr val="3bc7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</p:sp>
      <p:sp>
        <p:nvSpPr>
          <p:cNvPr id="174" name="CustomShape 42"/>
          <p:cNvSpPr/>
          <p:nvPr/>
        </p:nvSpPr>
        <p:spPr>
          <a:xfrm>
            <a:off x="10105560" y="4747320"/>
            <a:ext cx="324720" cy="26388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3bc7ff"/>
          </a:solidFill>
          <a:ln>
            <a:solidFill>
              <a:srgbClr val="3bc7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</p:sp>
      <p:sp>
        <p:nvSpPr>
          <p:cNvPr id="175" name="CustomShape 43"/>
          <p:cNvSpPr/>
          <p:nvPr/>
        </p:nvSpPr>
        <p:spPr>
          <a:xfrm>
            <a:off x="11253600" y="4747320"/>
            <a:ext cx="324720" cy="26388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3bc7ff"/>
          </a:solidFill>
          <a:ln>
            <a:solidFill>
              <a:srgbClr val="3bc7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</p:sp>
      <p:sp>
        <p:nvSpPr>
          <p:cNvPr id="176" name="CustomShape 44"/>
          <p:cNvSpPr/>
          <p:nvPr/>
        </p:nvSpPr>
        <p:spPr>
          <a:xfrm>
            <a:off x="5350680" y="5202720"/>
            <a:ext cx="1747080" cy="324000"/>
          </a:xfrm>
          <a:prstGeom prst="roundRect">
            <a:avLst>
              <a:gd name="adj" fmla="val 16667"/>
            </a:avLst>
          </a:prstGeom>
          <a:solidFill>
            <a:srgbClr val="3bc7ff"/>
          </a:solidFill>
          <a:ln>
            <a:noFill/>
          </a:ln>
        </p:spPr>
        <p:style>
          <a:lnRef idx="0"/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大模型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7" name="CustomShape 45"/>
          <p:cNvSpPr/>
          <p:nvPr/>
        </p:nvSpPr>
        <p:spPr>
          <a:xfrm>
            <a:off x="7624080" y="5202720"/>
            <a:ext cx="1747080" cy="324000"/>
          </a:xfrm>
          <a:prstGeom prst="roundRect">
            <a:avLst>
              <a:gd name="adj" fmla="val 16667"/>
            </a:avLst>
          </a:prstGeom>
          <a:solidFill>
            <a:srgbClr val="3bc7ff"/>
          </a:solidFill>
          <a:ln>
            <a:noFill/>
          </a:ln>
        </p:spPr>
        <p:style>
          <a:lnRef idx="0"/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工具调用生态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8" name="CustomShape 46"/>
          <p:cNvSpPr/>
          <p:nvPr/>
        </p:nvSpPr>
        <p:spPr>
          <a:xfrm>
            <a:off x="9897480" y="5202720"/>
            <a:ext cx="1747080" cy="324000"/>
          </a:xfrm>
          <a:prstGeom prst="roundRect">
            <a:avLst>
              <a:gd name="adj" fmla="val 16667"/>
            </a:avLst>
          </a:prstGeom>
          <a:solidFill>
            <a:srgbClr val="3bc7ff"/>
          </a:solidFill>
          <a:ln>
            <a:noFill/>
          </a:ln>
        </p:spPr>
        <p:style>
          <a:lnRef idx="0"/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业务数据治理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9" name="CustomShape 47"/>
          <p:cNvSpPr/>
          <p:nvPr/>
        </p:nvSpPr>
        <p:spPr>
          <a:xfrm>
            <a:off x="5208480" y="5751360"/>
            <a:ext cx="6592680" cy="396360"/>
          </a:xfrm>
          <a:prstGeom prst="rect">
            <a:avLst/>
          </a:prstGeom>
          <a:noFill/>
          <a:ln>
            <a:solidFill>
              <a:srgbClr val="3bc7ff"/>
            </a:solidFill>
          </a:ln>
        </p:spPr>
        <p:style>
          <a:lnRef idx="3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zh-CN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算力基础设施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0" name="CustomShape 48"/>
          <p:cNvSpPr/>
          <p:nvPr/>
        </p:nvSpPr>
        <p:spPr>
          <a:xfrm>
            <a:off x="500760" y="1960920"/>
            <a:ext cx="1249920" cy="4186080"/>
          </a:xfrm>
          <a:prstGeom prst="upArrow">
            <a:avLst>
              <a:gd name="adj1" fmla="val 62676"/>
              <a:gd name="adj2" fmla="val 50000"/>
            </a:avLst>
          </a:prstGeom>
          <a:gradFill rotWithShape="0"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</p:sp>
      <p:sp>
        <p:nvSpPr>
          <p:cNvPr id="181" name="CustomShape 49"/>
          <p:cNvSpPr/>
          <p:nvPr/>
        </p:nvSpPr>
        <p:spPr>
          <a:xfrm>
            <a:off x="1943280" y="5040720"/>
            <a:ext cx="2958840" cy="1077840"/>
          </a:xfrm>
          <a:custGeom>
            <a:avLst/>
            <a:gdLst/>
            <a:ahLst/>
            <a:rect l="l" t="t" r="r" b="b"/>
            <a:pathLst>
              <a:path w="3352800" h="2914650">
                <a:moveTo>
                  <a:pt x="152407" y="0"/>
                </a:moveTo>
                <a:lnTo>
                  <a:pt x="3200393" y="0"/>
                </a:lnTo>
                <a:cubicBezTo>
                  <a:pt x="3284565" y="0"/>
                  <a:pt x="3352800" y="68235"/>
                  <a:pt x="3352800" y="152407"/>
                </a:cubicBezTo>
                <a:lnTo>
                  <a:pt x="3352800" y="2762243"/>
                </a:lnTo>
                <a:cubicBezTo>
                  <a:pt x="3352800" y="2846415"/>
                  <a:pt x="3284565" y="2914650"/>
                  <a:pt x="3200393" y="2914650"/>
                </a:cubicBezTo>
                <a:lnTo>
                  <a:pt x="152407" y="2914650"/>
                </a:lnTo>
                <a:cubicBezTo>
                  <a:pt x="68235" y="2914650"/>
                  <a:pt x="0" y="2846415"/>
                  <a:pt x="0" y="27622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chemeClr val="bg1"/>
          </a:solidFill>
          <a:ln w="12600">
            <a:solidFill>
              <a:srgbClr val="4285f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1" lang="zh-CN" sz="1600" spc="-1" strike="noStrike">
                <a:solidFill>
                  <a:srgbClr val="404040"/>
                </a:solidFill>
                <a:latin typeface="微软雅黑"/>
                <a:ea typeface="微软雅黑"/>
              </a:rPr>
              <a:t>第一类</a:t>
            </a:r>
            <a:r>
              <a:rPr b="1" lang="en-US" sz="1600" spc="-1" strike="noStrike">
                <a:solidFill>
                  <a:srgbClr val="404040"/>
                </a:solidFill>
                <a:latin typeface="微软雅黑"/>
                <a:ea typeface="微软雅黑"/>
              </a:rPr>
              <a:t> 问答类智能体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2" name="CustomShape 50"/>
          <p:cNvSpPr/>
          <p:nvPr/>
        </p:nvSpPr>
        <p:spPr>
          <a:xfrm>
            <a:off x="1943280" y="3577320"/>
            <a:ext cx="2958840" cy="1077840"/>
          </a:xfrm>
          <a:custGeom>
            <a:avLst/>
            <a:gdLst/>
            <a:ahLst/>
            <a:rect l="l" t="t" r="r" b="b"/>
            <a:pathLst>
              <a:path w="3352800" h="2914650">
                <a:moveTo>
                  <a:pt x="152407" y="0"/>
                </a:moveTo>
                <a:lnTo>
                  <a:pt x="3200393" y="0"/>
                </a:lnTo>
                <a:cubicBezTo>
                  <a:pt x="3284565" y="0"/>
                  <a:pt x="3352800" y="68235"/>
                  <a:pt x="3352800" y="152407"/>
                </a:cubicBezTo>
                <a:lnTo>
                  <a:pt x="3352800" y="2762243"/>
                </a:lnTo>
                <a:cubicBezTo>
                  <a:pt x="3352800" y="2846415"/>
                  <a:pt x="3284565" y="2914650"/>
                  <a:pt x="3200393" y="2914650"/>
                </a:cubicBezTo>
                <a:lnTo>
                  <a:pt x="152407" y="2914650"/>
                </a:lnTo>
                <a:cubicBezTo>
                  <a:pt x="68235" y="2914650"/>
                  <a:pt x="0" y="2846415"/>
                  <a:pt x="0" y="27622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chemeClr val="bg1"/>
          </a:solidFill>
          <a:ln w="12600">
            <a:solidFill>
              <a:srgbClr val="4285f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r">
              <a:lnSpc>
                <a:spcPct val="100000"/>
              </a:lnSpc>
            </a:pPr>
            <a:r>
              <a:rPr b="1" lang="zh-CN" sz="1600" spc="-1" strike="noStrike">
                <a:solidFill>
                  <a:srgbClr val="404040"/>
                </a:solidFill>
                <a:latin typeface="微软雅黑"/>
                <a:ea typeface="微软雅黑"/>
              </a:rPr>
              <a:t>第二类</a:t>
            </a:r>
            <a:r>
              <a:rPr b="1" lang="en-US" sz="1600" spc="-1" strike="noStrike">
                <a:solidFill>
                  <a:srgbClr val="404040"/>
                </a:solidFill>
                <a:latin typeface="微软雅黑"/>
                <a:ea typeface="微软雅黑"/>
              </a:rPr>
              <a:t> 工作流类智能体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3" name="CustomShape 51"/>
          <p:cNvSpPr/>
          <p:nvPr/>
        </p:nvSpPr>
        <p:spPr>
          <a:xfrm>
            <a:off x="1943280" y="2113560"/>
            <a:ext cx="2958840" cy="1077840"/>
          </a:xfrm>
          <a:custGeom>
            <a:avLst/>
            <a:gdLst/>
            <a:ahLst/>
            <a:rect l="l" t="t" r="r" b="b"/>
            <a:pathLst>
              <a:path w="3352800" h="2914650">
                <a:moveTo>
                  <a:pt x="152407" y="0"/>
                </a:moveTo>
                <a:lnTo>
                  <a:pt x="3200393" y="0"/>
                </a:lnTo>
                <a:cubicBezTo>
                  <a:pt x="3284565" y="0"/>
                  <a:pt x="3352800" y="68235"/>
                  <a:pt x="3352800" y="152407"/>
                </a:cubicBezTo>
                <a:lnTo>
                  <a:pt x="3352800" y="2762243"/>
                </a:lnTo>
                <a:cubicBezTo>
                  <a:pt x="3352800" y="2846415"/>
                  <a:pt x="3284565" y="2914650"/>
                  <a:pt x="3200393" y="2914650"/>
                </a:cubicBezTo>
                <a:lnTo>
                  <a:pt x="152407" y="2914650"/>
                </a:lnTo>
                <a:cubicBezTo>
                  <a:pt x="68235" y="2914650"/>
                  <a:pt x="0" y="2846415"/>
                  <a:pt x="0" y="27622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chemeClr val="bg1"/>
          </a:solidFill>
          <a:ln w="12600">
            <a:solidFill>
              <a:srgbClr val="4285f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r">
              <a:lnSpc>
                <a:spcPct val="100000"/>
              </a:lnSpc>
            </a:pPr>
            <a:r>
              <a:rPr b="1" lang="zh-CN" sz="1600" spc="-1" strike="noStrike">
                <a:solidFill>
                  <a:srgbClr val="404040"/>
                </a:solidFill>
                <a:latin typeface="微软雅黑"/>
                <a:ea typeface="微软雅黑"/>
              </a:rPr>
              <a:t>第三类</a:t>
            </a:r>
            <a:r>
              <a:rPr b="1" lang="en-US" sz="1600" spc="-1" strike="noStrike">
                <a:solidFill>
                  <a:srgbClr val="404040"/>
                </a:solidFill>
                <a:latin typeface="微软雅黑"/>
                <a:ea typeface="微软雅黑"/>
              </a:rPr>
              <a:t> 数字员工类智能体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4" name="CustomShape 52"/>
          <p:cNvSpPr/>
          <p:nvPr/>
        </p:nvSpPr>
        <p:spPr>
          <a:xfrm>
            <a:off x="2664000" y="5328000"/>
            <a:ext cx="1949760" cy="777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000">
              <a:lnSpc>
                <a:spcPct val="140000"/>
              </a:lnSpc>
              <a:buClr>
                <a:srgbClr val="404040"/>
              </a:buClr>
              <a:buFont typeface="Arial"/>
              <a:buChar char="•"/>
            </a:pPr>
            <a:r>
              <a:rPr b="1" lang="zh-CN" sz="1200" spc="-1" strike="noStrike">
                <a:solidFill>
                  <a:srgbClr val="404040"/>
                </a:solidFill>
                <a:latin typeface="微软雅黑"/>
                <a:ea typeface="微软雅黑"/>
              </a:rPr>
              <a:t>单次推理问答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40000"/>
              </a:lnSpc>
              <a:buClr>
                <a:srgbClr val="404040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404040"/>
                </a:solidFill>
                <a:latin typeface="微软雅黑"/>
                <a:ea typeface="微软雅黑"/>
              </a:rPr>
              <a:t>基于预训练知识被动响应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40000"/>
              </a:lnSpc>
              <a:buClr>
                <a:srgbClr val="404040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404040"/>
                </a:solidFill>
                <a:latin typeface="微软雅黑"/>
                <a:ea typeface="微软雅黑"/>
              </a:rPr>
              <a:t>内容生成与问答为主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5" name="CustomShape 53"/>
          <p:cNvSpPr/>
          <p:nvPr/>
        </p:nvSpPr>
        <p:spPr>
          <a:xfrm>
            <a:off x="2663640" y="3887640"/>
            <a:ext cx="1950480" cy="76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000">
              <a:lnSpc>
                <a:spcPct val="140000"/>
              </a:lnSpc>
              <a:buClr>
                <a:srgbClr val="404040"/>
              </a:buClr>
              <a:buFont typeface="Arial"/>
              <a:buChar char="•"/>
            </a:pPr>
            <a:r>
              <a:rPr b="1" lang="zh-CN" sz="1200" spc="-1" strike="noStrike">
                <a:solidFill>
                  <a:srgbClr val="404040"/>
                </a:solidFill>
                <a:latin typeface="微软雅黑"/>
                <a:ea typeface="微软雅黑"/>
              </a:rPr>
              <a:t>短程预配置业务流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40000"/>
              </a:lnSpc>
              <a:buClr>
                <a:srgbClr val="404040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404040"/>
                </a:solidFill>
                <a:latin typeface="微软雅黑"/>
                <a:ea typeface="微软雅黑"/>
              </a:rPr>
              <a:t>涉及完整工作链路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40000"/>
              </a:lnSpc>
              <a:buClr>
                <a:srgbClr val="404040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404040"/>
                </a:solidFill>
                <a:latin typeface="微软雅黑"/>
                <a:ea typeface="微软雅黑"/>
              </a:rPr>
              <a:t>业务流固定、自动化执行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6" name="CustomShape 54"/>
          <p:cNvSpPr/>
          <p:nvPr/>
        </p:nvSpPr>
        <p:spPr>
          <a:xfrm>
            <a:off x="2664000" y="2425320"/>
            <a:ext cx="1949760" cy="72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000">
              <a:lnSpc>
                <a:spcPct val="140000"/>
              </a:lnSpc>
              <a:buClr>
                <a:srgbClr val="404040"/>
              </a:buClr>
              <a:buFont typeface="Arial"/>
              <a:buChar char="•"/>
            </a:pPr>
            <a:r>
              <a:rPr b="1" lang="zh-CN" sz="1200" spc="-1" strike="noStrike">
                <a:solidFill>
                  <a:srgbClr val="404040"/>
                </a:solidFill>
                <a:latin typeface="微软雅黑"/>
                <a:ea typeface="微软雅黑"/>
              </a:rPr>
              <a:t>长程自主规划业务流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40000"/>
              </a:lnSpc>
              <a:buClr>
                <a:srgbClr val="404040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404040"/>
                </a:solidFill>
                <a:latin typeface="微软雅黑"/>
                <a:ea typeface="微软雅黑"/>
              </a:rPr>
              <a:t>具备核心规划与决策能力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40000"/>
              </a:lnSpc>
              <a:buClr>
                <a:srgbClr val="404040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404040"/>
                </a:solidFill>
                <a:latin typeface="微软雅黑"/>
                <a:ea typeface="微软雅黑"/>
              </a:rPr>
              <a:t>自主理解、规划、执行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87" name="图片 1" descr="循环"/>
          <p:cNvPicPr/>
          <p:nvPr/>
        </p:nvPicPr>
        <p:blipFill>
          <a:blip r:embed="rId12"/>
          <a:stretch/>
        </p:blipFill>
        <p:spPr>
          <a:xfrm>
            <a:off x="2053440" y="2403720"/>
            <a:ext cx="497520" cy="497520"/>
          </a:xfrm>
          <a:prstGeom prst="rect">
            <a:avLst/>
          </a:prstGeom>
          <a:ln>
            <a:noFill/>
          </a:ln>
        </p:spPr>
      </p:pic>
      <p:pic>
        <p:nvPicPr>
          <p:cNvPr id="188" name="图片 2" descr="流程"/>
          <p:cNvPicPr/>
          <p:nvPr/>
        </p:nvPicPr>
        <p:blipFill>
          <a:blip r:embed="rId13"/>
          <a:stretch/>
        </p:blipFill>
        <p:spPr>
          <a:xfrm>
            <a:off x="2053440" y="3845880"/>
            <a:ext cx="498240" cy="540720"/>
          </a:xfrm>
          <a:prstGeom prst="rect">
            <a:avLst/>
          </a:prstGeom>
          <a:ln>
            <a:noFill/>
          </a:ln>
        </p:spPr>
      </p:pic>
      <p:pic>
        <p:nvPicPr>
          <p:cNvPr id="189" name="图片 3" descr="对话"/>
          <p:cNvPicPr/>
          <p:nvPr/>
        </p:nvPicPr>
        <p:blipFill>
          <a:blip r:embed="rId14"/>
          <a:stretch/>
        </p:blipFill>
        <p:spPr>
          <a:xfrm>
            <a:off x="2053440" y="5344560"/>
            <a:ext cx="498240" cy="470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1"/>
          <p:cNvGrpSpPr/>
          <p:nvPr/>
        </p:nvGrpSpPr>
        <p:grpSpPr>
          <a:xfrm>
            <a:off x="2398680" y="1497960"/>
            <a:ext cx="7088760" cy="3866400"/>
            <a:chOff x="2398680" y="1497960"/>
            <a:chExt cx="7088760" cy="3866400"/>
          </a:xfrm>
        </p:grpSpPr>
        <p:pic>
          <p:nvPicPr>
            <p:cNvPr id="191" name="图片 2" descr=""/>
            <p:cNvPicPr/>
            <p:nvPr/>
          </p:nvPicPr>
          <p:blipFill>
            <a:blip r:embed="rId1"/>
            <a:stretch/>
          </p:blipFill>
          <p:spPr>
            <a:xfrm>
              <a:off x="2398680" y="1497960"/>
              <a:ext cx="7088760" cy="38664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92" name="CustomShape 2"/>
            <p:cNvSpPr/>
            <p:nvPr/>
          </p:nvSpPr>
          <p:spPr>
            <a:xfrm>
              <a:off x="6008040" y="2175840"/>
              <a:ext cx="1625400" cy="2728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大语言模型：大脑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93" name="CustomShape 3"/>
            <p:cNvSpPr/>
            <p:nvPr/>
          </p:nvSpPr>
          <p:spPr>
            <a:xfrm>
              <a:off x="6823800" y="2537280"/>
              <a:ext cx="486000" cy="2728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手脚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94" name="CustomShape 4"/>
            <p:cNvSpPr/>
            <p:nvPr/>
          </p:nvSpPr>
          <p:spPr>
            <a:xfrm>
              <a:off x="3928680" y="2550960"/>
              <a:ext cx="1434960" cy="2728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“</a:t>
              </a:r>
              <a:r>
                <a:rPr b="0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眼耳鼻舌身意”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95" name="CustomShape 5"/>
          <p:cNvSpPr/>
          <p:nvPr/>
        </p:nvSpPr>
        <p:spPr>
          <a:xfrm>
            <a:off x="2685600" y="5449320"/>
            <a:ext cx="65149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大脑再聪明，没有手脚也只能躺着聊天。装上手脚， 它能站起来替你干活了。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6" name="CustomShape 6"/>
          <p:cNvSpPr/>
          <p:nvPr/>
        </p:nvSpPr>
        <p:spPr>
          <a:xfrm>
            <a:off x="761040" y="128160"/>
            <a:ext cx="6857640" cy="80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00" spc="148" strike="noStrike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b="1" lang="zh-CN" sz="3100" spc="148" strike="noStrike">
                <a:solidFill>
                  <a:srgbClr val="ffffff"/>
                </a:solidFill>
                <a:latin typeface="微软雅黑"/>
                <a:ea typeface="微软雅黑"/>
              </a:rPr>
              <a:t>今天你养虾了吗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97" name="CustomShape 7"/>
          <p:cNvSpPr/>
          <p:nvPr/>
        </p:nvSpPr>
        <p:spPr>
          <a:xfrm>
            <a:off x="10706400" y="748080"/>
            <a:ext cx="990000" cy="990000"/>
          </a:xfrm>
          <a:prstGeom prst="ellipse">
            <a:avLst/>
          </a:prstGeom>
          <a:noFill/>
          <a:ln w="25560">
            <a:solidFill>
              <a:srgbClr val="00ffcc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98" name="Picture 4" descr=""/>
          <p:cNvPicPr/>
          <p:nvPr/>
        </p:nvPicPr>
        <p:blipFill>
          <a:blip r:embed="rId2"/>
          <a:stretch/>
        </p:blipFill>
        <p:spPr>
          <a:xfrm>
            <a:off x="10683000" y="721440"/>
            <a:ext cx="1055520" cy="1055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819720" y="2844360"/>
            <a:ext cx="647064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zh-CN" sz="3200" spc="-1" strike="noStrike">
                <a:solidFill>
                  <a:srgbClr val="ffffff"/>
                </a:solidFill>
                <a:latin typeface="微软雅黑"/>
                <a:ea typeface="微软雅黑"/>
              </a:rPr>
              <a:t>第二部分  强大的工具，潜在的风险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00" name="图片 9" descr=""/>
          <p:cNvPicPr/>
          <p:nvPr/>
        </p:nvPicPr>
        <p:blipFill>
          <a:blip r:embed="rId1"/>
          <a:stretch/>
        </p:blipFill>
        <p:spPr>
          <a:xfrm>
            <a:off x="7513920" y="1308240"/>
            <a:ext cx="3454200" cy="4241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图片 2" descr=""/>
          <p:cNvPicPr/>
          <p:nvPr/>
        </p:nvPicPr>
        <p:blipFill>
          <a:blip r:embed="rId1"/>
          <a:srcRect l="3790" t="5438" r="3870" b="7431"/>
          <a:stretch/>
        </p:blipFill>
        <p:spPr>
          <a:xfrm>
            <a:off x="1110240" y="1075680"/>
            <a:ext cx="10078560" cy="5307480"/>
          </a:xfrm>
          <a:prstGeom prst="rect">
            <a:avLst/>
          </a:prstGeom>
          <a:ln>
            <a:noFill/>
          </a:ln>
        </p:spPr>
      </p:pic>
      <p:sp>
        <p:nvSpPr>
          <p:cNvPr id="202" name="CustomShape 1"/>
          <p:cNvSpPr/>
          <p:nvPr/>
        </p:nvSpPr>
        <p:spPr>
          <a:xfrm>
            <a:off x="761040" y="128160"/>
            <a:ext cx="7711560" cy="80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00" spc="148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1" lang="zh-CN" sz="3100" spc="148" strike="noStrike">
                <a:solidFill>
                  <a:srgbClr val="ffffff"/>
                </a:solidFill>
                <a:latin typeface="Noto Sans SC"/>
                <a:ea typeface="Noto Sans SC"/>
              </a:rPr>
              <a:t>强大的工具，潜在的陷阱</a:t>
            </a:r>
            <a:endParaRPr b="0" lang="en-US" sz="3100" spc="-1" strike="noStrike">
              <a:latin typeface="Arial"/>
            </a:endParaRPr>
          </a:p>
        </p:txBody>
      </p:sp>
      <p:grpSp>
        <p:nvGrpSpPr>
          <p:cNvPr id="203" name="Group 2"/>
          <p:cNvGrpSpPr/>
          <p:nvPr/>
        </p:nvGrpSpPr>
        <p:grpSpPr>
          <a:xfrm>
            <a:off x="594000" y="1075680"/>
            <a:ext cx="10847160" cy="5364000"/>
            <a:chOff x="594000" y="1075680"/>
            <a:chExt cx="10847160" cy="5364000"/>
          </a:xfrm>
        </p:grpSpPr>
        <p:sp>
          <p:nvSpPr>
            <p:cNvPr id="204" name="CustomShape 3"/>
            <p:cNvSpPr/>
            <p:nvPr/>
          </p:nvSpPr>
          <p:spPr>
            <a:xfrm>
              <a:off x="594000" y="1075680"/>
              <a:ext cx="10847160" cy="5364000"/>
            </a:xfrm>
            <a:prstGeom prst="rect">
              <a:avLst/>
            </a:prstGeom>
            <a:solidFill>
              <a:srgbClr val="ffffff">
                <a:alpha val="84000"/>
              </a:srgbClr>
            </a:soli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5" name="CustomShape 4"/>
            <p:cNvSpPr/>
            <p:nvPr/>
          </p:nvSpPr>
          <p:spPr>
            <a:xfrm>
              <a:off x="3144240" y="2952360"/>
              <a:ext cx="6099840" cy="17355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5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相信，但保持警觉。</a:t>
              </a:r>
              <a:endParaRPr b="0" lang="en-US" sz="2400" spc="-1" strike="noStrike">
                <a:latin typeface="Arial"/>
              </a:endParaRPr>
            </a:p>
            <a:p>
              <a:pPr algn="ctr">
                <a:lnSpc>
                  <a:spcPct val="150000"/>
                </a:lnSpc>
              </a:pPr>
              <a:r>
                <a:rPr b="1" lang="zh-CN" sz="24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使用，但不放弃掌控。</a:t>
              </a:r>
              <a:br/>
              <a:r>
                <a:rPr b="1" lang="zh-CN" sz="24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拥抱，但以安全为底线。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206" name="CustomShape 5"/>
          <p:cNvSpPr/>
          <p:nvPr/>
        </p:nvSpPr>
        <p:spPr>
          <a:xfrm>
            <a:off x="6194520" y="5853960"/>
            <a:ext cx="394200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r>
              <a:rPr b="1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月</a:t>
            </a:r>
            <a:r>
              <a:rPr b="1" lang="en-US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12</a:t>
            </a:r>
            <a:r>
              <a:rPr b="1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日</a:t>
            </a:r>
            <a:r>
              <a:rPr b="0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：发布安全加固版本，强化底层架构模块化和安全边界</a:t>
            </a:r>
            <a:endParaRPr b="0" lang="en-US" sz="8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r>
              <a:rPr b="1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月</a:t>
            </a:r>
            <a:r>
              <a:rPr b="1" lang="en-US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  <a:r>
              <a:rPr b="1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日</a:t>
            </a:r>
            <a:r>
              <a:rPr b="0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：紧急发布安全修复，解决</a:t>
            </a:r>
            <a:r>
              <a:rPr b="0" lang="en-US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3.12</a:t>
            </a:r>
            <a:r>
              <a:rPr b="0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版本中发现的多处高危漏洞</a:t>
            </a:r>
            <a:endParaRPr b="0" lang="en-US" sz="8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r>
              <a:rPr b="1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月</a:t>
            </a:r>
            <a:r>
              <a:rPr b="1" lang="en-US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15</a:t>
            </a:r>
            <a:r>
              <a:rPr b="1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日</a:t>
            </a:r>
            <a:r>
              <a:rPr b="0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：发布 </a:t>
            </a:r>
            <a:r>
              <a:rPr b="0" lang="en-US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v2026.3.13-1"</a:t>
            </a:r>
            <a:r>
              <a:rPr b="0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不可变恢复版本</a:t>
            </a:r>
            <a:r>
              <a:rPr b="0" lang="en-US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"</a:t>
            </a:r>
            <a:r>
              <a:rPr b="0" lang="zh-CN" sz="8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，专门用于修复被攻陷的系统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07" name="CustomShape 6"/>
          <p:cNvSpPr/>
          <p:nvPr/>
        </p:nvSpPr>
        <p:spPr>
          <a:xfrm>
            <a:off x="10019880" y="2525400"/>
            <a:ext cx="421920" cy="317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0000"/>
                </a:solidFill>
                <a:latin typeface="Calibri"/>
              </a:rPr>
              <a:t>230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761040" y="128160"/>
            <a:ext cx="7711560" cy="80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00" spc="148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1" lang="zh-CN" sz="3100" spc="148" strike="noStrike">
                <a:solidFill>
                  <a:srgbClr val="ffffff"/>
                </a:solidFill>
                <a:latin typeface="Noto Sans SC"/>
                <a:ea typeface="Noto Sans SC"/>
              </a:rPr>
              <a:t>强大的工具，潜在的陷阱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09" name="CustomShape 2"/>
          <p:cNvSpPr/>
          <p:nvPr/>
        </p:nvSpPr>
        <p:spPr>
          <a:xfrm>
            <a:off x="460080" y="983880"/>
            <a:ext cx="10838160" cy="56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“</a:t>
            </a: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致命三要素” ：</a:t>
            </a:r>
            <a:r>
              <a:rPr b="1" lang="zh-CN" sz="1200" spc="-1" strike="noStrike">
                <a:solidFill>
                  <a:srgbClr val="ff0000"/>
                </a:solidFill>
                <a:latin typeface="微软雅黑"/>
                <a:ea typeface="微软雅黑"/>
              </a:rPr>
              <a:t>不可信的外部输入</a:t>
            </a:r>
            <a:r>
              <a:rPr b="0" lang="zh-CN" sz="1200" spc="-1" strike="noStrike">
                <a:solidFill>
                  <a:srgbClr val="ff0000"/>
                </a:solidFill>
                <a:latin typeface="微软雅黑"/>
                <a:ea typeface="微软雅黑"/>
              </a:rPr>
              <a:t>、</a:t>
            </a:r>
            <a:r>
              <a:rPr b="1" lang="zh-CN" sz="1200" spc="-1" strike="noStrike">
                <a:solidFill>
                  <a:srgbClr val="ff0000"/>
                </a:solidFill>
                <a:latin typeface="微软雅黑"/>
                <a:ea typeface="微软雅黑"/>
              </a:rPr>
              <a:t>敏感数据访问权限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以及</a:t>
            </a:r>
            <a:r>
              <a:rPr b="1" lang="zh-CN" sz="1200" spc="-1" strike="noStrike">
                <a:solidFill>
                  <a:srgbClr val="ff0000"/>
                </a:solidFill>
                <a:latin typeface="微软雅黑"/>
                <a:ea typeface="微软雅黑"/>
              </a:rPr>
              <a:t>外部工具能力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共同构成。这三个条件的叠加使得“提示词注入”不再只是文字游戏，而是可以直接转化为数据窃取或系统破坏的指令。这使得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Agent 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变成了一个具备自主决策能力的</a:t>
            </a:r>
            <a:r>
              <a:rPr b="1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“高级持续性威胁（</a:t>
            </a:r>
            <a:r>
              <a:rPr b="1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APT</a:t>
            </a: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）”跳板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。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10" name="Group 3"/>
          <p:cNvGrpSpPr/>
          <p:nvPr/>
        </p:nvGrpSpPr>
        <p:grpSpPr>
          <a:xfrm>
            <a:off x="286200" y="6191280"/>
            <a:ext cx="380880" cy="381240"/>
            <a:chOff x="286200" y="6191280"/>
            <a:chExt cx="380880" cy="381240"/>
          </a:xfrm>
        </p:grpSpPr>
        <p:pic>
          <p:nvPicPr>
            <p:cNvPr id="211" name="Image 1" descr="preencoded.png"/>
            <p:cNvPicPr/>
            <p:nvPr/>
          </p:nvPicPr>
          <p:blipFill>
            <a:blip r:embed="rId1"/>
            <a:srcRect l="0" t="-314" r="0" b="-314"/>
            <a:stretch/>
          </p:blipFill>
          <p:spPr>
            <a:xfrm>
              <a:off x="286200" y="6534360"/>
              <a:ext cx="380880" cy="38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2" name="Image 2" descr="preencoded.png"/>
            <p:cNvPicPr/>
            <p:nvPr/>
          </p:nvPicPr>
          <p:blipFill>
            <a:blip r:embed="rId2"/>
            <a:srcRect l="-314" t="0" r="-314" b="0"/>
            <a:stretch/>
          </p:blipFill>
          <p:spPr>
            <a:xfrm>
              <a:off x="286200" y="6191280"/>
              <a:ext cx="38160" cy="38088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13" name="CustomShape 4"/>
          <p:cNvSpPr/>
          <p:nvPr/>
        </p:nvSpPr>
        <p:spPr>
          <a:xfrm>
            <a:off x="814680" y="1779120"/>
            <a:ext cx="10591560" cy="1392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</p:sp>
      <p:sp>
        <p:nvSpPr>
          <p:cNvPr id="214" name="CustomShape 5"/>
          <p:cNvSpPr/>
          <p:nvPr/>
        </p:nvSpPr>
        <p:spPr>
          <a:xfrm>
            <a:off x="814680" y="3169080"/>
            <a:ext cx="10591560" cy="1456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</p:sp>
      <p:sp>
        <p:nvSpPr>
          <p:cNvPr id="215" name="CustomShape 6"/>
          <p:cNvSpPr/>
          <p:nvPr/>
        </p:nvSpPr>
        <p:spPr>
          <a:xfrm>
            <a:off x="814680" y="4620240"/>
            <a:ext cx="10591560" cy="1456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</p:sp>
      <p:sp>
        <p:nvSpPr>
          <p:cNvPr id="216" name="CustomShape 7"/>
          <p:cNvSpPr/>
          <p:nvPr/>
        </p:nvSpPr>
        <p:spPr>
          <a:xfrm>
            <a:off x="1036440" y="2217240"/>
            <a:ext cx="113112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zh-CN" sz="1800" spc="-1" strike="noStrike">
                <a:solidFill>
                  <a:srgbClr val="000000"/>
                </a:solidFill>
                <a:latin typeface="微软雅黑"/>
                <a:ea typeface="微软雅黑"/>
              </a:rPr>
              <a:t>认知注入风险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7" name="CustomShape 8"/>
          <p:cNvSpPr/>
          <p:nvPr/>
        </p:nvSpPr>
        <p:spPr>
          <a:xfrm>
            <a:off x="1027800" y="3627000"/>
            <a:ext cx="113112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zh-CN" sz="1800" spc="-1" strike="noStrike">
                <a:solidFill>
                  <a:srgbClr val="000000"/>
                </a:solidFill>
                <a:latin typeface="微软雅黑"/>
                <a:ea typeface="微软雅黑"/>
              </a:rPr>
              <a:t>供应链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zh-CN" sz="1800" spc="-1" strike="noStrike">
                <a:solidFill>
                  <a:srgbClr val="000000"/>
                </a:solidFill>
                <a:latin typeface="微软雅黑"/>
                <a:ea typeface="微软雅黑"/>
              </a:rPr>
              <a:t>风险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8" name="CustomShape 9"/>
          <p:cNvSpPr/>
          <p:nvPr/>
        </p:nvSpPr>
        <p:spPr>
          <a:xfrm>
            <a:off x="1036440" y="4906800"/>
            <a:ext cx="1131120" cy="91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zh-CN" sz="1800" spc="-1" strike="noStrike">
                <a:solidFill>
                  <a:srgbClr val="000000"/>
                </a:solidFill>
                <a:latin typeface="微软雅黑"/>
                <a:ea typeface="微软雅黑"/>
              </a:rPr>
              <a:t>基础设施与身份泄露风险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9" name="CustomShape 10"/>
          <p:cNvSpPr/>
          <p:nvPr/>
        </p:nvSpPr>
        <p:spPr>
          <a:xfrm>
            <a:off x="6455880" y="1843560"/>
            <a:ext cx="1689840" cy="13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篡改虾的认知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-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攻击者利用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OpenClaw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修改其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Soul.md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（身份设定）或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HEARTBEAT.md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（定时任务）文件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-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植入认知后门，即使系统重启仍执行恶意任务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20" name="图片 25" descr=""/>
          <p:cNvPicPr/>
          <p:nvPr/>
        </p:nvPicPr>
        <p:blipFill>
          <a:blip r:embed="rId3"/>
          <a:stretch/>
        </p:blipFill>
        <p:spPr>
          <a:xfrm>
            <a:off x="5245560" y="2019240"/>
            <a:ext cx="1091880" cy="1040400"/>
          </a:xfrm>
          <a:prstGeom prst="rect">
            <a:avLst/>
          </a:prstGeom>
          <a:ln>
            <a:noFill/>
          </a:ln>
        </p:spPr>
      </p:pic>
      <p:sp>
        <p:nvSpPr>
          <p:cNvPr id="221" name="CustomShape 11"/>
          <p:cNvSpPr/>
          <p:nvPr/>
        </p:nvSpPr>
        <p:spPr>
          <a:xfrm>
            <a:off x="3437280" y="1843560"/>
            <a:ext cx="1689840" cy="13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间接提示注入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-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攻击者在网页或邮件中隐藏指令，当智能体总结内容时，指令被激活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-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示例：诱导执行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curl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发送本地凭证（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openclaw.json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）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22" name="图片 27" descr=""/>
          <p:cNvPicPr/>
          <p:nvPr/>
        </p:nvPicPr>
        <p:blipFill>
          <a:blip r:embed="rId4"/>
          <a:stretch/>
        </p:blipFill>
        <p:spPr>
          <a:xfrm>
            <a:off x="2307600" y="2019240"/>
            <a:ext cx="1011240" cy="1040400"/>
          </a:xfrm>
          <a:prstGeom prst="rect">
            <a:avLst/>
          </a:prstGeom>
          <a:ln>
            <a:noFill/>
          </a:ln>
        </p:spPr>
      </p:pic>
      <p:pic>
        <p:nvPicPr>
          <p:cNvPr id="223" name="图片 28" descr=""/>
          <p:cNvPicPr/>
          <p:nvPr/>
        </p:nvPicPr>
        <p:blipFill>
          <a:blip r:embed="rId5"/>
          <a:stretch/>
        </p:blipFill>
        <p:spPr>
          <a:xfrm>
            <a:off x="8264520" y="2019240"/>
            <a:ext cx="1128600" cy="1040400"/>
          </a:xfrm>
          <a:prstGeom prst="rect">
            <a:avLst/>
          </a:prstGeom>
          <a:ln>
            <a:noFill/>
          </a:ln>
        </p:spPr>
      </p:pic>
      <p:sp>
        <p:nvSpPr>
          <p:cNvPr id="224" name="CustomShape 12"/>
          <p:cNvSpPr/>
          <p:nvPr/>
        </p:nvSpPr>
        <p:spPr>
          <a:xfrm>
            <a:off x="9511560" y="1843560"/>
            <a:ext cx="1689840" cy="13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日志中毒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-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利用智能体“自诊断”功能，在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HTTP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头中注入恶意代码到日志文件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-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在读取日志排错时触发恶意指令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25" name="图片 42" descr=""/>
          <p:cNvPicPr/>
          <p:nvPr/>
        </p:nvPicPr>
        <p:blipFill>
          <a:blip r:embed="rId6"/>
          <a:stretch/>
        </p:blipFill>
        <p:spPr>
          <a:xfrm>
            <a:off x="2298960" y="3467880"/>
            <a:ext cx="1028880" cy="963000"/>
          </a:xfrm>
          <a:prstGeom prst="rect">
            <a:avLst/>
          </a:prstGeom>
          <a:ln>
            <a:noFill/>
          </a:ln>
        </p:spPr>
      </p:pic>
      <p:pic>
        <p:nvPicPr>
          <p:cNvPr id="226" name="图片 50" descr=""/>
          <p:cNvPicPr/>
          <p:nvPr/>
        </p:nvPicPr>
        <p:blipFill>
          <a:blip r:embed="rId7"/>
          <a:stretch/>
        </p:blipFill>
        <p:spPr>
          <a:xfrm>
            <a:off x="8255520" y="3466800"/>
            <a:ext cx="1131120" cy="965520"/>
          </a:xfrm>
          <a:prstGeom prst="rect">
            <a:avLst/>
          </a:prstGeom>
          <a:ln>
            <a:noFill/>
          </a:ln>
        </p:spPr>
      </p:pic>
      <p:pic>
        <p:nvPicPr>
          <p:cNvPr id="227" name="图片 31" descr=""/>
          <p:cNvPicPr/>
          <p:nvPr/>
        </p:nvPicPr>
        <p:blipFill>
          <a:blip r:embed="rId8"/>
          <a:stretch/>
        </p:blipFill>
        <p:spPr>
          <a:xfrm>
            <a:off x="5246280" y="3466800"/>
            <a:ext cx="1091160" cy="964800"/>
          </a:xfrm>
          <a:prstGeom prst="rect">
            <a:avLst/>
          </a:prstGeom>
          <a:ln>
            <a:noFill/>
          </a:ln>
        </p:spPr>
      </p:pic>
      <p:sp>
        <p:nvSpPr>
          <p:cNvPr id="228" name="CustomShape 13"/>
          <p:cNvSpPr/>
          <p:nvPr/>
        </p:nvSpPr>
        <p:spPr>
          <a:xfrm>
            <a:off x="3441960" y="3253320"/>
            <a:ext cx="1689840" cy="13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ClawHub</a:t>
            </a: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投毒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-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研究发现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ClawHub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中约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12%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（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341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个）技能为恶意技能，其中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335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个属于名为“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ClawHavoc”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的协调攻击行动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29" name="CustomShape 14"/>
          <p:cNvSpPr/>
          <p:nvPr/>
        </p:nvSpPr>
        <p:spPr>
          <a:xfrm>
            <a:off x="6451560" y="3253320"/>
            <a:ext cx="1689840" cy="13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虚假诱导安装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-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恶意技能（如虚假的加密货币追踪器）会诱导用户下载并运行带有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AMOS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病毒或键盘记录器的”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.zip”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安装包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0" name="CustomShape 15"/>
          <p:cNvSpPr/>
          <p:nvPr/>
        </p:nvSpPr>
        <p:spPr>
          <a:xfrm>
            <a:off x="9500760" y="3253320"/>
            <a:ext cx="1794240" cy="13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开发者工具污染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-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例如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Cline CLI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工具被发现曾包含恶意脚本，在用户不知情的情况下在后台静默安装并运行 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OpenClaw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，将其作为高权限的长期后门 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31" name="图片 35" descr=""/>
          <p:cNvPicPr/>
          <p:nvPr/>
        </p:nvPicPr>
        <p:blipFill>
          <a:blip r:embed="rId9"/>
          <a:stretch/>
        </p:blipFill>
        <p:spPr>
          <a:xfrm>
            <a:off x="2307600" y="4866840"/>
            <a:ext cx="1081800" cy="1001520"/>
          </a:xfrm>
          <a:prstGeom prst="rect">
            <a:avLst/>
          </a:prstGeom>
          <a:ln>
            <a:noFill/>
          </a:ln>
        </p:spPr>
      </p:pic>
      <p:pic>
        <p:nvPicPr>
          <p:cNvPr id="232" name="图片 65" descr=""/>
          <p:cNvPicPr/>
          <p:nvPr/>
        </p:nvPicPr>
        <p:blipFill>
          <a:blip r:embed="rId10"/>
          <a:stretch/>
        </p:blipFill>
        <p:spPr>
          <a:xfrm>
            <a:off x="5285880" y="4866480"/>
            <a:ext cx="1091880" cy="1002240"/>
          </a:xfrm>
          <a:prstGeom prst="rect">
            <a:avLst/>
          </a:prstGeom>
          <a:ln>
            <a:noFill/>
          </a:ln>
        </p:spPr>
      </p:pic>
      <p:pic>
        <p:nvPicPr>
          <p:cNvPr id="233" name="图片 66" descr=""/>
          <p:cNvPicPr/>
          <p:nvPr/>
        </p:nvPicPr>
        <p:blipFill>
          <a:blip r:embed="rId11"/>
          <a:stretch/>
        </p:blipFill>
        <p:spPr>
          <a:xfrm>
            <a:off x="8273880" y="4859640"/>
            <a:ext cx="1127880" cy="1016280"/>
          </a:xfrm>
          <a:prstGeom prst="rect">
            <a:avLst/>
          </a:prstGeom>
          <a:ln>
            <a:noFill/>
          </a:ln>
        </p:spPr>
      </p:pic>
      <p:sp>
        <p:nvSpPr>
          <p:cNvPr id="234" name="CustomShape 16"/>
          <p:cNvSpPr/>
          <p:nvPr/>
        </p:nvSpPr>
        <p:spPr>
          <a:xfrm>
            <a:off x="3492360" y="4671720"/>
            <a:ext cx="1689840" cy="13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未授权的网关暴露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-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默认监听 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18789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端口，全球一度有超过 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42,000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个实例在 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Shodan/Censys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上被扫出，且许多未开启身份验证，导致攻击者可直接接管控制台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5" name="CustomShape 17"/>
          <p:cNvSpPr/>
          <p:nvPr/>
        </p:nvSpPr>
        <p:spPr>
          <a:xfrm>
            <a:off x="6480720" y="4671720"/>
            <a:ext cx="1689840" cy="13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Moltbook</a:t>
            </a: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隐私泄露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-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配套社交网络 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Moltbook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因为 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RLS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配置错误，导致 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150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万个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API Key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和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3.5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万个邮箱泄露。攻击者利用泄露的“机器凭据”可几小时内产生数万美元账单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6" name="CustomShape 18"/>
          <p:cNvSpPr/>
          <p:nvPr/>
        </p:nvSpPr>
        <p:spPr>
          <a:xfrm>
            <a:off x="9505440" y="4671720"/>
            <a:ext cx="1689840" cy="13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一键远程控制漏洞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- 1-Click RCE (CVE-2026-25253)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攻击者只需发送一个恶意链接，利用 </a:t>
            </a:r>
            <a:r>
              <a:rPr b="0" lang="en-US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WebSocket </a:t>
            </a:r>
            <a:r>
              <a:rPr b="0" lang="zh-CN" sz="1000" spc="-1" strike="noStrike">
                <a:solidFill>
                  <a:srgbClr val="000000"/>
                </a:solidFill>
                <a:latin typeface="微软雅黑"/>
                <a:ea typeface="微软雅黑"/>
              </a:rPr>
              <a:t>劫持即可在用户点击瞬间窃取主令牌并实现远程代码执行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/>
          <p:cNvSpPr/>
          <p:nvPr/>
        </p:nvSpPr>
        <p:spPr>
          <a:xfrm>
            <a:off x="5751000" y="1567440"/>
            <a:ext cx="5807880" cy="5162400"/>
          </a:xfrm>
          <a:prstGeom prst="roundRect">
            <a:avLst>
              <a:gd name="adj" fmla="val 2003"/>
            </a:avLst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8" name="CustomShape 2"/>
          <p:cNvSpPr/>
          <p:nvPr/>
        </p:nvSpPr>
        <p:spPr>
          <a:xfrm>
            <a:off x="817200" y="1567440"/>
            <a:ext cx="4604400" cy="5100480"/>
          </a:xfrm>
          <a:prstGeom prst="roundRect">
            <a:avLst>
              <a:gd name="adj" fmla="val 2003"/>
            </a:avLst>
          </a:prstGeom>
          <a:solidFill>
            <a:srgbClr val="f7f8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39" name="图片 1" descr=""/>
          <p:cNvPicPr/>
          <p:nvPr/>
        </p:nvPicPr>
        <p:blipFill>
          <a:blip r:embed="rId1"/>
          <a:stretch/>
        </p:blipFill>
        <p:spPr>
          <a:xfrm>
            <a:off x="1034640" y="1775880"/>
            <a:ext cx="4169520" cy="2274120"/>
          </a:xfrm>
          <a:prstGeom prst="rect">
            <a:avLst/>
          </a:prstGeom>
          <a:ln>
            <a:noFill/>
          </a:ln>
          <a:effectLst>
            <a:outerShdw algn="tl" blurRad="50800" dir="2700000" dist="37674" rotWithShape="0">
              <a:srgbClr val="000000">
                <a:alpha val="40000"/>
              </a:srgbClr>
            </a:outerShdw>
          </a:effectLst>
        </p:spPr>
      </p:pic>
      <p:sp>
        <p:nvSpPr>
          <p:cNvPr id="240" name="CustomShape 3"/>
          <p:cNvSpPr/>
          <p:nvPr/>
        </p:nvSpPr>
        <p:spPr>
          <a:xfrm>
            <a:off x="1643400" y="1101960"/>
            <a:ext cx="866808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最近两个月， 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OpenClaw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共发现 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152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个漏洞，其中 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53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个为高危及以上风险（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34.9%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41" name="图片 3" descr=""/>
          <p:cNvPicPr/>
          <p:nvPr/>
        </p:nvPicPr>
        <p:blipFill>
          <a:blip r:embed="rId2"/>
          <a:stretch/>
        </p:blipFill>
        <p:spPr>
          <a:xfrm>
            <a:off x="1034640" y="4190400"/>
            <a:ext cx="4169520" cy="2274120"/>
          </a:xfrm>
          <a:prstGeom prst="rect">
            <a:avLst/>
          </a:prstGeom>
          <a:ln>
            <a:noFill/>
          </a:ln>
          <a:effectLst>
            <a:outerShdw algn="tl" blurRad="50800" dir="2700000" dist="37674" rotWithShape="0">
              <a:srgbClr val="000000">
                <a:alpha val="40000"/>
              </a:srgbClr>
            </a:outerShdw>
          </a:effectLst>
        </p:spPr>
      </p:pic>
      <p:sp>
        <p:nvSpPr>
          <p:cNvPr id="242" name="CustomShape 4"/>
          <p:cNvSpPr/>
          <p:nvPr/>
        </p:nvSpPr>
        <p:spPr>
          <a:xfrm>
            <a:off x="761040" y="128160"/>
            <a:ext cx="7711560" cy="80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100" spc="148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1" lang="zh-CN" sz="3100" spc="148" strike="noStrike">
                <a:solidFill>
                  <a:srgbClr val="ffffff"/>
                </a:solidFill>
                <a:latin typeface="Noto Sans SC"/>
                <a:ea typeface="Noto Sans SC"/>
              </a:rPr>
              <a:t>强大的工具，潜在的陷阱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43" name="CustomShape 5"/>
          <p:cNvSpPr/>
          <p:nvPr/>
        </p:nvSpPr>
        <p:spPr>
          <a:xfrm>
            <a:off x="7713000" y="5806800"/>
            <a:ext cx="170496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平均每天发布一个高危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4" name="CustomShape 6"/>
          <p:cNvSpPr/>
          <p:nvPr/>
        </p:nvSpPr>
        <p:spPr>
          <a:xfrm>
            <a:off x="9244800" y="5815800"/>
            <a:ext cx="48600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200" spc="-1" strike="noStrike" u="sng">
                <a:solidFill>
                  <a:srgbClr val="0563c1"/>
                </a:solidFill>
                <a:uFillTx/>
                <a:latin typeface="微软雅黑"/>
                <a:ea typeface="微软雅黑"/>
                <a:hlinkClick r:id="rId3"/>
              </a:rPr>
              <a:t>漏洞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45" name="Table 7"/>
          <p:cNvGraphicFramePr/>
          <p:nvPr/>
        </p:nvGraphicFramePr>
        <p:xfrm>
          <a:off x="6440760" y="3956400"/>
          <a:ext cx="4063680" cy="2118960"/>
        </p:xfrm>
        <a:graphic>
          <a:graphicData uri="http://schemas.openxmlformats.org/drawingml/2006/table">
            <a:tbl>
              <a:tblPr/>
              <a:tblGrid>
                <a:gridCol w="2031840"/>
                <a:gridCol w="2031840"/>
              </a:tblGrid>
              <a:tr h="302760"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zh-CN" sz="14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漏洞类型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zh-CN" sz="1400" spc="-1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数量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7c3aed"/>
                    </a:solidFill>
                  </a:tcPr>
                </a:tc>
              </a:tr>
              <a:tr h="302760"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zh-CN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命令注入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760"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zh-CN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路径遍历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760"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zh-CN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认证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授权绕过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760"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zh-CN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服务端请求伪造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760"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zh-CN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沙箱逃逸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zh-CN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代码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b="0" lang="zh-CN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命令执行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31680" bIns="316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6" name="CustomShape 8"/>
          <p:cNvSpPr/>
          <p:nvPr/>
        </p:nvSpPr>
        <p:spPr>
          <a:xfrm>
            <a:off x="6233040" y="1847880"/>
            <a:ext cx="4664880" cy="170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微软雅黑"/>
                <a:ea typeface="微软雅黑"/>
              </a:rPr>
              <a:t>Claw</a:t>
            </a:r>
            <a:r>
              <a:rPr b="1" lang="zh-CN" sz="1800" spc="-1" strike="noStrike">
                <a:solidFill>
                  <a:srgbClr val="000000"/>
                </a:solidFill>
                <a:latin typeface="微软雅黑"/>
                <a:ea typeface="微软雅黑"/>
              </a:rPr>
              <a:t>劫持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400" spc="-1" strike="noStrike">
                <a:solidFill>
                  <a:srgbClr val="000000"/>
                </a:solidFill>
                <a:latin typeface="微软雅黑"/>
                <a:ea typeface="微软雅黑"/>
              </a:rPr>
              <a:t>漏洞编号：</a:t>
            </a:r>
            <a:r>
              <a:rPr b="0" lang="en-US" sz="1400" spc="-1" strike="noStrike">
                <a:solidFill>
                  <a:srgbClr val="000000"/>
                </a:solidFill>
                <a:latin typeface="微软雅黑"/>
                <a:ea typeface="微软雅黑"/>
              </a:rPr>
              <a:t>CVE-2026-25253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400" spc="-1" strike="noStrike">
                <a:solidFill>
                  <a:srgbClr val="000000"/>
                </a:solidFill>
                <a:latin typeface="微软雅黑"/>
                <a:ea typeface="微软雅黑"/>
              </a:rPr>
              <a:t>影响版本：</a:t>
            </a:r>
            <a:r>
              <a:rPr b="0" lang="en-US" sz="1400" spc="-1" strike="noStrike">
                <a:solidFill>
                  <a:srgbClr val="000000"/>
                </a:solidFill>
                <a:latin typeface="微软雅黑"/>
                <a:ea typeface="微软雅黑"/>
              </a:rPr>
              <a:t>v2026.1.24-1</a:t>
            </a:r>
            <a:r>
              <a:rPr b="0" lang="zh-CN" sz="1400" spc="-1" strike="noStrike">
                <a:solidFill>
                  <a:srgbClr val="000000"/>
                </a:solidFill>
                <a:latin typeface="微软雅黑"/>
                <a:ea typeface="微软雅黑"/>
              </a:rPr>
              <a:t>及之前的版本。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400" spc="-1" strike="noStrike">
                <a:solidFill>
                  <a:srgbClr val="000000"/>
                </a:solidFill>
                <a:latin typeface="微软雅黑"/>
                <a:ea typeface="微软雅黑"/>
              </a:rPr>
              <a:t>攻击方式：攻击者构造恶意链接，诱使受害者点击并设置恶意网关地址，窃取用户的认证</a:t>
            </a:r>
            <a:r>
              <a:rPr b="0" lang="en-US" sz="1400" spc="-1" strike="noStrike">
                <a:solidFill>
                  <a:srgbClr val="000000"/>
                </a:solidFill>
                <a:latin typeface="微软雅黑"/>
                <a:ea typeface="微软雅黑"/>
              </a:rPr>
              <a:t>Token</a:t>
            </a:r>
            <a:r>
              <a:rPr b="0" lang="zh-CN" sz="1400" spc="-1" strike="noStrike">
                <a:solidFill>
                  <a:srgbClr val="000000"/>
                </a:solidFill>
                <a:latin typeface="微软雅黑"/>
                <a:ea typeface="微软雅黑"/>
              </a:rPr>
              <a:t>。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h-CN" sz="1400" spc="-1" strike="noStrike">
                <a:solidFill>
                  <a:srgbClr val="000000"/>
                </a:solidFill>
                <a:latin typeface="微软雅黑"/>
                <a:ea typeface="微软雅黑"/>
              </a:rPr>
              <a:t>造成后果：远程命令执行。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Image 1" descr="preencoded.png"/>
          <p:cNvPicPr/>
          <p:nvPr/>
        </p:nvPicPr>
        <p:blipFill>
          <a:blip r:embed="rId1"/>
          <a:stretch/>
        </p:blipFill>
        <p:spPr>
          <a:xfrm>
            <a:off x="704520" y="1081440"/>
            <a:ext cx="10724760" cy="695520"/>
          </a:xfrm>
          <a:prstGeom prst="rect">
            <a:avLst/>
          </a:prstGeom>
          <a:ln>
            <a:noFill/>
          </a:ln>
        </p:spPr>
      </p:pic>
      <p:sp>
        <p:nvSpPr>
          <p:cNvPr id="248" name="CustomShape 1"/>
          <p:cNvSpPr/>
          <p:nvPr/>
        </p:nvSpPr>
        <p:spPr>
          <a:xfrm>
            <a:off x="688680" y="2417400"/>
            <a:ext cx="3333600" cy="1266840"/>
          </a:xfrm>
          <a:prstGeom prst="roundRect">
            <a:avLst>
              <a:gd name="adj" fmla="val 5712"/>
            </a:avLst>
          </a:prstGeom>
          <a:solidFill>
            <a:srgbClr val="ffffff">
              <a:alpha val="3000"/>
            </a:srgbClr>
          </a:solidFill>
          <a:ln>
            <a:noFill/>
          </a:ln>
          <a:effectLst>
            <a:outerShdw algn="bl" blurRad="139700" dir="162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9" name="CustomShape 2"/>
          <p:cNvSpPr/>
          <p:nvPr/>
        </p:nvSpPr>
        <p:spPr>
          <a:xfrm>
            <a:off x="688680" y="2417400"/>
            <a:ext cx="3333600" cy="38160"/>
          </a:xfrm>
          <a:prstGeom prst="roundRect">
            <a:avLst>
              <a:gd name="adj" fmla="val 232287"/>
            </a:avLst>
          </a:prstGeom>
          <a:solidFill>
            <a:srgbClr val="f87171"/>
          </a:solidFill>
          <a:ln w="12600">
            <a:solidFill>
              <a:srgbClr val="f8717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CustomShape 3"/>
          <p:cNvSpPr/>
          <p:nvPr/>
        </p:nvSpPr>
        <p:spPr>
          <a:xfrm>
            <a:off x="675000" y="3690360"/>
            <a:ext cx="3333600" cy="1266840"/>
          </a:xfrm>
          <a:prstGeom prst="roundRect">
            <a:avLst>
              <a:gd name="adj" fmla="val 5712"/>
            </a:avLst>
          </a:prstGeom>
          <a:solidFill>
            <a:srgbClr val="ffffff">
              <a:alpha val="3000"/>
            </a:srgbClr>
          </a:solidFill>
          <a:ln>
            <a:noFill/>
          </a:ln>
          <a:effectLst>
            <a:outerShdw algn="bl" blurRad="139700" dir="162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1" name="CustomShape 4"/>
          <p:cNvSpPr/>
          <p:nvPr/>
        </p:nvSpPr>
        <p:spPr>
          <a:xfrm>
            <a:off x="675000" y="4950000"/>
            <a:ext cx="3333600" cy="1266840"/>
          </a:xfrm>
          <a:prstGeom prst="roundRect">
            <a:avLst>
              <a:gd name="adj" fmla="val 5712"/>
            </a:avLst>
          </a:prstGeom>
          <a:solidFill>
            <a:srgbClr val="ffffff">
              <a:alpha val="3000"/>
            </a:srgbClr>
          </a:solidFill>
          <a:ln>
            <a:noFill/>
          </a:ln>
          <a:effectLst>
            <a:outerShdw algn="bl" blurRad="139700" dir="162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52" name="Image 2" descr="preencoded.png"/>
          <p:cNvPicPr/>
          <p:nvPr/>
        </p:nvPicPr>
        <p:blipFill>
          <a:blip r:embed="rId2"/>
          <a:stretch/>
        </p:blipFill>
        <p:spPr>
          <a:xfrm>
            <a:off x="571680" y="201960"/>
            <a:ext cx="380880" cy="380880"/>
          </a:xfrm>
          <a:prstGeom prst="rect">
            <a:avLst/>
          </a:prstGeom>
          <a:ln>
            <a:noFill/>
          </a:ln>
        </p:spPr>
      </p:pic>
      <p:sp>
        <p:nvSpPr>
          <p:cNvPr id="253" name="CustomShape 5"/>
          <p:cNvSpPr/>
          <p:nvPr/>
        </p:nvSpPr>
        <p:spPr>
          <a:xfrm>
            <a:off x="1143000" y="222480"/>
            <a:ext cx="642456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风险一：数据泄露 —— 机密数据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外发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54" name="CustomShape 6"/>
          <p:cNvSpPr/>
          <p:nvPr/>
        </p:nvSpPr>
        <p:spPr>
          <a:xfrm>
            <a:off x="879840" y="1208160"/>
            <a:ext cx="1020564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zh-CN" sz="1500" spc="-1" strike="noStrike">
                <a:solidFill>
                  <a:srgbClr val="fca5a5"/>
                </a:solidFill>
                <a:latin typeface="微软雅黑"/>
                <a:ea typeface="微软雅黑"/>
              </a:rPr>
              <a:t>风险原理：</a:t>
            </a:r>
            <a:r>
              <a:rPr b="0" lang="zh-CN" sz="1600" spc="-1" strike="noStrike">
                <a:solidFill>
                  <a:srgbClr val="e2e8f0"/>
                </a:solidFill>
                <a:latin typeface="微软雅黑"/>
                <a:ea typeface="微软雅黑"/>
              </a:rPr>
              <a:t>你输入给</a:t>
            </a:r>
            <a:r>
              <a:rPr b="0" lang="en-US" sz="1600" spc="-1" strike="noStrike">
                <a:solidFill>
                  <a:srgbClr val="e2e8f0"/>
                </a:solidFill>
                <a:latin typeface="微软雅黑"/>
                <a:ea typeface="微软雅黑"/>
              </a:rPr>
              <a:t>OpenClaw</a:t>
            </a:r>
            <a:r>
              <a:rPr b="0" lang="zh-CN" sz="1600" spc="-1" strike="noStrike">
                <a:solidFill>
                  <a:srgbClr val="e2e8f0"/>
                </a:solidFill>
                <a:latin typeface="微软雅黑"/>
                <a:ea typeface="微软雅黑"/>
              </a:rPr>
              <a:t>（外部大模型）的任何信息，都可能被其开发者用于模型训练，或因安全漏洞而泄露。它就像一个“记忆力超群但嘴巴不严”的实习生。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55" name="CustomShape 7"/>
          <p:cNvSpPr/>
          <p:nvPr/>
        </p:nvSpPr>
        <p:spPr>
          <a:xfrm>
            <a:off x="960120" y="2008800"/>
            <a:ext cx="2791440" cy="30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ffffff"/>
                </a:solidFill>
                <a:latin typeface="Noto Sans SC"/>
                <a:ea typeface="Noto Sans SC"/>
              </a:rPr>
              <a:t>高危场景示例 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56" name="Image 4" descr="preencoded.png"/>
          <p:cNvPicPr/>
          <p:nvPr/>
        </p:nvPicPr>
        <p:blipFill>
          <a:blip r:embed="rId3"/>
          <a:srcRect l="0" t="-685" r="0" b="-685"/>
          <a:stretch/>
        </p:blipFill>
        <p:spPr>
          <a:xfrm>
            <a:off x="688680" y="2066400"/>
            <a:ext cx="180720" cy="209160"/>
          </a:xfrm>
          <a:prstGeom prst="rect">
            <a:avLst/>
          </a:prstGeom>
          <a:ln>
            <a:noFill/>
          </a:ln>
        </p:spPr>
      </p:pic>
      <p:pic>
        <p:nvPicPr>
          <p:cNvPr id="257" name="Image 5" descr="preencoded.png"/>
          <p:cNvPicPr/>
          <p:nvPr/>
        </p:nvPicPr>
        <p:blipFill>
          <a:blip r:embed="rId4"/>
          <a:srcRect l="-126" t="0" r="-126" b="0"/>
          <a:stretch/>
        </p:blipFill>
        <p:spPr>
          <a:xfrm>
            <a:off x="879840" y="2607840"/>
            <a:ext cx="285840" cy="228240"/>
          </a:xfrm>
          <a:prstGeom prst="rect">
            <a:avLst/>
          </a:prstGeom>
          <a:ln>
            <a:noFill/>
          </a:ln>
        </p:spPr>
      </p:pic>
      <p:sp>
        <p:nvSpPr>
          <p:cNvPr id="258" name="CustomShape 8"/>
          <p:cNvSpPr/>
          <p:nvPr/>
        </p:nvSpPr>
        <p:spPr>
          <a:xfrm>
            <a:off x="1307880" y="2607840"/>
            <a:ext cx="2714400" cy="24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ca5a5"/>
                </a:solidFill>
                <a:latin typeface="Noto Sans SC"/>
                <a:ea typeface="Noto Sans SC"/>
              </a:rPr>
              <a:t>场景</a:t>
            </a:r>
            <a:r>
              <a:rPr b="1" lang="en-US" sz="1300" spc="-1" strike="noStrike">
                <a:solidFill>
                  <a:srgbClr val="fca5a5"/>
                </a:solidFill>
                <a:latin typeface="Noto Sans SC"/>
                <a:ea typeface="Noto Sans SC"/>
              </a:rPr>
              <a:t>A</a:t>
            </a:r>
            <a:r>
              <a:rPr b="1" lang="zh-CN" sz="1300" spc="-1" strike="noStrike">
                <a:solidFill>
                  <a:srgbClr val="fca5a5"/>
                </a:solidFill>
                <a:latin typeface="Noto Sans SC"/>
                <a:ea typeface="Noto Sans SC"/>
              </a:rPr>
              <a:t>：客户隐私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59" name="CustomShape 9"/>
          <p:cNvSpPr/>
          <p:nvPr/>
        </p:nvSpPr>
        <p:spPr>
          <a:xfrm>
            <a:off x="1307880" y="2931480"/>
            <a:ext cx="2600280" cy="685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 </a:t>
            </a:r>
            <a:r>
              <a:rPr b="0" lang="zh-CN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粘贴包含</a:t>
            </a:r>
            <a:r>
              <a:rPr b="0" lang="zh-CN" sz="1200" spc="-1" strike="noStrike">
                <a:solidFill>
                  <a:srgbClr val="ffffff"/>
                </a:solidFill>
                <a:latin typeface="Noto Sans SC"/>
                <a:ea typeface="Noto Sans SC"/>
              </a:rPr>
              <a:t>客户姓名、联系方式、交易记录</a:t>
            </a:r>
            <a:r>
              <a:rPr b="0" lang="zh-CN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的表格，要求</a:t>
            </a:r>
            <a:r>
              <a:rPr b="0" lang="en-US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AI</a:t>
            </a:r>
            <a:r>
              <a:rPr b="0" lang="zh-CN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：“帮我分析一下客户购买习惯”。 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60" name="Image 6" descr="preencoded.png"/>
          <p:cNvPicPr/>
          <p:nvPr/>
        </p:nvPicPr>
        <p:blipFill>
          <a:blip r:embed="rId5"/>
          <a:srcRect l="-211" t="0" r="-211" b="0"/>
          <a:stretch/>
        </p:blipFill>
        <p:spPr>
          <a:xfrm>
            <a:off x="865080" y="3905640"/>
            <a:ext cx="171720" cy="228240"/>
          </a:xfrm>
          <a:prstGeom prst="rect">
            <a:avLst/>
          </a:prstGeom>
          <a:ln>
            <a:noFill/>
          </a:ln>
        </p:spPr>
      </p:pic>
      <p:sp>
        <p:nvSpPr>
          <p:cNvPr id="261" name="CustomShape 10"/>
          <p:cNvSpPr/>
          <p:nvPr/>
        </p:nvSpPr>
        <p:spPr>
          <a:xfrm>
            <a:off x="1294200" y="3905640"/>
            <a:ext cx="2714400" cy="24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ca5a5"/>
                </a:solidFill>
                <a:latin typeface="Noto Sans SC"/>
                <a:ea typeface="Noto Sans SC"/>
              </a:rPr>
              <a:t>场景</a:t>
            </a:r>
            <a:r>
              <a:rPr b="1" lang="en-US" sz="1300" spc="-1" strike="noStrike">
                <a:solidFill>
                  <a:srgbClr val="fca5a5"/>
                </a:solidFill>
                <a:latin typeface="Noto Sans SC"/>
                <a:ea typeface="Noto Sans SC"/>
              </a:rPr>
              <a:t>B</a:t>
            </a:r>
            <a:r>
              <a:rPr b="1" lang="zh-CN" sz="1300" spc="-1" strike="noStrike">
                <a:solidFill>
                  <a:srgbClr val="fca5a5"/>
                </a:solidFill>
                <a:latin typeface="Noto Sans SC"/>
                <a:ea typeface="Noto Sans SC"/>
              </a:rPr>
              <a:t>：财务机密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2" name="CustomShape 11"/>
          <p:cNvSpPr/>
          <p:nvPr/>
        </p:nvSpPr>
        <p:spPr>
          <a:xfrm>
            <a:off x="1294200" y="4229280"/>
            <a:ext cx="2600280" cy="685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 </a:t>
            </a:r>
            <a:r>
              <a:rPr b="0" lang="zh-CN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输入公司</a:t>
            </a:r>
            <a:r>
              <a:rPr b="0" lang="zh-CN" sz="1200" spc="-1" strike="noStrike">
                <a:solidFill>
                  <a:srgbClr val="ffffff"/>
                </a:solidFill>
                <a:latin typeface="Noto Sans SC"/>
                <a:ea typeface="Noto Sans SC"/>
              </a:rPr>
              <a:t>未发布的</a:t>
            </a:r>
            <a:r>
              <a:rPr b="0" lang="en-US" sz="1200" spc="-1" strike="noStrike">
                <a:solidFill>
                  <a:srgbClr val="ffffff"/>
                </a:solidFill>
                <a:latin typeface="Noto Sans SC"/>
                <a:ea typeface="Noto Sans SC"/>
              </a:rPr>
              <a:t>Q3</a:t>
            </a:r>
            <a:r>
              <a:rPr b="0" lang="zh-CN" sz="1200" spc="-1" strike="noStrike">
                <a:solidFill>
                  <a:srgbClr val="ffffff"/>
                </a:solidFill>
                <a:latin typeface="Noto Sans SC"/>
                <a:ea typeface="Noto Sans SC"/>
              </a:rPr>
              <a:t>财务报告草稿</a:t>
            </a:r>
            <a:r>
              <a:rPr b="0" lang="zh-CN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，要求</a:t>
            </a:r>
            <a:r>
              <a:rPr b="0" lang="en-US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AI</a:t>
            </a:r>
            <a:r>
              <a:rPr b="0" lang="zh-CN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：“帮我润色一下这份报告的措辞”。 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63" name="Image 7" descr="preencoded.png"/>
          <p:cNvPicPr/>
          <p:nvPr/>
        </p:nvPicPr>
        <p:blipFill>
          <a:blip r:embed="rId6"/>
          <a:srcRect l="-126" t="0" r="-126" b="0"/>
          <a:stretch/>
        </p:blipFill>
        <p:spPr>
          <a:xfrm>
            <a:off x="866160" y="5140080"/>
            <a:ext cx="285840" cy="228240"/>
          </a:xfrm>
          <a:prstGeom prst="rect">
            <a:avLst/>
          </a:prstGeom>
          <a:ln>
            <a:noFill/>
          </a:ln>
        </p:spPr>
      </p:pic>
      <p:sp>
        <p:nvSpPr>
          <p:cNvPr id="264" name="CustomShape 12"/>
          <p:cNvSpPr/>
          <p:nvPr/>
        </p:nvSpPr>
        <p:spPr>
          <a:xfrm>
            <a:off x="1294200" y="5140080"/>
            <a:ext cx="2714400" cy="24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ca5a5"/>
                </a:solidFill>
                <a:latin typeface="Noto Sans SC"/>
                <a:ea typeface="Noto Sans SC"/>
              </a:rPr>
              <a:t>场景</a:t>
            </a:r>
            <a:r>
              <a:rPr b="1" lang="en-US" sz="1300" spc="-1" strike="noStrike">
                <a:solidFill>
                  <a:srgbClr val="fca5a5"/>
                </a:solidFill>
                <a:latin typeface="Noto Sans SC"/>
                <a:ea typeface="Noto Sans SC"/>
              </a:rPr>
              <a:t>C</a:t>
            </a:r>
            <a:r>
              <a:rPr b="1" lang="zh-CN" sz="1300" spc="-1" strike="noStrike">
                <a:solidFill>
                  <a:srgbClr val="fca5a5"/>
                </a:solidFill>
                <a:latin typeface="Noto Sans SC"/>
                <a:ea typeface="Noto Sans SC"/>
              </a:rPr>
              <a:t>：技术架构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5" name="CustomShape 13"/>
          <p:cNvSpPr/>
          <p:nvPr/>
        </p:nvSpPr>
        <p:spPr>
          <a:xfrm>
            <a:off x="1294200" y="5463720"/>
            <a:ext cx="2600280" cy="685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 </a:t>
            </a:r>
            <a:r>
              <a:rPr b="0" lang="zh-CN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粘贴包含</a:t>
            </a:r>
            <a:r>
              <a:rPr b="0" lang="zh-CN" sz="1200" spc="-1" strike="noStrike">
                <a:solidFill>
                  <a:srgbClr val="ffffff"/>
                </a:solidFill>
                <a:latin typeface="Noto Sans SC"/>
                <a:ea typeface="Noto Sans SC"/>
              </a:rPr>
              <a:t>服务器</a:t>
            </a:r>
            <a:r>
              <a:rPr b="0" lang="en-US" sz="1200" spc="-1" strike="noStrike">
                <a:solidFill>
                  <a:srgbClr val="ffffff"/>
                </a:solidFill>
                <a:latin typeface="Noto Sans SC"/>
                <a:ea typeface="Noto Sans SC"/>
              </a:rPr>
              <a:t>IP</a:t>
            </a:r>
            <a:r>
              <a:rPr b="0" lang="zh-CN" sz="1200" spc="-1" strike="noStrike">
                <a:solidFill>
                  <a:srgbClr val="ffffff"/>
                </a:solidFill>
                <a:latin typeface="Noto Sans SC"/>
                <a:ea typeface="Noto Sans SC"/>
              </a:rPr>
              <a:t>、密码与系统漏洞信息</a:t>
            </a:r>
            <a:r>
              <a:rPr b="0" lang="zh-CN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的技术文档，要求</a:t>
            </a:r>
            <a:r>
              <a:rPr b="0" lang="en-US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AI</a:t>
            </a:r>
            <a:r>
              <a:rPr b="0" lang="zh-CN" sz="1200" spc="-1" strike="noStrike">
                <a:solidFill>
                  <a:srgbClr val="94a3b8"/>
                </a:solidFill>
                <a:latin typeface="Noto Sans SC"/>
                <a:ea typeface="Noto Sans SC"/>
              </a:rPr>
              <a:t>：“帮我写个巡检脚本”。 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66" name="图片 45" descr=""/>
          <p:cNvPicPr/>
          <p:nvPr/>
        </p:nvPicPr>
        <p:blipFill>
          <a:blip r:embed="rId7"/>
          <a:stretch/>
        </p:blipFill>
        <p:spPr>
          <a:xfrm>
            <a:off x="4355280" y="2408040"/>
            <a:ext cx="6958800" cy="3795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Image 2" descr="preencoded.png"/>
          <p:cNvPicPr/>
          <p:nvPr/>
        </p:nvPicPr>
        <p:blipFill>
          <a:blip r:embed="rId1"/>
          <a:srcRect l="-19" t="0" r="-19" b="0"/>
          <a:stretch/>
        </p:blipFill>
        <p:spPr>
          <a:xfrm>
            <a:off x="631440" y="1577880"/>
            <a:ext cx="10705320" cy="761400"/>
          </a:xfrm>
          <a:prstGeom prst="rect">
            <a:avLst/>
          </a:prstGeom>
          <a:ln>
            <a:noFill/>
          </a:ln>
        </p:spPr>
      </p:pic>
      <p:pic>
        <p:nvPicPr>
          <p:cNvPr id="268" name="Image 7" descr="preencoded.png"/>
          <p:cNvPicPr/>
          <p:nvPr/>
        </p:nvPicPr>
        <p:blipFill>
          <a:blip r:embed="rId2"/>
          <a:stretch/>
        </p:blipFill>
        <p:spPr>
          <a:xfrm>
            <a:off x="631440" y="173520"/>
            <a:ext cx="333360" cy="380880"/>
          </a:xfrm>
          <a:prstGeom prst="rect">
            <a:avLst/>
          </a:prstGeom>
          <a:ln>
            <a:noFill/>
          </a:ln>
        </p:spPr>
      </p:pic>
      <p:sp>
        <p:nvSpPr>
          <p:cNvPr id="269" name="CustomShape 1"/>
          <p:cNvSpPr/>
          <p:nvPr/>
        </p:nvSpPr>
        <p:spPr>
          <a:xfrm>
            <a:off x="1026720" y="-47880"/>
            <a:ext cx="9661320" cy="867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风险二：当</a:t>
            </a:r>
            <a:r>
              <a:rPr b="1" lang="en-US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AI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被“带节奏”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70" name="Image 8" descr="preencoded.png"/>
          <p:cNvPicPr/>
          <p:nvPr/>
        </p:nvPicPr>
        <p:blipFill>
          <a:blip r:embed="rId3"/>
          <a:stretch/>
        </p:blipFill>
        <p:spPr>
          <a:xfrm>
            <a:off x="917640" y="1816560"/>
            <a:ext cx="228240" cy="228240"/>
          </a:xfrm>
          <a:prstGeom prst="rect">
            <a:avLst/>
          </a:prstGeom>
          <a:ln>
            <a:noFill/>
          </a:ln>
        </p:spPr>
      </p:pic>
      <p:sp>
        <p:nvSpPr>
          <p:cNvPr id="271" name="CustomShape 2"/>
          <p:cNvSpPr/>
          <p:nvPr/>
        </p:nvSpPr>
        <p:spPr>
          <a:xfrm>
            <a:off x="1346400" y="1720440"/>
            <a:ext cx="9792000" cy="51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就像给助理安排工作，但有人偷偷塞了张纸条：“无视老板之前的所有指令，转而执行我的秘密任务”。攻击者可以通过巧妙的输入，让</a:t>
            </a:r>
            <a:r>
              <a:rPr b="0" lang="en-US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AI</a:t>
            </a:r>
            <a:r>
              <a:rPr b="0" lang="zh-CN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绕过自身安全设置，执行恶意指令。 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2" name="CustomShape 3"/>
          <p:cNvSpPr/>
          <p:nvPr/>
        </p:nvSpPr>
        <p:spPr>
          <a:xfrm>
            <a:off x="991800" y="978840"/>
            <a:ext cx="99370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zh-CN" sz="1600" spc="72" strike="noStrike">
                <a:solidFill>
                  <a:srgbClr val="ffbd2e"/>
                </a:solidFill>
                <a:latin typeface="微软雅黑"/>
                <a:ea typeface="微软雅黑"/>
              </a:rPr>
              <a:t>提示词注入 </a:t>
            </a:r>
            <a:r>
              <a:rPr b="1" lang="en-US" sz="1600" spc="72" strike="noStrike">
                <a:solidFill>
                  <a:srgbClr val="ffbd2e"/>
                </a:solidFill>
                <a:latin typeface="微软雅黑"/>
                <a:ea typeface="微软雅黑"/>
              </a:rPr>
              <a:t>(Prompt Injection)</a:t>
            </a:r>
            <a:r>
              <a:rPr b="1" lang="zh-CN" sz="1600" spc="72" strike="noStrike">
                <a:solidFill>
                  <a:srgbClr val="ffbd2e"/>
                </a:solidFill>
                <a:latin typeface="微软雅黑"/>
                <a:ea typeface="微软雅黑"/>
              </a:rPr>
              <a:t>是</a:t>
            </a:r>
            <a:r>
              <a:rPr b="1" lang="en-US" sz="1600" spc="72" strike="noStrike">
                <a:solidFill>
                  <a:srgbClr val="ffbd2e"/>
                </a:solidFill>
                <a:latin typeface="微软雅黑"/>
                <a:ea typeface="微软雅黑"/>
              </a:rPr>
              <a:t>2025</a:t>
            </a:r>
            <a:r>
              <a:rPr b="1" lang="zh-CN" sz="1600" spc="72" strike="noStrike">
                <a:solidFill>
                  <a:srgbClr val="ffbd2e"/>
                </a:solidFill>
                <a:latin typeface="微软雅黑"/>
                <a:ea typeface="微软雅黑"/>
              </a:rPr>
              <a:t>年</a:t>
            </a:r>
            <a:r>
              <a:rPr b="1" lang="en-US" sz="1600" spc="72" strike="noStrike">
                <a:solidFill>
                  <a:srgbClr val="ffbd2e"/>
                </a:solidFill>
                <a:latin typeface="微软雅黑"/>
                <a:ea typeface="微软雅黑"/>
              </a:rPr>
              <a:t>OWASP</a:t>
            </a:r>
            <a:r>
              <a:rPr b="1" lang="zh-CN" sz="1600" spc="72" strike="noStrike">
                <a:solidFill>
                  <a:srgbClr val="ffbd2e"/>
                </a:solidFill>
                <a:latin typeface="微软雅黑"/>
                <a:ea typeface="微软雅黑"/>
              </a:rPr>
              <a:t>大语言模型（</a:t>
            </a:r>
            <a:r>
              <a:rPr b="1" lang="en-US" sz="1600" spc="72" strike="noStrike">
                <a:solidFill>
                  <a:srgbClr val="ffbd2e"/>
                </a:solidFill>
                <a:latin typeface="微软雅黑"/>
                <a:ea typeface="微软雅黑"/>
              </a:rPr>
              <a:t>LLM</a:t>
            </a:r>
            <a:r>
              <a:rPr b="1" lang="zh-CN" sz="1600" spc="72" strike="noStrike">
                <a:solidFill>
                  <a:srgbClr val="ffbd2e"/>
                </a:solidFill>
                <a:latin typeface="微软雅黑"/>
                <a:ea typeface="微软雅黑"/>
              </a:rPr>
              <a:t>）十大风险中排名第一的漏洞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73" name="CustomShape 4"/>
          <p:cNvSpPr/>
          <p:nvPr/>
        </p:nvSpPr>
        <p:spPr>
          <a:xfrm>
            <a:off x="9360360" y="5907240"/>
            <a:ext cx="1429200" cy="34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400" spc="-1" strike="noStrike" u="sng">
                <a:solidFill>
                  <a:srgbClr val="0563c1"/>
                </a:solidFill>
                <a:uFillTx/>
                <a:latin typeface="微软雅黑"/>
                <a:ea typeface="微软雅黑"/>
                <a:hlinkClick r:id="rId4"/>
              </a:rPr>
              <a:t>预防提示词攻击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74" name="Picture 2" descr="显示 AI 越狱的示意图。"/>
          <p:cNvPicPr/>
          <p:nvPr/>
        </p:nvPicPr>
        <p:blipFill>
          <a:blip r:embed="rId5"/>
          <a:stretch/>
        </p:blipFill>
        <p:spPr>
          <a:xfrm>
            <a:off x="6408360" y="2816640"/>
            <a:ext cx="5182920" cy="2876760"/>
          </a:xfrm>
          <a:prstGeom prst="rect">
            <a:avLst/>
          </a:prstGeom>
          <a:ln>
            <a:noFill/>
          </a:ln>
        </p:spPr>
      </p:pic>
      <p:pic>
        <p:nvPicPr>
          <p:cNvPr id="275" name="Picture 4" descr="交叉提示注入攻击的流程图"/>
          <p:cNvPicPr/>
          <p:nvPr/>
        </p:nvPicPr>
        <p:blipFill>
          <a:blip r:embed="rId6"/>
          <a:stretch/>
        </p:blipFill>
        <p:spPr>
          <a:xfrm>
            <a:off x="667080" y="2816640"/>
            <a:ext cx="5428440" cy="3062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473760" y="1543680"/>
            <a:ext cx="10869480" cy="4865400"/>
          </a:xfrm>
          <a:prstGeom prst="rect">
            <a:avLst/>
          </a:prstGeom>
          <a:solidFill>
            <a:srgbClr val="ef4444">
              <a:alpha val="15000"/>
            </a:srgbClr>
          </a:solidFill>
          <a:ln w="12600">
            <a:solidFill>
              <a:srgbClr val="ef444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77" name="Image 2" descr="preencoded.png"/>
          <p:cNvPicPr/>
          <p:nvPr/>
        </p:nvPicPr>
        <p:blipFill>
          <a:blip r:embed="rId1"/>
          <a:stretch/>
        </p:blipFill>
        <p:spPr>
          <a:xfrm>
            <a:off x="685800" y="110520"/>
            <a:ext cx="380880" cy="380880"/>
          </a:xfrm>
          <a:prstGeom prst="rect">
            <a:avLst/>
          </a:prstGeom>
          <a:ln>
            <a:noFill/>
          </a:ln>
        </p:spPr>
      </p:pic>
      <p:sp>
        <p:nvSpPr>
          <p:cNvPr id="278" name="CustomShape 2"/>
          <p:cNvSpPr/>
          <p:nvPr/>
        </p:nvSpPr>
        <p:spPr>
          <a:xfrm>
            <a:off x="1148040" y="71640"/>
            <a:ext cx="982944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风险三：真假难辨的</a:t>
            </a:r>
            <a:r>
              <a:rPr b="1" lang="en-US" sz="2800" spc="72" strike="noStrike">
                <a:solidFill>
                  <a:srgbClr val="ef4444"/>
                </a:solidFill>
                <a:latin typeface="Noto Sans SC"/>
                <a:ea typeface="Noto Sans SC"/>
              </a:rPr>
              <a:t>“</a:t>
            </a:r>
            <a:r>
              <a:rPr b="1" lang="en-US" sz="2800" spc="72" strike="noStrike">
                <a:solidFill>
                  <a:srgbClr val="ef4444"/>
                </a:solidFill>
                <a:latin typeface="Noto Sans SC"/>
                <a:ea typeface="Noto Sans SC"/>
              </a:rPr>
              <a:t>AI</a:t>
            </a:r>
            <a:r>
              <a:rPr b="1" lang="zh-CN" sz="2800" spc="72" strike="noStrike">
                <a:solidFill>
                  <a:srgbClr val="ef4444"/>
                </a:solidFill>
                <a:latin typeface="Noto Sans SC"/>
                <a:ea typeface="Noto Sans SC"/>
              </a:rPr>
              <a:t>幻觉”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79" name="Picture 6" descr=""/>
          <p:cNvPicPr/>
          <p:nvPr/>
        </p:nvPicPr>
        <p:blipFill>
          <a:blip r:embed="rId2"/>
          <a:srcRect l="0" t="45850" r="0" b="0"/>
          <a:stretch/>
        </p:blipFill>
        <p:spPr>
          <a:xfrm>
            <a:off x="4036320" y="3912120"/>
            <a:ext cx="2899080" cy="2252880"/>
          </a:xfrm>
          <a:prstGeom prst="rect">
            <a:avLst/>
          </a:prstGeom>
          <a:ln>
            <a:noFill/>
          </a:ln>
          <a:effectLst>
            <a:outerShdw algn="tl" blurRad="50800" dir="2700000" dist="37674" rotWithShape="0">
              <a:srgbClr val="000000">
                <a:alpha val="40000"/>
              </a:srgbClr>
            </a:outerShdw>
          </a:effectLst>
        </p:spPr>
      </p:pic>
      <p:pic>
        <p:nvPicPr>
          <p:cNvPr id="280" name="Picture 16" descr=""/>
          <p:cNvPicPr/>
          <p:nvPr/>
        </p:nvPicPr>
        <p:blipFill>
          <a:blip r:embed="rId3"/>
          <a:srcRect l="0" t="66673" r="0" b="0"/>
          <a:stretch/>
        </p:blipFill>
        <p:spPr>
          <a:xfrm>
            <a:off x="585360" y="1768680"/>
            <a:ext cx="3376080" cy="1602360"/>
          </a:xfrm>
          <a:prstGeom prst="rect">
            <a:avLst/>
          </a:prstGeom>
          <a:ln>
            <a:noFill/>
          </a:ln>
          <a:effectLst>
            <a:outerShdw algn="tl" blurRad="50800" dir="2700000" dist="37674" rotWithShape="0">
              <a:srgbClr val="000000">
                <a:alpha val="40000"/>
              </a:srgbClr>
            </a:outerShdw>
          </a:effectLst>
        </p:spPr>
      </p:pic>
      <p:pic>
        <p:nvPicPr>
          <p:cNvPr id="281" name="Picture 18" descr=""/>
          <p:cNvPicPr/>
          <p:nvPr/>
        </p:nvPicPr>
        <p:blipFill>
          <a:blip r:embed="rId4"/>
          <a:stretch/>
        </p:blipFill>
        <p:spPr>
          <a:xfrm>
            <a:off x="585360" y="3912120"/>
            <a:ext cx="3296160" cy="2205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algn="tl" blurRad="50800" dir="2700000" dist="37674" rotWithShape="0">
              <a:srgbClr val="000000">
                <a:alpha val="40000"/>
              </a:srgbClr>
            </a:outerShdw>
          </a:effectLst>
        </p:spPr>
      </p:pic>
      <p:pic>
        <p:nvPicPr>
          <p:cNvPr id="282" name="图片 40" descr=""/>
          <p:cNvPicPr/>
          <p:nvPr/>
        </p:nvPicPr>
        <p:blipFill>
          <a:blip r:embed="rId5"/>
          <a:stretch/>
        </p:blipFill>
        <p:spPr>
          <a:xfrm>
            <a:off x="4036320" y="1782360"/>
            <a:ext cx="2810520" cy="20466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algn="tl" blurRad="50800" dir="2700000" dist="37674" rotWithShape="0">
              <a:srgbClr val="000000">
                <a:alpha val="40000"/>
              </a:srgbClr>
            </a:outerShdw>
          </a:effectLst>
        </p:spPr>
      </p:pic>
      <p:sp>
        <p:nvSpPr>
          <p:cNvPr id="283" name="CustomShape 3"/>
          <p:cNvSpPr/>
          <p:nvPr/>
        </p:nvSpPr>
        <p:spPr>
          <a:xfrm>
            <a:off x="473760" y="740520"/>
            <a:ext cx="10869480" cy="523440"/>
          </a:xfrm>
          <a:prstGeom prst="roundRect">
            <a:avLst>
              <a:gd name="adj" fmla="val 14757"/>
            </a:avLst>
          </a:prstGeom>
          <a:solidFill>
            <a:srgbClr val="ef4444">
              <a:alpha val="15000"/>
            </a:srgbClr>
          </a:solidFill>
          <a:ln w="12600">
            <a:solidFill>
              <a:srgbClr val="ef444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84" name="Image 8" descr="preencoded.png"/>
          <p:cNvPicPr/>
          <p:nvPr/>
        </p:nvPicPr>
        <p:blipFill>
          <a:blip r:embed="rId6"/>
          <a:stretch/>
        </p:blipFill>
        <p:spPr>
          <a:xfrm>
            <a:off x="871560" y="885240"/>
            <a:ext cx="266760" cy="266760"/>
          </a:xfrm>
          <a:prstGeom prst="rect">
            <a:avLst/>
          </a:prstGeom>
          <a:ln>
            <a:noFill/>
          </a:ln>
        </p:spPr>
      </p:pic>
      <p:sp>
        <p:nvSpPr>
          <p:cNvPr id="285" name="CustomShape 4"/>
          <p:cNvSpPr/>
          <p:nvPr/>
        </p:nvSpPr>
        <p:spPr>
          <a:xfrm>
            <a:off x="1424880" y="872640"/>
            <a:ext cx="708948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300" spc="72" strike="noStrike">
                <a:solidFill>
                  <a:srgbClr val="ffffff"/>
                </a:solidFill>
                <a:latin typeface="微软雅黑"/>
                <a:ea typeface="微软雅黑"/>
              </a:rPr>
              <a:t>永远、永远、永远要</a:t>
            </a:r>
            <a:r>
              <a:rPr b="1" lang="zh-CN" sz="1300" spc="72" strike="noStrike">
                <a:solidFill>
                  <a:srgbClr val="ffffff"/>
                </a:solidFill>
                <a:latin typeface="微软雅黑"/>
                <a:ea typeface="微软雅黑"/>
              </a:rPr>
              <a:t>慎重向</a:t>
            </a:r>
            <a:r>
              <a:rPr b="1" lang="en-US" sz="1300" spc="72" strike="noStrike">
                <a:solidFill>
                  <a:srgbClr val="ffffff"/>
                </a:solidFill>
                <a:latin typeface="微软雅黑"/>
                <a:ea typeface="微软雅黑"/>
              </a:rPr>
              <a:t>OpenClaw</a:t>
            </a:r>
            <a:r>
              <a:rPr b="1" lang="zh-CN" sz="1300" spc="72" strike="noStrike">
                <a:solidFill>
                  <a:srgbClr val="ffffff"/>
                </a:solidFill>
                <a:latin typeface="微软雅黑"/>
                <a:ea typeface="微软雅黑"/>
              </a:rPr>
              <a:t>授予高权限！因为它很擅长删除数据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286" name="图片 2" descr=""/>
          <p:cNvPicPr/>
          <p:nvPr/>
        </p:nvPicPr>
        <p:blipFill>
          <a:blip r:embed="rId7"/>
          <a:stretch/>
        </p:blipFill>
        <p:spPr>
          <a:xfrm>
            <a:off x="7155360" y="1756080"/>
            <a:ext cx="3994920" cy="43614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stomShape 1"/>
          <p:cNvSpPr/>
          <p:nvPr/>
        </p:nvSpPr>
        <p:spPr>
          <a:xfrm>
            <a:off x="484560" y="1543680"/>
            <a:ext cx="11099160" cy="5203440"/>
          </a:xfrm>
          <a:prstGeom prst="rect">
            <a:avLst/>
          </a:prstGeom>
          <a:solidFill>
            <a:srgbClr val="ef4444">
              <a:alpha val="15000"/>
            </a:srgbClr>
          </a:solidFill>
          <a:ln w="12600">
            <a:solidFill>
              <a:srgbClr val="ef444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88" name="Image 2" descr="preencoded.png"/>
          <p:cNvPicPr/>
          <p:nvPr/>
        </p:nvPicPr>
        <p:blipFill>
          <a:blip r:embed="rId1"/>
          <a:stretch/>
        </p:blipFill>
        <p:spPr>
          <a:xfrm>
            <a:off x="685800" y="110520"/>
            <a:ext cx="380880" cy="380880"/>
          </a:xfrm>
          <a:prstGeom prst="rect">
            <a:avLst/>
          </a:prstGeom>
          <a:ln>
            <a:noFill/>
          </a:ln>
        </p:spPr>
      </p:pic>
      <p:sp>
        <p:nvSpPr>
          <p:cNvPr id="289" name="CustomShape 2"/>
          <p:cNvSpPr/>
          <p:nvPr/>
        </p:nvSpPr>
        <p:spPr>
          <a:xfrm>
            <a:off x="1148040" y="71640"/>
            <a:ext cx="982944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风险三：真假难辨的</a:t>
            </a:r>
            <a:r>
              <a:rPr b="1" lang="en-US" sz="2800" spc="72" strike="noStrike">
                <a:solidFill>
                  <a:srgbClr val="ef4444"/>
                </a:solidFill>
                <a:latin typeface="Noto Sans SC"/>
                <a:ea typeface="Noto Sans SC"/>
              </a:rPr>
              <a:t>“</a:t>
            </a:r>
            <a:r>
              <a:rPr b="1" lang="en-US" sz="2800" spc="72" strike="noStrike">
                <a:solidFill>
                  <a:srgbClr val="ef4444"/>
                </a:solidFill>
                <a:latin typeface="Noto Sans SC"/>
                <a:ea typeface="Noto Sans SC"/>
              </a:rPr>
              <a:t>AI</a:t>
            </a:r>
            <a:r>
              <a:rPr b="1" lang="zh-CN" sz="2800" spc="72" strike="noStrike">
                <a:solidFill>
                  <a:srgbClr val="ef4444"/>
                </a:solidFill>
                <a:latin typeface="Noto Sans SC"/>
                <a:ea typeface="Noto Sans SC"/>
              </a:rPr>
              <a:t>幻觉”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0" name="CustomShape 3"/>
          <p:cNvSpPr/>
          <p:nvPr/>
        </p:nvSpPr>
        <p:spPr>
          <a:xfrm>
            <a:off x="585360" y="740520"/>
            <a:ext cx="11099160" cy="523440"/>
          </a:xfrm>
          <a:prstGeom prst="roundRect">
            <a:avLst>
              <a:gd name="adj" fmla="val 14757"/>
            </a:avLst>
          </a:prstGeom>
          <a:solidFill>
            <a:srgbClr val="ef4444">
              <a:alpha val="15000"/>
            </a:srgbClr>
          </a:solidFill>
          <a:ln w="12600">
            <a:solidFill>
              <a:srgbClr val="ef444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91" name="Image 8" descr="preencoded.png"/>
          <p:cNvPicPr/>
          <p:nvPr/>
        </p:nvPicPr>
        <p:blipFill>
          <a:blip r:embed="rId2"/>
          <a:stretch/>
        </p:blipFill>
        <p:spPr>
          <a:xfrm>
            <a:off x="871560" y="885240"/>
            <a:ext cx="266760" cy="266760"/>
          </a:xfrm>
          <a:prstGeom prst="rect">
            <a:avLst/>
          </a:prstGeom>
          <a:ln>
            <a:noFill/>
          </a:ln>
        </p:spPr>
      </p:pic>
      <p:sp>
        <p:nvSpPr>
          <p:cNvPr id="292" name="CustomShape 4"/>
          <p:cNvSpPr/>
          <p:nvPr/>
        </p:nvSpPr>
        <p:spPr>
          <a:xfrm>
            <a:off x="1424880" y="861840"/>
            <a:ext cx="708948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当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OpenClaw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能操纵你的钱包……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293" name="Group 5"/>
          <p:cNvGrpSpPr/>
          <p:nvPr/>
        </p:nvGrpSpPr>
        <p:grpSpPr>
          <a:xfrm>
            <a:off x="4452840" y="1725480"/>
            <a:ext cx="2340360" cy="2145960"/>
            <a:chOff x="4452840" y="1725480"/>
            <a:chExt cx="2340360" cy="2145960"/>
          </a:xfrm>
        </p:grpSpPr>
        <p:pic>
          <p:nvPicPr>
            <p:cNvPr id="294" name="Picture 8" descr=""/>
            <p:cNvPicPr/>
            <p:nvPr/>
          </p:nvPicPr>
          <p:blipFill>
            <a:blip r:embed="rId3"/>
            <a:stretch/>
          </p:blipFill>
          <p:spPr>
            <a:xfrm>
              <a:off x="4452840" y="1725480"/>
              <a:ext cx="2340360" cy="2145960"/>
            </a:xfrm>
            <a:prstGeom prst="rect">
              <a:avLst/>
            </a:prstGeom>
            <a:ln>
              <a:noFill/>
            </a:ln>
          </p:spPr>
        </p:pic>
        <p:sp>
          <p:nvSpPr>
            <p:cNvPr id="295" name="CustomShape 6"/>
            <p:cNvSpPr/>
            <p:nvPr/>
          </p:nvSpPr>
          <p:spPr>
            <a:xfrm>
              <a:off x="4594680" y="1893600"/>
              <a:ext cx="2057040" cy="272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操纵别人的龙虾发送红包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296" name="Group 7"/>
          <p:cNvGrpSpPr/>
          <p:nvPr/>
        </p:nvGrpSpPr>
        <p:grpSpPr>
          <a:xfrm>
            <a:off x="515880" y="4119840"/>
            <a:ext cx="3691080" cy="1993680"/>
            <a:chOff x="515880" y="4119840"/>
            <a:chExt cx="3691080" cy="1993680"/>
          </a:xfrm>
        </p:grpSpPr>
        <p:pic>
          <p:nvPicPr>
            <p:cNvPr id="297" name="Picture 14" descr=""/>
            <p:cNvPicPr/>
            <p:nvPr/>
          </p:nvPicPr>
          <p:blipFill>
            <a:blip r:embed="rId4"/>
            <a:stretch/>
          </p:blipFill>
          <p:spPr>
            <a:xfrm>
              <a:off x="515880" y="4119840"/>
              <a:ext cx="3691080" cy="1701360"/>
            </a:xfrm>
            <a:prstGeom prst="rect">
              <a:avLst/>
            </a:prstGeom>
            <a:ln>
              <a:noFill/>
            </a:ln>
          </p:spPr>
        </p:pic>
        <p:sp>
          <p:nvSpPr>
            <p:cNvPr id="298" name="CustomShape 8"/>
            <p:cNvSpPr/>
            <p:nvPr/>
          </p:nvSpPr>
          <p:spPr>
            <a:xfrm>
              <a:off x="599040" y="5840640"/>
              <a:ext cx="3599280" cy="272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“</a:t>
              </a: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龙虾”受骗还失忆，用户被转走</a:t>
              </a:r>
              <a:r>
                <a:rPr b="1" lang="en-US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45</a:t>
              </a: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万美元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299" name="图片 19" descr=""/>
          <p:cNvPicPr/>
          <p:nvPr/>
        </p:nvPicPr>
        <p:blipFill>
          <a:blip r:embed="rId5"/>
          <a:stretch/>
        </p:blipFill>
        <p:spPr>
          <a:xfrm>
            <a:off x="608040" y="1782000"/>
            <a:ext cx="3630240" cy="193824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algn="tl" blurRad="50800" dir="2700000" dist="37674" rotWithShape="0">
              <a:srgbClr val="000000">
                <a:alpha val="40000"/>
              </a:srgbClr>
            </a:outerShdw>
          </a:effectLst>
        </p:spPr>
      </p:pic>
      <p:grpSp>
        <p:nvGrpSpPr>
          <p:cNvPr id="300" name="Group 9"/>
          <p:cNvGrpSpPr/>
          <p:nvPr/>
        </p:nvGrpSpPr>
        <p:grpSpPr>
          <a:xfrm>
            <a:off x="8143200" y="4039920"/>
            <a:ext cx="3210480" cy="2405520"/>
            <a:chOff x="8143200" y="4039920"/>
            <a:chExt cx="3210480" cy="2405520"/>
          </a:xfrm>
        </p:grpSpPr>
        <p:pic>
          <p:nvPicPr>
            <p:cNvPr id="301" name="Picture 6" descr=""/>
            <p:cNvPicPr/>
            <p:nvPr/>
          </p:nvPicPr>
          <p:blipFill>
            <a:blip r:embed="rId6"/>
            <a:stretch/>
          </p:blipFill>
          <p:spPr>
            <a:xfrm>
              <a:off x="8143200" y="4039920"/>
              <a:ext cx="3210480" cy="1964880"/>
            </a:xfrm>
            <a:prstGeom prst="rect">
              <a:avLst/>
            </a:prstGeom>
            <a:ln>
              <a:noFill/>
            </a:ln>
          </p:spPr>
        </p:pic>
        <p:sp>
          <p:nvSpPr>
            <p:cNvPr id="302" name="CustomShape 10"/>
            <p:cNvSpPr/>
            <p:nvPr/>
          </p:nvSpPr>
          <p:spPr>
            <a:xfrm>
              <a:off x="8143200" y="5990040"/>
              <a:ext cx="3210480" cy="455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OpenClaw</a:t>
              </a: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在抓取了错误的地址后，把</a:t>
              </a:r>
              <a:r>
                <a:rPr b="1" lang="en-US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2</a:t>
              </a: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万美元打到了黑客的账户上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303" name="Group 11"/>
          <p:cNvGrpSpPr/>
          <p:nvPr/>
        </p:nvGrpSpPr>
        <p:grpSpPr>
          <a:xfrm>
            <a:off x="7210440" y="1725480"/>
            <a:ext cx="4143600" cy="1799280"/>
            <a:chOff x="7210440" y="1725480"/>
            <a:chExt cx="4143600" cy="1799280"/>
          </a:xfrm>
        </p:grpSpPr>
        <p:pic>
          <p:nvPicPr>
            <p:cNvPr id="304" name="Picture 8" descr=""/>
            <p:cNvPicPr/>
            <p:nvPr/>
          </p:nvPicPr>
          <p:blipFill>
            <a:blip r:embed="rId7"/>
            <a:stretch/>
          </p:blipFill>
          <p:spPr>
            <a:xfrm>
              <a:off x="7302240" y="1725480"/>
              <a:ext cx="3928320" cy="1344240"/>
            </a:xfrm>
            <a:prstGeom prst="rect">
              <a:avLst/>
            </a:prstGeom>
            <a:ln>
              <a:noFill/>
            </a:ln>
            <a:effectLst>
              <a:outerShdw algn="tl" blurRad="50800" dir="2700000" dist="37674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305" name="CustomShape 12"/>
            <p:cNvSpPr/>
            <p:nvPr/>
          </p:nvSpPr>
          <p:spPr>
            <a:xfrm>
              <a:off x="7210440" y="3070080"/>
              <a:ext cx="4143600" cy="4546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上午才安装，下午一直在小额高频的扣费，已经扣掉</a:t>
              </a:r>
              <a:r>
                <a:rPr b="1" lang="en-US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211</a:t>
              </a: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元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306" name="Group 13"/>
          <p:cNvGrpSpPr/>
          <p:nvPr/>
        </p:nvGrpSpPr>
        <p:grpSpPr>
          <a:xfrm>
            <a:off x="4452840" y="4039920"/>
            <a:ext cx="3489120" cy="2529360"/>
            <a:chOff x="4452840" y="4039920"/>
            <a:chExt cx="3489120" cy="2529360"/>
          </a:xfrm>
        </p:grpSpPr>
        <p:pic>
          <p:nvPicPr>
            <p:cNvPr id="307" name="图片 27" descr=""/>
            <p:cNvPicPr/>
            <p:nvPr/>
          </p:nvPicPr>
          <p:blipFill>
            <a:blip r:embed="rId8"/>
            <a:stretch/>
          </p:blipFill>
          <p:spPr>
            <a:xfrm>
              <a:off x="4452840" y="4039920"/>
              <a:ext cx="3489120" cy="1902960"/>
            </a:xfrm>
            <a:prstGeom prst="rect">
              <a:avLst/>
            </a:prstGeom>
            <a:ln>
              <a:noFill/>
            </a:ln>
            <a:effectLst>
              <a:outerShdw algn="tl" blurRad="50800" dir="2700000" dist="37674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308" name="CustomShape 14"/>
            <p:cNvSpPr/>
            <p:nvPr/>
          </p:nvSpPr>
          <p:spPr>
            <a:xfrm>
              <a:off x="4452840" y="5931360"/>
              <a:ext cx="3489120" cy="6379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网友因</a:t>
              </a:r>
              <a:r>
                <a:rPr b="1" lang="en-US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OpenClaw</a:t>
              </a: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开放端口和公网暴露的</a:t>
              </a:r>
              <a:r>
                <a:rPr b="1" lang="en-US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x11vnc</a:t>
              </a: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被远程接管，信用卡遭美国</a:t>
              </a:r>
              <a:r>
                <a:rPr b="1" lang="en-US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IP</a:t>
              </a: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攻击盗刷，用于购买</a:t>
              </a:r>
              <a:r>
                <a:rPr b="1" lang="en-US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GPU VPS</a:t>
              </a: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和尝试升级</a:t>
              </a:r>
              <a:r>
                <a:rPr b="1" lang="en-US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AI</a:t>
              </a:r>
              <a:r>
                <a:rPr b="1" lang="zh-CN" sz="1200" spc="-1" strike="noStrike">
                  <a:solidFill>
                    <a:srgbClr val="ff0000"/>
                  </a:solidFill>
                  <a:latin typeface="微软雅黑"/>
                  <a:ea typeface="微软雅黑"/>
                </a:rPr>
                <a:t>订阅服务</a:t>
              </a:r>
              <a:endParaRPr b="0" lang="en-US" sz="12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1"/>
          <p:cNvSpPr/>
          <p:nvPr/>
        </p:nvSpPr>
        <p:spPr>
          <a:xfrm>
            <a:off x="1148040" y="71640"/>
            <a:ext cx="982944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风险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四：指令遗忘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310" name="图片 3" descr=""/>
          <p:cNvPicPr/>
          <p:nvPr/>
        </p:nvPicPr>
        <p:blipFill>
          <a:blip r:embed="rId1"/>
          <a:srcRect l="0" t="0" r="0" b="5472"/>
          <a:stretch/>
        </p:blipFill>
        <p:spPr>
          <a:xfrm>
            <a:off x="6028560" y="2691360"/>
            <a:ext cx="3656880" cy="3822840"/>
          </a:xfrm>
          <a:prstGeom prst="rect">
            <a:avLst/>
          </a:prstGeom>
          <a:ln>
            <a:noFill/>
          </a:ln>
        </p:spPr>
      </p:pic>
      <p:pic>
        <p:nvPicPr>
          <p:cNvPr id="311" name="图片 7" descr=""/>
          <p:cNvPicPr/>
          <p:nvPr/>
        </p:nvPicPr>
        <p:blipFill>
          <a:blip r:embed="rId2"/>
          <a:stretch/>
        </p:blipFill>
        <p:spPr>
          <a:xfrm>
            <a:off x="932040" y="3865320"/>
            <a:ext cx="4741560" cy="25862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12" name="CustomShape 2"/>
          <p:cNvSpPr/>
          <p:nvPr/>
        </p:nvSpPr>
        <p:spPr>
          <a:xfrm>
            <a:off x="977760" y="799920"/>
            <a:ext cx="998172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月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23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日，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Meta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超级智能实验室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对齐与安全总监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Summer Yue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表示在明确约束下，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OpenClaw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仍自主删除了大量邮件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313" name="Group 3"/>
          <p:cNvGrpSpPr/>
          <p:nvPr/>
        </p:nvGrpSpPr>
        <p:grpSpPr>
          <a:xfrm>
            <a:off x="848520" y="1292400"/>
            <a:ext cx="4929120" cy="2467080"/>
            <a:chOff x="848520" y="1292400"/>
            <a:chExt cx="4929120" cy="2467080"/>
          </a:xfrm>
        </p:grpSpPr>
        <p:sp>
          <p:nvSpPr>
            <p:cNvPr id="314" name="CustomShape 4"/>
            <p:cNvSpPr/>
            <p:nvPr/>
          </p:nvSpPr>
          <p:spPr>
            <a:xfrm>
              <a:off x="848520" y="1292400"/>
              <a:ext cx="4908600" cy="2450520"/>
            </a:xfrm>
            <a:prstGeom prst="roundRect">
              <a:avLst>
                <a:gd name="adj" fmla="val 2164"/>
              </a:avLst>
            </a:prstGeom>
            <a:solidFill>
              <a:srgbClr val="ffbd2e">
                <a:alpha val="5000"/>
              </a:srgbClr>
            </a:solidFill>
            <a:ln w="12600">
              <a:solidFill>
                <a:srgbClr val="00b050">
                  <a:alpha val="2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315" name="Image 5" descr="preencoded.png"/>
            <p:cNvPicPr/>
            <p:nvPr/>
          </p:nvPicPr>
          <p:blipFill>
            <a:blip r:embed="rId3"/>
            <a:srcRect l="0" t="-25" r="0" b="-25"/>
            <a:stretch/>
          </p:blipFill>
          <p:spPr>
            <a:xfrm>
              <a:off x="866880" y="1292400"/>
              <a:ext cx="4910760" cy="403200"/>
            </a:xfrm>
            <a:prstGeom prst="rect">
              <a:avLst/>
            </a:prstGeom>
            <a:ln>
              <a:noFill/>
            </a:ln>
          </p:spPr>
        </p:pic>
        <p:sp>
          <p:nvSpPr>
            <p:cNvPr id="316" name="CustomShape 5"/>
            <p:cNvSpPr/>
            <p:nvPr/>
          </p:nvSpPr>
          <p:spPr>
            <a:xfrm>
              <a:off x="888840" y="1843920"/>
              <a:ext cx="4527360" cy="19155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Meta </a:t>
              </a: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超级智能实验室安全研究总监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指令：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检查应该归档或删除的邮件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得到我的明确指示之前不要执行任何操作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后果：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关键工作邮件大量丢失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无法紧急中止任务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最终被迫物理断电（拔掉 </a:t>
              </a:r>
              <a:r>
                <a:rPr b="0" lang="en-US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Mac mini</a:t>
              </a: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）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关键警示：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AI</a:t>
              </a: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一旦失控，传统“撤销</a:t>
              </a:r>
              <a:r>
                <a:rPr b="0" lang="en-US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/</a:t>
              </a: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暂停”可能失效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317" name="CustomShape 6"/>
            <p:cNvSpPr/>
            <p:nvPr/>
          </p:nvSpPr>
          <p:spPr>
            <a:xfrm>
              <a:off x="1137960" y="1339920"/>
              <a:ext cx="3875040" cy="2768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zh-CN" sz="1500" spc="-1" strike="noStrike">
                  <a:solidFill>
                    <a:srgbClr val="548235"/>
                  </a:solidFill>
                  <a:latin typeface="Noto Sans SC"/>
                  <a:ea typeface="Noto Sans SC"/>
                </a:rPr>
                <a:t>案件回放</a:t>
              </a:r>
              <a:endParaRPr b="0" lang="en-US" sz="1500" spc="-1" strike="noStrike">
                <a:latin typeface="Arial"/>
              </a:endParaRPr>
            </a:p>
          </p:txBody>
        </p:sp>
      </p:grpSp>
      <p:pic>
        <p:nvPicPr>
          <p:cNvPr id="318" name="图形 16" descr="实心填充的天使表情 纯色填充"/>
          <p:cNvPicPr/>
          <p:nvPr/>
        </p:nvPicPr>
        <p:blipFill>
          <a:blip r:embed="rId4"/>
          <a:stretch/>
        </p:blipFill>
        <p:spPr>
          <a:xfrm>
            <a:off x="770760" y="121680"/>
            <a:ext cx="366480" cy="366480"/>
          </a:xfrm>
          <a:prstGeom prst="rect">
            <a:avLst/>
          </a:prstGeom>
          <a:ln>
            <a:noFill/>
          </a:ln>
        </p:spPr>
      </p:pic>
      <p:pic>
        <p:nvPicPr>
          <p:cNvPr id="319" name="图片 6" descr=""/>
          <p:cNvPicPr/>
          <p:nvPr/>
        </p:nvPicPr>
        <p:blipFill>
          <a:blip r:embed="rId5"/>
          <a:stretch/>
        </p:blipFill>
        <p:spPr>
          <a:xfrm>
            <a:off x="9911160" y="1184040"/>
            <a:ext cx="1803240" cy="5267520"/>
          </a:xfrm>
          <a:prstGeom prst="rect">
            <a:avLst/>
          </a:prstGeom>
          <a:ln>
            <a:noFill/>
          </a:ln>
        </p:spPr>
      </p:pic>
      <p:pic>
        <p:nvPicPr>
          <p:cNvPr id="320" name="图片 17" descr=""/>
          <p:cNvPicPr/>
          <p:nvPr/>
        </p:nvPicPr>
        <p:blipFill>
          <a:blip r:embed="rId6"/>
          <a:srcRect l="0" t="22079" r="0" b="56241"/>
          <a:stretch/>
        </p:blipFill>
        <p:spPr>
          <a:xfrm>
            <a:off x="6019560" y="1284120"/>
            <a:ext cx="3654000" cy="1406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7553880" y="2555640"/>
            <a:ext cx="3768840" cy="2313000"/>
          </a:xfrm>
          <a:prstGeom prst="roundRect">
            <a:avLst>
              <a:gd name="adj" fmla="val 7452"/>
            </a:avLst>
          </a:prstGeom>
          <a:solidFill>
            <a:srgbClr val="ffffff">
              <a:alpha val="3000"/>
            </a:srgbClr>
          </a:solidFill>
          <a:ln w="1260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CustomShape 2"/>
          <p:cNvSpPr/>
          <p:nvPr/>
        </p:nvSpPr>
        <p:spPr>
          <a:xfrm>
            <a:off x="9010440" y="-476280"/>
            <a:ext cx="2419200" cy="2419200"/>
          </a:xfrm>
          <a:prstGeom prst="ellipse">
            <a:avLst/>
          </a:prstGeom>
          <a:noFill/>
          <a:ln w="25560">
            <a:solidFill>
              <a:srgbClr val="a78bfa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CustomShape 3"/>
          <p:cNvSpPr/>
          <p:nvPr/>
        </p:nvSpPr>
        <p:spPr>
          <a:xfrm>
            <a:off x="9696240" y="190080"/>
            <a:ext cx="1066680" cy="1066680"/>
          </a:xfrm>
          <a:prstGeom prst="ellipse">
            <a:avLst/>
          </a:prstGeom>
          <a:noFill/>
          <a:ln w="12600">
            <a:solidFill>
              <a:srgbClr val="a78bfa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24" name="Image 2" descr="preencoded.png"/>
          <p:cNvPicPr/>
          <p:nvPr/>
        </p:nvPicPr>
        <p:blipFill>
          <a:blip r:embed="rId1"/>
          <a:srcRect l="0" t="-13" r="0" b="-13"/>
          <a:stretch/>
        </p:blipFill>
        <p:spPr>
          <a:xfrm>
            <a:off x="714240" y="844200"/>
            <a:ext cx="10715400" cy="952560"/>
          </a:xfrm>
          <a:prstGeom prst="rect">
            <a:avLst/>
          </a:prstGeom>
          <a:ln>
            <a:noFill/>
          </a:ln>
        </p:spPr>
      </p:pic>
      <p:pic>
        <p:nvPicPr>
          <p:cNvPr id="325" name="Image 3" descr="preencoded.png"/>
          <p:cNvPicPr/>
          <p:nvPr/>
        </p:nvPicPr>
        <p:blipFill>
          <a:blip r:embed="rId2"/>
          <a:srcRect l="-629" t="0" r="-629" b="0"/>
          <a:stretch/>
        </p:blipFill>
        <p:spPr>
          <a:xfrm>
            <a:off x="1134000" y="2766960"/>
            <a:ext cx="18720" cy="1618920"/>
          </a:xfrm>
          <a:prstGeom prst="rect">
            <a:avLst/>
          </a:prstGeom>
          <a:ln>
            <a:noFill/>
          </a:ln>
        </p:spPr>
      </p:pic>
      <p:sp>
        <p:nvSpPr>
          <p:cNvPr id="326" name="CustomShape 4"/>
          <p:cNvSpPr/>
          <p:nvPr/>
        </p:nvSpPr>
        <p:spPr>
          <a:xfrm>
            <a:off x="714240" y="2528280"/>
            <a:ext cx="6553080" cy="2313000"/>
          </a:xfrm>
          <a:prstGeom prst="roundRect">
            <a:avLst>
              <a:gd name="adj" fmla="val 7452"/>
            </a:avLst>
          </a:prstGeom>
          <a:solidFill>
            <a:srgbClr val="ffffff">
              <a:alpha val="3000"/>
            </a:srgbClr>
          </a:solidFill>
          <a:ln w="1260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CustomShape 5"/>
          <p:cNvSpPr/>
          <p:nvPr/>
        </p:nvSpPr>
        <p:spPr>
          <a:xfrm>
            <a:off x="723600" y="5133600"/>
            <a:ext cx="10687320" cy="1066680"/>
          </a:xfrm>
          <a:prstGeom prst="roundRect">
            <a:avLst>
              <a:gd name="adj" fmla="val 18362"/>
            </a:avLst>
          </a:prstGeom>
          <a:solidFill>
            <a:srgbClr val="10b981">
              <a:alpha val="8000"/>
            </a:srgbClr>
          </a:solidFill>
          <a:ln w="12600">
            <a:solidFill>
              <a:srgbClr val="10b981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28" name="Image 4" descr="preencoded.png"/>
          <p:cNvPicPr/>
          <p:nvPr/>
        </p:nvPicPr>
        <p:blipFill>
          <a:blip r:embed="rId3"/>
          <a:stretch/>
        </p:blipFill>
        <p:spPr>
          <a:xfrm>
            <a:off x="533880" y="174600"/>
            <a:ext cx="475920" cy="380880"/>
          </a:xfrm>
          <a:prstGeom prst="rect">
            <a:avLst/>
          </a:prstGeom>
          <a:ln>
            <a:noFill/>
          </a:ln>
        </p:spPr>
      </p:pic>
      <p:sp>
        <p:nvSpPr>
          <p:cNvPr id="329" name="CustomShape 6"/>
          <p:cNvSpPr/>
          <p:nvPr/>
        </p:nvSpPr>
        <p:spPr>
          <a:xfrm>
            <a:off x="1200600" y="127080"/>
            <a:ext cx="982944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风险五：警惕算法中的隐藏偏见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330" name="Image 5" descr="preencoded.png"/>
          <p:cNvPicPr/>
          <p:nvPr/>
        </p:nvPicPr>
        <p:blipFill>
          <a:blip r:embed="rId4"/>
          <a:srcRect l="-909" t="0" r="-909" b="0"/>
          <a:stretch/>
        </p:blipFill>
        <p:spPr>
          <a:xfrm>
            <a:off x="1000440" y="1177920"/>
            <a:ext cx="237240" cy="266760"/>
          </a:xfrm>
          <a:prstGeom prst="rect">
            <a:avLst/>
          </a:prstGeom>
          <a:ln>
            <a:noFill/>
          </a:ln>
        </p:spPr>
      </p:pic>
      <p:sp>
        <p:nvSpPr>
          <p:cNvPr id="331" name="CustomShape 7"/>
          <p:cNvSpPr/>
          <p:nvPr/>
        </p:nvSpPr>
        <p:spPr>
          <a:xfrm>
            <a:off x="1476720" y="986760"/>
            <a:ext cx="9792000" cy="58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a78bfa"/>
                </a:solidFill>
                <a:latin typeface="Noto Sans SC"/>
                <a:ea typeface="Noto Sans SC"/>
              </a:rPr>
              <a:t>风险来源：</a:t>
            </a:r>
            <a:r>
              <a:rPr b="0" lang="en-US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 </a:t>
            </a:r>
            <a:r>
              <a:rPr b="0" lang="en-US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AI</a:t>
            </a:r>
            <a:r>
              <a:rPr b="0" lang="zh-CN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的学习材料源于互联网海量数据，这些数据本身就包含了人类社会的各种历史偏见（如性别、种族、地域、年龄等刻板印象）。 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2" name="CustomShape 8"/>
          <p:cNvSpPr/>
          <p:nvPr/>
        </p:nvSpPr>
        <p:spPr>
          <a:xfrm>
            <a:off x="1018800" y="2052000"/>
            <a:ext cx="2743920" cy="30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ffffff"/>
                </a:solidFill>
                <a:latin typeface="Noto Sans SC"/>
                <a:ea typeface="Noto Sans SC"/>
              </a:rPr>
              <a:t>常见表现形式 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333" name="Image 6" descr="preencoded.png"/>
          <p:cNvPicPr/>
          <p:nvPr/>
        </p:nvPicPr>
        <p:blipFill>
          <a:blip r:embed="rId5"/>
          <a:stretch/>
        </p:blipFill>
        <p:spPr>
          <a:xfrm>
            <a:off x="714240" y="2116800"/>
            <a:ext cx="209160" cy="209160"/>
          </a:xfrm>
          <a:prstGeom prst="rect">
            <a:avLst/>
          </a:prstGeom>
          <a:ln>
            <a:noFill/>
          </a:ln>
        </p:spPr>
      </p:pic>
      <p:sp>
        <p:nvSpPr>
          <p:cNvPr id="334" name="CustomShape 9"/>
          <p:cNvSpPr/>
          <p:nvPr/>
        </p:nvSpPr>
        <p:spPr>
          <a:xfrm>
            <a:off x="1000440" y="2690280"/>
            <a:ext cx="323280" cy="323280"/>
          </a:xfrm>
          <a:prstGeom prst="ellipse">
            <a:avLst/>
          </a:prstGeom>
          <a:solidFill>
            <a:srgbClr val="0a192f"/>
          </a:solidFill>
          <a:ln w="2556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35" name="Image 7" descr="preencoded.png"/>
          <p:cNvPicPr/>
          <p:nvPr/>
        </p:nvPicPr>
        <p:blipFill>
          <a:blip r:embed="rId6"/>
          <a:stretch/>
        </p:blipFill>
        <p:spPr>
          <a:xfrm>
            <a:off x="1095480" y="2785320"/>
            <a:ext cx="133200" cy="133200"/>
          </a:xfrm>
          <a:prstGeom prst="rect">
            <a:avLst/>
          </a:prstGeom>
          <a:ln>
            <a:noFill/>
          </a:ln>
        </p:spPr>
      </p:pic>
      <p:sp>
        <p:nvSpPr>
          <p:cNvPr id="336" name="CustomShape 10"/>
          <p:cNvSpPr/>
          <p:nvPr/>
        </p:nvSpPr>
        <p:spPr>
          <a:xfrm>
            <a:off x="1476720" y="2718360"/>
            <a:ext cx="6031080" cy="21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 </a:t>
            </a:r>
            <a:r>
              <a:rPr b="0" lang="zh-CN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在生成</a:t>
            </a:r>
            <a:r>
              <a:rPr b="1" lang="zh-CN" sz="1300" spc="-1" strike="noStrike">
                <a:solidFill>
                  <a:srgbClr val="ffffff"/>
                </a:solidFill>
                <a:latin typeface="Noto Sans SC"/>
                <a:ea typeface="Noto Sans SC"/>
              </a:rPr>
              <a:t>招聘启事或岗位描述</a:t>
            </a:r>
            <a:r>
              <a:rPr b="0" lang="zh-CN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时，可能无意识地使用带有性别偏见的倾向性词语。 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7" name="CustomShape 11"/>
          <p:cNvSpPr/>
          <p:nvPr/>
        </p:nvSpPr>
        <p:spPr>
          <a:xfrm>
            <a:off x="1000440" y="3500280"/>
            <a:ext cx="323280" cy="323280"/>
          </a:xfrm>
          <a:prstGeom prst="ellipse">
            <a:avLst/>
          </a:prstGeom>
          <a:solidFill>
            <a:srgbClr val="0a192f"/>
          </a:solidFill>
          <a:ln w="2556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38" name="Image 8" descr="preencoded.png"/>
          <p:cNvPicPr/>
          <p:nvPr/>
        </p:nvPicPr>
        <p:blipFill>
          <a:blip r:embed="rId7"/>
          <a:srcRect l="-946" t="0" r="-946" b="0"/>
          <a:stretch/>
        </p:blipFill>
        <p:spPr>
          <a:xfrm>
            <a:off x="1086480" y="3595320"/>
            <a:ext cx="152280" cy="133200"/>
          </a:xfrm>
          <a:prstGeom prst="rect">
            <a:avLst/>
          </a:prstGeom>
          <a:ln>
            <a:noFill/>
          </a:ln>
        </p:spPr>
      </p:pic>
      <p:sp>
        <p:nvSpPr>
          <p:cNvPr id="339" name="CustomShape 12"/>
          <p:cNvSpPr/>
          <p:nvPr/>
        </p:nvSpPr>
        <p:spPr>
          <a:xfrm>
            <a:off x="1476720" y="3528720"/>
            <a:ext cx="5647680" cy="16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 </a:t>
            </a:r>
            <a:r>
              <a:rPr b="0" lang="zh-CN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在进行</a:t>
            </a:r>
            <a:r>
              <a:rPr b="1" lang="zh-CN" sz="1300" spc="-1" strike="noStrike">
                <a:solidFill>
                  <a:srgbClr val="ffffff"/>
                </a:solidFill>
                <a:latin typeface="Noto Sans SC"/>
                <a:ea typeface="Noto Sans SC"/>
              </a:rPr>
              <a:t>市场分析或用户画像</a:t>
            </a:r>
            <a:r>
              <a:rPr b="0" lang="zh-CN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时，可能基于陈旧的刻板印象对某些特定群体做出不准确的判断。 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0" name="CustomShape 13"/>
          <p:cNvSpPr/>
          <p:nvPr/>
        </p:nvSpPr>
        <p:spPr>
          <a:xfrm>
            <a:off x="1000440" y="4309560"/>
            <a:ext cx="323280" cy="323280"/>
          </a:xfrm>
          <a:prstGeom prst="ellipse">
            <a:avLst/>
          </a:prstGeom>
          <a:solidFill>
            <a:srgbClr val="0a192f"/>
          </a:solidFill>
          <a:ln w="2556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41" name="Image 9" descr="preencoded.png"/>
          <p:cNvPicPr/>
          <p:nvPr/>
        </p:nvPicPr>
        <p:blipFill>
          <a:blip r:embed="rId8"/>
          <a:srcRect l="-1477" t="0" r="-1477" b="0"/>
          <a:stretch/>
        </p:blipFill>
        <p:spPr>
          <a:xfrm>
            <a:off x="1076400" y="4404600"/>
            <a:ext cx="171720" cy="133200"/>
          </a:xfrm>
          <a:prstGeom prst="rect">
            <a:avLst/>
          </a:prstGeom>
          <a:ln>
            <a:noFill/>
          </a:ln>
        </p:spPr>
      </p:pic>
      <p:sp>
        <p:nvSpPr>
          <p:cNvPr id="342" name="CustomShape 14"/>
          <p:cNvSpPr/>
          <p:nvPr/>
        </p:nvSpPr>
        <p:spPr>
          <a:xfrm>
            <a:off x="1476720" y="4338000"/>
            <a:ext cx="5647680" cy="39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 </a:t>
            </a:r>
            <a:r>
              <a:rPr b="0" lang="zh-CN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直接对外输出的生成内容可能不符合公司的价值观</a:t>
            </a:r>
            <a:r>
              <a:rPr b="1" lang="zh-CN" sz="1300" spc="-1" strike="noStrike">
                <a:solidFill>
                  <a:srgbClr val="ffffff"/>
                </a:solidFill>
                <a:latin typeface="Noto Sans SC"/>
                <a:ea typeface="Noto Sans SC"/>
              </a:rPr>
              <a:t>（多元、公平、包容）</a:t>
            </a:r>
            <a:r>
              <a:rPr b="0" lang="zh-CN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政策要求。 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343" name="Image 10" descr="preencoded.png"/>
          <p:cNvPicPr/>
          <p:nvPr/>
        </p:nvPicPr>
        <p:blipFill>
          <a:blip r:embed="rId9"/>
          <a:stretch/>
        </p:blipFill>
        <p:spPr>
          <a:xfrm>
            <a:off x="1009800" y="5486400"/>
            <a:ext cx="304200" cy="304200"/>
          </a:xfrm>
          <a:prstGeom prst="rect">
            <a:avLst/>
          </a:prstGeom>
          <a:ln>
            <a:noFill/>
          </a:ln>
        </p:spPr>
      </p:pic>
      <p:sp>
        <p:nvSpPr>
          <p:cNvPr id="344" name="CustomShape 15"/>
          <p:cNvSpPr/>
          <p:nvPr/>
        </p:nvSpPr>
        <p:spPr>
          <a:xfrm>
            <a:off x="1486080" y="5277240"/>
            <a:ext cx="9906120" cy="27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10b981"/>
                </a:solidFill>
                <a:latin typeface="Noto Sans SC"/>
                <a:ea typeface="Noto Sans SC"/>
              </a:rPr>
              <a:t>我们的责任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45" name="CustomShape 16"/>
          <p:cNvSpPr/>
          <p:nvPr/>
        </p:nvSpPr>
        <p:spPr>
          <a:xfrm>
            <a:off x="1486080" y="5609880"/>
            <a:ext cx="9792000" cy="51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35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0" lang="zh-CN" sz="1300" spc="35" strike="noStrike">
                <a:solidFill>
                  <a:srgbClr val="ffffff"/>
                </a:solidFill>
                <a:latin typeface="Noto Sans SC"/>
                <a:ea typeface="Noto Sans SC"/>
              </a:rPr>
              <a:t>作为使用者，我们需要始终对</a:t>
            </a:r>
            <a:r>
              <a:rPr b="0" lang="en-US" sz="1300" spc="35" strike="noStrike">
                <a:solidFill>
                  <a:srgbClr val="ffffff"/>
                </a:solidFill>
                <a:latin typeface="Noto Sans SC"/>
                <a:ea typeface="Noto Sans SC"/>
              </a:rPr>
              <a:t>AI</a:t>
            </a:r>
            <a:r>
              <a:rPr b="0" lang="zh-CN" sz="1300" spc="35" strike="noStrike">
                <a:solidFill>
                  <a:srgbClr val="ffffff"/>
                </a:solidFill>
                <a:latin typeface="Noto Sans SC"/>
                <a:ea typeface="Noto Sans SC"/>
              </a:rPr>
              <a:t>的输出进行</a:t>
            </a:r>
            <a:r>
              <a:rPr b="1" lang="zh-CN" sz="1300" spc="35" strike="noStrike">
                <a:solidFill>
                  <a:srgbClr val="34d399"/>
                </a:solidFill>
                <a:latin typeface="Noto Sans SC"/>
                <a:ea typeface="Noto Sans SC"/>
              </a:rPr>
              <a:t>批判性审视</a:t>
            </a:r>
            <a:r>
              <a:rPr b="0" lang="zh-CN" sz="1300" spc="35" strike="noStrike">
                <a:solidFill>
                  <a:srgbClr val="ffffff"/>
                </a:solidFill>
                <a:latin typeface="Noto Sans SC"/>
                <a:ea typeface="Noto Sans SC"/>
              </a:rPr>
              <a:t>，确保其公正、客观，并完全符合公司的道德与价值观标准。这不仅是技术问题，更是企业声誉与社会责任问题。 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6" name="CustomShape 17"/>
          <p:cNvSpPr/>
          <p:nvPr/>
        </p:nvSpPr>
        <p:spPr>
          <a:xfrm>
            <a:off x="7906680" y="2704320"/>
            <a:ext cx="3314520" cy="191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200000"/>
              </a:lnSpc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案例一：亚马逊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招聘工具性别歧视案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案例二：谷歌广告性别工资差距案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案例三：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Facebook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广告住房歧视案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案例四：信用评分算法种族歧视案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案例五：智能语音助手性别偏见案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7" name="CustomShape 18"/>
          <p:cNvSpPr/>
          <p:nvPr/>
        </p:nvSpPr>
        <p:spPr>
          <a:xfrm>
            <a:off x="8001720" y="2137680"/>
            <a:ext cx="2743920" cy="30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ffffff"/>
                </a:solidFill>
                <a:latin typeface="Noto Sans SC"/>
                <a:ea typeface="Noto Sans SC"/>
              </a:rPr>
              <a:t>经典案例</a:t>
            </a:r>
            <a:r>
              <a:rPr b="1" lang="en-US" sz="1600" spc="-1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348" name="Image 6" descr="preencoded.png"/>
          <p:cNvPicPr/>
          <p:nvPr/>
        </p:nvPicPr>
        <p:blipFill>
          <a:blip r:embed="rId10"/>
          <a:stretch/>
        </p:blipFill>
        <p:spPr>
          <a:xfrm>
            <a:off x="7697160" y="2202480"/>
            <a:ext cx="209160" cy="209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CustomShape 1"/>
          <p:cNvSpPr/>
          <p:nvPr/>
        </p:nvSpPr>
        <p:spPr>
          <a:xfrm>
            <a:off x="9010440" y="-476280"/>
            <a:ext cx="2419200" cy="2419200"/>
          </a:xfrm>
          <a:prstGeom prst="ellipse">
            <a:avLst/>
          </a:prstGeom>
          <a:noFill/>
          <a:ln w="25560">
            <a:solidFill>
              <a:srgbClr val="a78bfa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CustomShape 2"/>
          <p:cNvSpPr/>
          <p:nvPr/>
        </p:nvSpPr>
        <p:spPr>
          <a:xfrm>
            <a:off x="9696240" y="190080"/>
            <a:ext cx="1066680" cy="1066680"/>
          </a:xfrm>
          <a:prstGeom prst="ellipse">
            <a:avLst/>
          </a:prstGeom>
          <a:noFill/>
          <a:ln w="12600">
            <a:solidFill>
              <a:srgbClr val="a78bfa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51" name="Image 2" descr="preencoded.png"/>
          <p:cNvPicPr/>
          <p:nvPr/>
        </p:nvPicPr>
        <p:blipFill>
          <a:blip r:embed="rId1"/>
          <a:srcRect l="0" t="-13" r="0" b="-13"/>
          <a:stretch/>
        </p:blipFill>
        <p:spPr>
          <a:xfrm>
            <a:off x="714240" y="844200"/>
            <a:ext cx="10715400" cy="952560"/>
          </a:xfrm>
          <a:prstGeom prst="rect">
            <a:avLst/>
          </a:prstGeom>
          <a:ln>
            <a:noFill/>
          </a:ln>
        </p:spPr>
      </p:pic>
      <p:pic>
        <p:nvPicPr>
          <p:cNvPr id="352" name="Image 4" descr="preencoded.png"/>
          <p:cNvPicPr/>
          <p:nvPr/>
        </p:nvPicPr>
        <p:blipFill>
          <a:blip r:embed="rId2"/>
          <a:stretch/>
        </p:blipFill>
        <p:spPr>
          <a:xfrm>
            <a:off x="533880" y="174600"/>
            <a:ext cx="475920" cy="380880"/>
          </a:xfrm>
          <a:prstGeom prst="rect">
            <a:avLst/>
          </a:prstGeom>
          <a:ln>
            <a:noFill/>
          </a:ln>
        </p:spPr>
      </p:pic>
      <p:sp>
        <p:nvSpPr>
          <p:cNvPr id="353" name="CustomShape 3"/>
          <p:cNvSpPr/>
          <p:nvPr/>
        </p:nvSpPr>
        <p:spPr>
          <a:xfrm>
            <a:off x="1200600" y="127080"/>
            <a:ext cx="982944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风险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六：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成本失控——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Token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燃烧的隐形账单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354" name="Image 5" descr="preencoded.png"/>
          <p:cNvPicPr/>
          <p:nvPr/>
        </p:nvPicPr>
        <p:blipFill>
          <a:blip r:embed="rId3"/>
          <a:srcRect l="-909" t="0" r="-909" b="0"/>
          <a:stretch/>
        </p:blipFill>
        <p:spPr>
          <a:xfrm>
            <a:off x="1000440" y="1177920"/>
            <a:ext cx="237240" cy="266760"/>
          </a:xfrm>
          <a:prstGeom prst="rect">
            <a:avLst/>
          </a:prstGeom>
          <a:ln>
            <a:noFill/>
          </a:ln>
        </p:spPr>
      </p:pic>
      <p:sp>
        <p:nvSpPr>
          <p:cNvPr id="355" name="CustomShape 4"/>
          <p:cNvSpPr/>
          <p:nvPr/>
        </p:nvSpPr>
        <p:spPr>
          <a:xfrm>
            <a:off x="1476720" y="986760"/>
            <a:ext cx="9792000" cy="58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Token/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调用成本会被“隐性放大”，缺乏限额控制带来极大财务风险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356" name="Picture 2" descr=""/>
          <p:cNvPicPr/>
          <p:nvPr/>
        </p:nvPicPr>
        <p:blipFill>
          <a:blip r:embed="rId4"/>
          <a:srcRect l="0" t="12023" r="17864" b="8880"/>
          <a:stretch/>
        </p:blipFill>
        <p:spPr>
          <a:xfrm>
            <a:off x="6881040" y="3864240"/>
            <a:ext cx="4945320" cy="2223720"/>
          </a:xfrm>
          <a:prstGeom prst="rect">
            <a:avLst/>
          </a:prstGeom>
          <a:ln>
            <a:noFill/>
          </a:ln>
        </p:spPr>
      </p:pic>
      <p:grpSp>
        <p:nvGrpSpPr>
          <p:cNvPr id="357" name="Group 5"/>
          <p:cNvGrpSpPr/>
          <p:nvPr/>
        </p:nvGrpSpPr>
        <p:grpSpPr>
          <a:xfrm>
            <a:off x="6829200" y="2136240"/>
            <a:ext cx="4997520" cy="1379520"/>
            <a:chOff x="6829200" y="2136240"/>
            <a:chExt cx="4997520" cy="1379520"/>
          </a:xfrm>
        </p:grpSpPr>
        <p:sp>
          <p:nvSpPr>
            <p:cNvPr id="358" name="CustomShape 6"/>
            <p:cNvSpPr/>
            <p:nvPr/>
          </p:nvSpPr>
          <p:spPr>
            <a:xfrm>
              <a:off x="6829200" y="2136240"/>
              <a:ext cx="4997520" cy="137952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59" name="CustomShape 7"/>
            <p:cNvSpPr/>
            <p:nvPr/>
          </p:nvSpPr>
          <p:spPr>
            <a:xfrm>
              <a:off x="7234200" y="2599200"/>
              <a:ext cx="4187160" cy="8204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marL="324000" indent="-342720">
                <a:lnSpc>
                  <a:spcPct val="100000"/>
                </a:lnSpc>
                <a:buClr>
                  <a:srgbClr val="ffffff"/>
                </a:buClr>
                <a:buFont typeface="StarSymbol"/>
                <a:buAutoNum type="arabicPeriod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多轮推理：一个任务，多次调用</a:t>
              </a:r>
              <a:endParaRPr b="0" lang="en-US" sz="1200" spc="-1" strike="noStrike">
                <a:latin typeface="Arial"/>
              </a:endParaRPr>
            </a:p>
            <a:p>
              <a:pPr marL="324000" indent="-342720">
                <a:lnSpc>
                  <a:spcPct val="100000"/>
                </a:lnSpc>
                <a:buClr>
                  <a:srgbClr val="ffffff"/>
                </a:buClr>
                <a:buFont typeface="StarSymbol"/>
                <a:buAutoNum type="arabicPeriod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上下文叠加：每次调用，都要“带行李”</a:t>
              </a:r>
              <a:endParaRPr b="0" lang="en-US" sz="1200" spc="-1" strike="noStrike">
                <a:latin typeface="Arial"/>
              </a:endParaRPr>
            </a:p>
            <a:p>
              <a:pPr marL="324000" indent="-342720">
                <a:lnSpc>
                  <a:spcPct val="100000"/>
                </a:lnSpc>
                <a:buClr>
                  <a:srgbClr val="ffffff"/>
                </a:buClr>
                <a:buFont typeface="StarSymbol"/>
                <a:buAutoNum type="arabicPeriod"/>
              </a:pPr>
              <a:r>
                <a:rPr b="0" lang="en-US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Skills</a:t>
              </a: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注入：额外增加输入</a:t>
              </a:r>
              <a:r>
                <a:rPr b="0" lang="en-US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Token</a:t>
              </a:r>
              <a:endParaRPr b="0" lang="en-US" sz="1200" spc="-1" strike="noStrike">
                <a:latin typeface="Arial"/>
              </a:endParaRPr>
            </a:p>
            <a:p>
              <a:pPr marL="324000" indent="-342720">
                <a:lnSpc>
                  <a:spcPct val="100000"/>
                </a:lnSpc>
                <a:buClr>
                  <a:srgbClr val="ffffff"/>
                </a:buClr>
                <a:buFont typeface="StarSymbol"/>
                <a:buAutoNum type="arabicPeriod"/>
              </a:pPr>
              <a:r>
                <a:rPr b="0" lang="en-US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24/7</a:t>
              </a: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持续运行：定时任务不停触发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360" name="CustomShape 8"/>
            <p:cNvSpPr/>
            <p:nvPr/>
          </p:nvSpPr>
          <p:spPr>
            <a:xfrm>
              <a:off x="6869520" y="2205000"/>
              <a:ext cx="4956840" cy="3373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ts val="1950"/>
                </a:lnSpc>
                <a:spcBef>
                  <a:spcPts val="1199"/>
                </a:spcBef>
                <a:spcAft>
                  <a:spcPts val="601"/>
                </a:spcAft>
              </a:pPr>
              <a:r>
                <a:rPr b="1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OpenClaw</a:t>
              </a:r>
              <a:r>
                <a:rPr b="1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的成本，到底花在哪些地方？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361" name="Group 9"/>
          <p:cNvGrpSpPr/>
          <p:nvPr/>
        </p:nvGrpSpPr>
        <p:grpSpPr>
          <a:xfrm>
            <a:off x="430200" y="2295360"/>
            <a:ext cx="6135840" cy="3738600"/>
            <a:chOff x="430200" y="2295360"/>
            <a:chExt cx="6135840" cy="3738600"/>
          </a:xfrm>
        </p:grpSpPr>
        <p:sp>
          <p:nvSpPr>
            <p:cNvPr id="362" name="CustomShape 10"/>
            <p:cNvSpPr/>
            <p:nvPr/>
          </p:nvSpPr>
          <p:spPr>
            <a:xfrm>
              <a:off x="624240" y="5433840"/>
              <a:ext cx="1815120" cy="599760"/>
            </a:xfrm>
            <a:prstGeom prst="rect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2700000"/>
            </a:gra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设置日预算上限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363" name="CustomShape 11"/>
            <p:cNvSpPr/>
            <p:nvPr/>
          </p:nvSpPr>
          <p:spPr>
            <a:xfrm>
              <a:off x="1533960" y="4452840"/>
              <a:ext cx="1815120" cy="599760"/>
            </a:xfrm>
            <a:prstGeom prst="rect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/>
            </a:gra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用</a:t>
              </a:r>
              <a:r>
                <a:rPr b="1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Fallback</a:t>
              </a:r>
              <a:r>
                <a:rPr b="1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链</a:t>
              </a:r>
              <a:endParaRPr b="0" lang="en-US" sz="14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让便宜模型干简单活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364" name="CustomShape 12"/>
            <p:cNvSpPr/>
            <p:nvPr/>
          </p:nvSpPr>
          <p:spPr>
            <a:xfrm>
              <a:off x="2443320" y="3471840"/>
              <a:ext cx="1815120" cy="599760"/>
            </a:xfrm>
            <a:prstGeom prst="rect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5e1800"/>
                </a:gs>
              </a:gsLst>
              <a:lin ang="2700000"/>
            </a:gra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减少上下文冗余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365" name="CustomShape 13"/>
            <p:cNvSpPr/>
            <p:nvPr/>
          </p:nvSpPr>
          <p:spPr>
            <a:xfrm>
              <a:off x="3344760" y="2500200"/>
              <a:ext cx="1815120" cy="599760"/>
            </a:xfrm>
            <a:prstGeom prst="rect">
              <a:avLst/>
            </a:prstGeom>
            <a:gradFill rotWithShape="0">
              <a:gsLst>
                <a:gs pos="0">
                  <a:srgbClr val="a50021"/>
                </a:gs>
                <a:gs pos="100000">
                  <a:srgbClr val="4c000f"/>
                </a:gs>
              </a:gsLst>
              <a:lin ang="2700000"/>
            </a:gra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本地部署模型</a:t>
              </a:r>
              <a:endParaRPr b="0" lang="en-US" sz="14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1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彻底告别</a:t>
              </a:r>
              <a:r>
                <a:rPr b="1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API</a:t>
              </a:r>
              <a:r>
                <a:rPr b="1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费用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366" name="Line 14"/>
            <p:cNvSpPr/>
            <p:nvPr/>
          </p:nvSpPr>
          <p:spPr>
            <a:xfrm>
              <a:off x="2102400" y="4071600"/>
              <a:ext cx="4287960" cy="38160"/>
            </a:xfrm>
            <a:prstGeom prst="line">
              <a:avLst/>
            </a:prstGeom>
            <a:ln w="12600">
              <a:solidFill>
                <a:srgbClr val="b2b2b2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7" name="Line 15"/>
            <p:cNvSpPr/>
            <p:nvPr/>
          </p:nvSpPr>
          <p:spPr>
            <a:xfrm>
              <a:off x="2950200" y="3099960"/>
              <a:ext cx="3321720" cy="0"/>
            </a:xfrm>
            <a:prstGeom prst="line">
              <a:avLst/>
            </a:prstGeom>
            <a:ln w="12600">
              <a:solidFill>
                <a:srgbClr val="b2b2b2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8" name="Line 16"/>
            <p:cNvSpPr/>
            <p:nvPr/>
          </p:nvSpPr>
          <p:spPr>
            <a:xfrm>
              <a:off x="430200" y="6033960"/>
              <a:ext cx="5988600" cy="0"/>
            </a:xfrm>
            <a:prstGeom prst="line">
              <a:avLst/>
            </a:prstGeom>
            <a:ln w="12600">
              <a:solidFill>
                <a:srgbClr val="b2b2b2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9" name="CustomShape 17"/>
            <p:cNvSpPr/>
            <p:nvPr/>
          </p:nvSpPr>
          <p:spPr>
            <a:xfrm>
              <a:off x="2632680" y="5549040"/>
              <a:ext cx="3306600" cy="363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marL="114480" indent="-114120">
                <a:lnSpc>
                  <a:spcPct val="150000"/>
                </a:lnSpc>
                <a:buClr>
                  <a:srgbClr val="ffffff"/>
                </a:buClr>
                <a:buFont typeface="Symbol" charset="2"/>
                <a:buChar char=""/>
              </a:pPr>
              <a:r>
                <a:rPr b="0" lang="en-US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OpenClaw</a:t>
              </a: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支持在配置中直接设置日预算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370" name="CustomShape 18"/>
            <p:cNvSpPr/>
            <p:nvPr/>
          </p:nvSpPr>
          <p:spPr>
            <a:xfrm>
              <a:off x="3296520" y="4228200"/>
              <a:ext cx="3269520" cy="8427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marL="114480" indent="-114120">
                <a:lnSpc>
                  <a:spcPct val="90000"/>
                </a:lnSpc>
                <a:buClr>
                  <a:srgbClr val="ffffff"/>
                </a:buClr>
                <a:buFont typeface="Symbol" charset="2"/>
                <a:buChar char=""/>
              </a:pPr>
              <a:r>
                <a:rPr b="1" lang="zh-CN" sz="11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主力模型，处理复杂任务（写代码、复杂推理）</a:t>
              </a:r>
              <a:endParaRPr b="0" lang="en-US" sz="1100" spc="-1" strike="noStrike">
                <a:latin typeface="Arial"/>
              </a:endParaRPr>
            </a:p>
            <a:p>
              <a:pPr marL="114480" indent="-114120">
                <a:lnSpc>
                  <a:spcPct val="90000"/>
                </a:lnSpc>
                <a:buClr>
                  <a:srgbClr val="ffffff"/>
                </a:buClr>
                <a:buFont typeface="Symbol" charset="2"/>
                <a:buChar char=""/>
              </a:pPr>
              <a:r>
                <a:rPr b="1" lang="zh-CN" sz="11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降级模型</a:t>
              </a:r>
              <a:r>
                <a:rPr b="1" lang="en-US" sz="11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1</a:t>
              </a:r>
              <a:r>
                <a:rPr b="1" lang="zh-CN" sz="11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，处理中等难度任务（邮件回复、简单分析）</a:t>
              </a:r>
              <a:endParaRPr b="0" lang="en-US" sz="1100" spc="-1" strike="noStrike">
                <a:latin typeface="Arial"/>
              </a:endParaRPr>
            </a:p>
            <a:p>
              <a:pPr marL="114480" indent="-114120">
                <a:lnSpc>
                  <a:spcPct val="90000"/>
                </a:lnSpc>
                <a:buClr>
                  <a:srgbClr val="ffffff"/>
                </a:buClr>
                <a:buFont typeface="Symbol" charset="2"/>
                <a:buChar char=""/>
              </a:pPr>
              <a:r>
                <a:rPr b="1" lang="zh-CN" sz="11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降级模型</a:t>
              </a:r>
              <a:r>
                <a:rPr b="1" lang="en-US" sz="11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2</a:t>
              </a:r>
              <a:r>
                <a:rPr b="1" lang="zh-CN" sz="11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，处理简单任务（问候、查天气、心跳任务）</a:t>
              </a:r>
              <a:endParaRPr b="0" lang="en-US" sz="1100" spc="-1" strike="noStrike">
                <a:latin typeface="Arial"/>
              </a:endParaRPr>
            </a:p>
          </p:txBody>
        </p:sp>
        <p:sp>
          <p:nvSpPr>
            <p:cNvPr id="371" name="CustomShape 19"/>
            <p:cNvSpPr/>
            <p:nvPr/>
          </p:nvSpPr>
          <p:spPr>
            <a:xfrm>
              <a:off x="4337280" y="3542760"/>
              <a:ext cx="1696320" cy="391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marL="114480" indent="-114120">
                <a:lnSpc>
                  <a:spcPct val="90000"/>
                </a:lnSpc>
                <a:buClr>
                  <a:srgbClr val="ffffff"/>
                </a:buClr>
                <a:buFont typeface="Symbol" charset="2"/>
                <a:buChar char=""/>
              </a:pPr>
              <a:r>
                <a:rPr b="1" lang="zh-CN" sz="11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精简记忆系统</a:t>
              </a:r>
              <a:endParaRPr b="0" lang="en-US" sz="1100" spc="-1" strike="noStrike">
                <a:latin typeface="Arial"/>
              </a:endParaRPr>
            </a:p>
            <a:p>
              <a:pPr marL="114480" indent="-114120">
                <a:lnSpc>
                  <a:spcPct val="90000"/>
                </a:lnSpc>
                <a:buClr>
                  <a:srgbClr val="ffffff"/>
                </a:buClr>
                <a:buFont typeface="Symbol" charset="2"/>
                <a:buChar char=""/>
              </a:pPr>
              <a:r>
                <a:rPr b="1" lang="zh-CN" sz="11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设置上下文过期时间</a:t>
              </a:r>
              <a:endParaRPr b="0" lang="en-US" sz="1100" spc="-1" strike="noStrike">
                <a:latin typeface="Arial"/>
              </a:endParaRPr>
            </a:p>
          </p:txBody>
        </p:sp>
        <p:sp>
          <p:nvSpPr>
            <p:cNvPr id="372" name="CustomShape 20"/>
            <p:cNvSpPr/>
            <p:nvPr/>
          </p:nvSpPr>
          <p:spPr>
            <a:xfrm>
              <a:off x="5160240" y="2509920"/>
              <a:ext cx="1324080" cy="59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marL="114480" indent="-114120">
                <a:lnSpc>
                  <a:spcPct val="150000"/>
                </a:lnSpc>
                <a:buClr>
                  <a:srgbClr val="ffffff"/>
                </a:buClr>
                <a:buFont typeface="Symbol" charset="2"/>
                <a:buChar char=""/>
              </a:pPr>
              <a:r>
                <a:rPr b="1" lang="zh-CN" sz="11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避免定时任务“无效消耗”</a:t>
              </a:r>
              <a:endParaRPr b="0" lang="en-US" sz="1100" spc="-1" strike="noStrike">
                <a:latin typeface="Arial"/>
              </a:endParaRPr>
            </a:p>
          </p:txBody>
        </p:sp>
        <p:sp>
          <p:nvSpPr>
            <p:cNvPr id="373" name="CustomShape 21"/>
            <p:cNvSpPr/>
            <p:nvPr/>
          </p:nvSpPr>
          <p:spPr>
            <a:xfrm rot="16091400">
              <a:off x="532080" y="4384440"/>
              <a:ext cx="1142640" cy="958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6218" y="10776"/>
                  </a:moveTo>
                  <a:cubicBezTo>
                    <a:pt x="16205" y="7792"/>
                    <a:pt x="13783" y="5381"/>
                    <a:pt x="10800" y="5381"/>
                  </a:cubicBezTo>
                  <a:cubicBezTo>
                    <a:pt x="9208" y="5380"/>
                    <a:pt x="7697" y="6080"/>
                    <a:pt x="6667" y="7294"/>
                  </a:cubicBezTo>
                  <a:lnTo>
                    <a:pt x="2564" y="3812"/>
                  </a:lnTo>
                  <a:cubicBezTo>
                    <a:pt x="4616" y="1394"/>
                    <a:pt x="7628" y="-1"/>
                    <a:pt x="10800" y="0"/>
                  </a:cubicBezTo>
                  <a:cubicBezTo>
                    <a:pt x="16746" y="0"/>
                    <a:pt x="21573" y="4806"/>
                    <a:pt x="21599" y="10752"/>
                  </a:cubicBezTo>
                  <a:lnTo>
                    <a:pt x="24299" y="10740"/>
                  </a:lnTo>
                  <a:lnTo>
                    <a:pt x="18932" y="16155"/>
                  </a:lnTo>
                  <a:lnTo>
                    <a:pt x="13518" y="10787"/>
                  </a:lnTo>
                  <a:lnTo>
                    <a:pt x="16218" y="10776"/>
                  </a:lnTo>
                  <a:close/>
                </a:path>
              </a:pathLst>
            </a:custGeom>
            <a:gradFill rotWithShape="0">
              <a:gsLst>
                <a:gs pos="0">
                  <a:srgbClr val="ff9933"/>
                </a:gs>
                <a:gs pos="100000">
                  <a:srgbClr val="764718">
                    <a:alpha val="0"/>
                  </a:srgbClr>
                </a:gs>
              </a:gsLst>
              <a:lin ang="5400000"/>
            </a:gradFill>
            <a:ln w="1908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4" name="CustomShape 22"/>
            <p:cNvSpPr/>
            <p:nvPr/>
          </p:nvSpPr>
          <p:spPr>
            <a:xfrm rot="16091400">
              <a:off x="1441440" y="3394080"/>
              <a:ext cx="1142640" cy="958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6218" y="10776"/>
                  </a:moveTo>
                  <a:cubicBezTo>
                    <a:pt x="16205" y="7792"/>
                    <a:pt x="13783" y="5381"/>
                    <a:pt x="10800" y="5381"/>
                  </a:cubicBezTo>
                  <a:cubicBezTo>
                    <a:pt x="9208" y="5380"/>
                    <a:pt x="7697" y="6080"/>
                    <a:pt x="6667" y="7294"/>
                  </a:cubicBezTo>
                  <a:lnTo>
                    <a:pt x="2564" y="3812"/>
                  </a:lnTo>
                  <a:cubicBezTo>
                    <a:pt x="4616" y="1394"/>
                    <a:pt x="7628" y="-1"/>
                    <a:pt x="10800" y="0"/>
                  </a:cubicBezTo>
                  <a:cubicBezTo>
                    <a:pt x="16746" y="0"/>
                    <a:pt x="21573" y="4806"/>
                    <a:pt x="21599" y="10752"/>
                  </a:cubicBezTo>
                  <a:lnTo>
                    <a:pt x="24299" y="10740"/>
                  </a:lnTo>
                  <a:lnTo>
                    <a:pt x="18932" y="16155"/>
                  </a:lnTo>
                  <a:lnTo>
                    <a:pt x="13518" y="10787"/>
                  </a:lnTo>
                  <a:lnTo>
                    <a:pt x="16218" y="10776"/>
                  </a:lnTo>
                  <a:close/>
                </a:path>
              </a:pathLst>
            </a:custGeom>
            <a:gradFill rotWithShape="0">
              <a:gsLst>
                <a:gs pos="0">
                  <a:srgbClr val="ff9933"/>
                </a:gs>
                <a:gs pos="100000">
                  <a:srgbClr val="764718">
                    <a:alpha val="0"/>
                  </a:srgbClr>
                </a:gs>
              </a:gsLst>
              <a:lin ang="5400000"/>
            </a:gradFill>
            <a:ln w="1908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5" name="CustomShape 23"/>
            <p:cNvSpPr/>
            <p:nvPr/>
          </p:nvSpPr>
          <p:spPr>
            <a:xfrm rot="16091400">
              <a:off x="2318400" y="2403360"/>
              <a:ext cx="1142640" cy="958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6218" y="10776"/>
                  </a:moveTo>
                  <a:cubicBezTo>
                    <a:pt x="16205" y="7792"/>
                    <a:pt x="13783" y="5381"/>
                    <a:pt x="10800" y="5381"/>
                  </a:cubicBezTo>
                  <a:cubicBezTo>
                    <a:pt x="9208" y="5380"/>
                    <a:pt x="7697" y="6080"/>
                    <a:pt x="6667" y="7294"/>
                  </a:cubicBezTo>
                  <a:lnTo>
                    <a:pt x="2564" y="3812"/>
                  </a:lnTo>
                  <a:cubicBezTo>
                    <a:pt x="4616" y="1394"/>
                    <a:pt x="7628" y="-1"/>
                    <a:pt x="10800" y="0"/>
                  </a:cubicBezTo>
                  <a:cubicBezTo>
                    <a:pt x="16746" y="0"/>
                    <a:pt x="21573" y="4806"/>
                    <a:pt x="21599" y="10752"/>
                  </a:cubicBezTo>
                  <a:lnTo>
                    <a:pt x="24299" y="10740"/>
                  </a:lnTo>
                  <a:lnTo>
                    <a:pt x="18932" y="16155"/>
                  </a:lnTo>
                  <a:lnTo>
                    <a:pt x="13518" y="10787"/>
                  </a:lnTo>
                  <a:lnTo>
                    <a:pt x="16218" y="10776"/>
                  </a:lnTo>
                  <a:close/>
                </a:path>
              </a:pathLst>
            </a:custGeom>
            <a:gradFill rotWithShape="0">
              <a:gsLst>
                <a:gs pos="0">
                  <a:srgbClr val="ff9933"/>
                </a:gs>
                <a:gs pos="100000">
                  <a:srgbClr val="764718">
                    <a:alpha val="0"/>
                  </a:srgbClr>
                </a:gs>
              </a:gsLst>
              <a:lin ang="5400000"/>
            </a:gradFill>
            <a:ln w="1908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6" name="Line 24"/>
            <p:cNvSpPr/>
            <p:nvPr/>
          </p:nvSpPr>
          <p:spPr>
            <a:xfrm>
              <a:off x="1298880" y="5052600"/>
              <a:ext cx="5166360" cy="0"/>
            </a:xfrm>
            <a:prstGeom prst="line">
              <a:avLst/>
            </a:prstGeom>
            <a:ln w="12600">
              <a:solidFill>
                <a:srgbClr val="b2b2b2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77" name="CustomShape 25"/>
          <p:cNvSpPr/>
          <p:nvPr/>
        </p:nvSpPr>
        <p:spPr>
          <a:xfrm>
            <a:off x="893880" y="2311920"/>
            <a:ext cx="120816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5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Token</a:t>
            </a:r>
            <a:r>
              <a:rPr b="0" lang="zh-CN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优化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0" lang="zh-CN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四步走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ustomShape 1"/>
          <p:cNvSpPr/>
          <p:nvPr/>
        </p:nvSpPr>
        <p:spPr>
          <a:xfrm>
            <a:off x="6473160" y="834840"/>
            <a:ext cx="5153760" cy="5559480"/>
          </a:xfrm>
          <a:prstGeom prst="roundRect">
            <a:avLst>
              <a:gd name="adj" fmla="val 814"/>
            </a:avLst>
          </a:prstGeom>
          <a:solidFill>
            <a:srgbClr val="102137"/>
          </a:solidFill>
          <a:ln w="12600">
            <a:solidFill>
              <a:srgbClr val="709cbd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79" name="图片 965" descr=""/>
          <p:cNvPicPr/>
          <p:nvPr/>
        </p:nvPicPr>
        <p:blipFill>
          <a:blip r:embed="rId1"/>
          <a:stretch/>
        </p:blipFill>
        <p:spPr>
          <a:xfrm>
            <a:off x="958320" y="4334400"/>
            <a:ext cx="5252400" cy="1977480"/>
          </a:xfrm>
          <a:prstGeom prst="rect">
            <a:avLst/>
          </a:prstGeom>
          <a:ln>
            <a:noFill/>
          </a:ln>
        </p:spPr>
      </p:pic>
      <p:sp>
        <p:nvSpPr>
          <p:cNvPr id="380" name="CustomShape 2"/>
          <p:cNvSpPr/>
          <p:nvPr/>
        </p:nvSpPr>
        <p:spPr>
          <a:xfrm>
            <a:off x="6772680" y="1514520"/>
            <a:ext cx="4631040" cy="655200"/>
          </a:xfrm>
          <a:prstGeom prst="roundRect">
            <a:avLst>
              <a:gd name="adj" fmla="val 10295"/>
            </a:avLst>
          </a:prstGeom>
          <a:solidFill>
            <a:schemeClr val="bg1"/>
          </a:solidFill>
          <a:ln w="9360">
            <a:solidFill>
              <a:srgbClr val="709cbd"/>
            </a:solidFill>
          </a:ln>
        </p:spPr>
        <p:style>
          <a:lnRef idx="3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1.</a:t>
            </a: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精准投喂：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在 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ClawHub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（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OpenClaw 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官方市场）发布</a:t>
            </a:r>
            <a:r>
              <a:rPr b="0" lang="zh-CN" sz="1200" spc="-1" strike="noStrike">
                <a:solidFill>
                  <a:srgbClr val="ff0000"/>
                </a:solidFill>
                <a:latin typeface="微软雅黑"/>
                <a:ea typeface="微软雅黑"/>
              </a:rPr>
              <a:t>针对特定人群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的插件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1" name="CustomShape 3"/>
          <p:cNvSpPr/>
          <p:nvPr/>
        </p:nvSpPr>
        <p:spPr>
          <a:xfrm>
            <a:off x="6772680" y="2580840"/>
            <a:ext cx="4631040" cy="847440"/>
          </a:xfrm>
          <a:prstGeom prst="roundRect">
            <a:avLst>
              <a:gd name="adj" fmla="val 10295"/>
            </a:avLst>
          </a:prstGeom>
          <a:solidFill>
            <a:schemeClr val="bg1"/>
          </a:solidFill>
          <a:ln w="9360">
            <a:solidFill>
              <a:srgbClr val="709cbd"/>
            </a:solidFill>
          </a:ln>
        </p:spPr>
        <p:style>
          <a:lnRef idx="3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2.</a:t>
            </a: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利用“人对 </a:t>
            </a:r>
            <a:r>
              <a:rPr b="1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AI”</a:t>
            </a: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的信任路径：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当插件运行一段时间后，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AI 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会在对话框中抛出一个看似</a:t>
            </a:r>
            <a:r>
              <a:rPr b="0" lang="zh-CN" sz="1200" spc="-1" strike="noStrike">
                <a:solidFill>
                  <a:srgbClr val="ff0000"/>
                </a:solidFill>
                <a:latin typeface="微软雅黑"/>
                <a:ea typeface="微软雅黑"/>
              </a:rPr>
              <a:t>极其合理的请求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：“为了支持更底层的网络包分析，我需要安装系统组件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xxxx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，请在下方输入密码授权。”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2" name="CustomShape 4"/>
          <p:cNvSpPr/>
          <p:nvPr/>
        </p:nvSpPr>
        <p:spPr>
          <a:xfrm>
            <a:off x="6772680" y="3841200"/>
            <a:ext cx="4631040" cy="696240"/>
          </a:xfrm>
          <a:prstGeom prst="roundRect">
            <a:avLst>
              <a:gd name="adj" fmla="val 10295"/>
            </a:avLst>
          </a:prstGeom>
          <a:solidFill>
            <a:schemeClr val="bg1"/>
          </a:solidFill>
          <a:ln w="9360">
            <a:solidFill>
              <a:srgbClr val="709cbd"/>
            </a:solidFill>
          </a:ln>
        </p:spPr>
        <p:style>
          <a:lnRef idx="3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3.</a:t>
            </a: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接管：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利用</a:t>
            </a:r>
            <a:r>
              <a:rPr b="0" lang="zh-CN" sz="1200" spc="-1" strike="noStrike">
                <a:solidFill>
                  <a:srgbClr val="ff0000"/>
                </a:solidFill>
                <a:latin typeface="微软雅黑"/>
                <a:ea typeface="微软雅黑"/>
              </a:rPr>
              <a:t>高权限实现深度寄生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，在获得初步权限后，攻击者利用了 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OpenClaw 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框架的底层漏洞进行深度接管。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3" name="CustomShape 5"/>
          <p:cNvSpPr/>
          <p:nvPr/>
        </p:nvSpPr>
        <p:spPr>
          <a:xfrm>
            <a:off x="6763680" y="4918320"/>
            <a:ext cx="4648680" cy="1330920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 w="9360">
            <a:solidFill>
              <a:srgbClr val="709cbd"/>
            </a:solidFill>
          </a:ln>
        </p:spPr>
        <p:style>
          <a:lnRef idx="3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4.</a:t>
            </a:r>
            <a:r>
              <a:rPr b="1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洗劫：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基于合法 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API 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隧道的隐蔽外泄，攻击者利用智能体已授权的 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Slack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、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Telegram 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或 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Email </a:t>
            </a:r>
            <a:r>
              <a:rPr b="0" lang="zh-CN" sz="1200" spc="-1" strike="noStrike">
                <a:solidFill>
                  <a:srgbClr val="ff0000"/>
                </a:solidFill>
                <a:latin typeface="微软雅黑"/>
                <a:ea typeface="微软雅黑"/>
              </a:rPr>
              <a:t>插件构建“合法通信隧道”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，实现数据的静默外泄。窃取内容涵盖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AI 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算力资产（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API Keys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）、数字货币交易凭证（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CEX API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）、财务接口（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Stripe/Paypal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）及核心开发权限（</a:t>
            </a: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SSH/PAT</a:t>
            </a:r>
            <a:r>
              <a:rPr b="0" lang="zh-CN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）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4" name="CustomShape 6"/>
          <p:cNvSpPr/>
          <p:nvPr/>
        </p:nvSpPr>
        <p:spPr>
          <a:xfrm>
            <a:off x="8979480" y="2279160"/>
            <a:ext cx="198360" cy="2606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10000"/>
              <a:lumOff val="90000"/>
            </a:schemeClr>
          </a:solidFill>
          <a:ln w="9360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1"/>
          </a:lnRef>
          <a:fillRef idx="0"/>
          <a:effectRef idx="0"/>
          <a:fontRef idx="minor"/>
        </p:style>
      </p:sp>
      <p:sp>
        <p:nvSpPr>
          <p:cNvPr id="385" name="CustomShape 7"/>
          <p:cNvSpPr/>
          <p:nvPr/>
        </p:nvSpPr>
        <p:spPr>
          <a:xfrm>
            <a:off x="8979480" y="3545640"/>
            <a:ext cx="198360" cy="2606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10000"/>
              <a:lumOff val="90000"/>
            </a:schemeClr>
          </a:solidFill>
          <a:ln w="9360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1"/>
          </a:lnRef>
          <a:fillRef idx="0"/>
          <a:effectRef idx="0"/>
          <a:fontRef idx="minor"/>
        </p:style>
      </p:sp>
      <p:sp>
        <p:nvSpPr>
          <p:cNvPr id="386" name="CustomShape 8"/>
          <p:cNvSpPr/>
          <p:nvPr/>
        </p:nvSpPr>
        <p:spPr>
          <a:xfrm>
            <a:off x="8988840" y="4597920"/>
            <a:ext cx="198360" cy="2606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10000"/>
              <a:lumOff val="90000"/>
            </a:schemeClr>
          </a:solidFill>
          <a:ln w="9360"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1"/>
          </a:lnRef>
          <a:fillRef idx="0"/>
          <a:effectRef idx="0"/>
          <a:fontRef idx="minor"/>
        </p:style>
      </p:sp>
      <p:pic>
        <p:nvPicPr>
          <p:cNvPr id="387" name="Image 2" descr="preencoded.png"/>
          <p:cNvPicPr/>
          <p:nvPr/>
        </p:nvPicPr>
        <p:blipFill>
          <a:blip r:embed="rId2"/>
          <a:srcRect l="0" t="-13" r="0" b="-13"/>
          <a:stretch/>
        </p:blipFill>
        <p:spPr>
          <a:xfrm>
            <a:off x="738000" y="834840"/>
            <a:ext cx="5597280" cy="952560"/>
          </a:xfrm>
          <a:prstGeom prst="rect">
            <a:avLst/>
          </a:prstGeom>
          <a:ln>
            <a:noFill/>
          </a:ln>
        </p:spPr>
      </p:pic>
      <p:pic>
        <p:nvPicPr>
          <p:cNvPr id="388" name="Image 4" descr="preencoded.png"/>
          <p:cNvPicPr/>
          <p:nvPr/>
        </p:nvPicPr>
        <p:blipFill>
          <a:blip r:embed="rId3"/>
          <a:stretch/>
        </p:blipFill>
        <p:spPr>
          <a:xfrm>
            <a:off x="533880" y="174600"/>
            <a:ext cx="475920" cy="380880"/>
          </a:xfrm>
          <a:prstGeom prst="rect">
            <a:avLst/>
          </a:prstGeom>
          <a:ln>
            <a:noFill/>
          </a:ln>
        </p:spPr>
      </p:pic>
      <p:sp>
        <p:nvSpPr>
          <p:cNvPr id="389" name="CustomShape 9"/>
          <p:cNvSpPr/>
          <p:nvPr/>
        </p:nvSpPr>
        <p:spPr>
          <a:xfrm>
            <a:off x="1200600" y="127080"/>
            <a:ext cx="982944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风险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七：恶意</a:t>
            </a:r>
            <a:r>
              <a:rPr b="1" lang="en-US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Skill——ClawHub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投毒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390" name="Image 5" descr="preencoded.png"/>
          <p:cNvPicPr/>
          <p:nvPr/>
        </p:nvPicPr>
        <p:blipFill>
          <a:blip r:embed="rId4"/>
          <a:srcRect l="-909" t="0" r="-909" b="0"/>
          <a:stretch/>
        </p:blipFill>
        <p:spPr>
          <a:xfrm>
            <a:off x="1000440" y="1177920"/>
            <a:ext cx="237240" cy="266760"/>
          </a:xfrm>
          <a:prstGeom prst="rect">
            <a:avLst/>
          </a:prstGeom>
          <a:ln>
            <a:noFill/>
          </a:ln>
        </p:spPr>
      </p:pic>
      <p:sp>
        <p:nvSpPr>
          <p:cNvPr id="391" name="CustomShape 10"/>
          <p:cNvSpPr/>
          <p:nvPr/>
        </p:nvSpPr>
        <p:spPr>
          <a:xfrm>
            <a:off x="1275840" y="1001160"/>
            <a:ext cx="5059800" cy="84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ClawHavoc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事件被网络安全界视为一个分水岭。它不仅仅是一次成功的黑客攻击，更是全球首个验证了“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智能体自主决策”与“身份信用借用”相结合所产生破坏力的实战案例。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2" name="CustomShape 11"/>
          <p:cNvSpPr/>
          <p:nvPr/>
        </p:nvSpPr>
        <p:spPr>
          <a:xfrm>
            <a:off x="7792200" y="1000440"/>
            <a:ext cx="280368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微软雅黑"/>
                <a:ea typeface="微软雅黑"/>
              </a:rPr>
              <a:t>ClawHavoc</a:t>
            </a:r>
            <a:r>
              <a:rPr b="0" lang="zh-CN" sz="1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攻击事件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393" name="图片 19" descr=""/>
          <p:cNvPicPr/>
          <p:nvPr/>
        </p:nvPicPr>
        <p:blipFill>
          <a:blip r:embed="rId5"/>
          <a:srcRect l="0" t="0" r="4390" b="0"/>
          <a:stretch/>
        </p:blipFill>
        <p:spPr>
          <a:xfrm>
            <a:off x="958320" y="1936080"/>
            <a:ext cx="5252400" cy="2014920"/>
          </a:xfrm>
          <a:prstGeom prst="rect">
            <a:avLst/>
          </a:prstGeom>
          <a:ln>
            <a:noFill/>
          </a:ln>
        </p:spPr>
      </p:pic>
      <p:sp>
        <p:nvSpPr>
          <p:cNvPr id="394" name="CustomShape 12"/>
          <p:cNvSpPr/>
          <p:nvPr/>
        </p:nvSpPr>
        <p:spPr>
          <a:xfrm>
            <a:off x="1798560" y="3925800"/>
            <a:ext cx="3201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ClawHub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上的恶意</a:t>
            </a:r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数量持续上涨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CustomShape 1"/>
          <p:cNvSpPr/>
          <p:nvPr/>
        </p:nvSpPr>
        <p:spPr>
          <a:xfrm>
            <a:off x="7728840" y="1258560"/>
            <a:ext cx="3647880" cy="2170080"/>
          </a:xfrm>
          <a:prstGeom prst="roundRect">
            <a:avLst>
              <a:gd name="adj" fmla="val 14757"/>
            </a:avLst>
          </a:prstGeom>
          <a:solidFill>
            <a:srgbClr val="ef4444">
              <a:alpha val="15000"/>
            </a:srgbClr>
          </a:solidFill>
          <a:ln w="12600">
            <a:solidFill>
              <a:srgbClr val="ef444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CustomShape 2"/>
          <p:cNvSpPr/>
          <p:nvPr/>
        </p:nvSpPr>
        <p:spPr>
          <a:xfrm>
            <a:off x="451080" y="1213920"/>
            <a:ext cx="3617640" cy="1011240"/>
          </a:xfrm>
          <a:prstGeom prst="roundRect">
            <a:avLst>
              <a:gd name="adj" fmla="val 7452"/>
            </a:avLst>
          </a:prstGeom>
          <a:solidFill>
            <a:srgbClr val="ffffff">
              <a:alpha val="3000"/>
            </a:srgbClr>
          </a:solidFill>
          <a:ln w="1260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97" name="Image 4" descr="preencoded.png"/>
          <p:cNvPicPr/>
          <p:nvPr/>
        </p:nvPicPr>
        <p:blipFill>
          <a:blip r:embed="rId1"/>
          <a:stretch/>
        </p:blipFill>
        <p:spPr>
          <a:xfrm>
            <a:off x="533880" y="174600"/>
            <a:ext cx="475920" cy="380880"/>
          </a:xfrm>
          <a:prstGeom prst="rect">
            <a:avLst/>
          </a:prstGeom>
          <a:ln>
            <a:noFill/>
          </a:ln>
        </p:spPr>
      </p:pic>
      <p:sp>
        <p:nvSpPr>
          <p:cNvPr id="398" name="CustomShape 3"/>
          <p:cNvSpPr/>
          <p:nvPr/>
        </p:nvSpPr>
        <p:spPr>
          <a:xfrm>
            <a:off x="1200600" y="127080"/>
            <a:ext cx="982944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2800" spc="72" strike="noStrike">
                <a:solidFill>
                  <a:srgbClr val="ffffff"/>
                </a:solidFill>
                <a:latin typeface="微软雅黑"/>
                <a:ea typeface="微软雅黑"/>
              </a:rPr>
              <a:t>风险</a:t>
            </a:r>
            <a:r>
              <a:rPr b="1" lang="zh-CN" sz="2800" spc="72" strike="noStrike">
                <a:solidFill>
                  <a:srgbClr val="ffffff"/>
                </a:solidFill>
                <a:latin typeface="微软雅黑"/>
                <a:ea typeface="微软雅黑"/>
              </a:rPr>
              <a:t>七：恶意</a:t>
            </a:r>
            <a:r>
              <a:rPr b="1" lang="en-US" sz="2800" spc="72" strike="noStrike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399" name="图片 2" descr=""/>
          <p:cNvPicPr/>
          <p:nvPr/>
        </p:nvPicPr>
        <p:blipFill>
          <a:blip r:embed="rId2"/>
          <a:stretch/>
        </p:blipFill>
        <p:spPr>
          <a:xfrm>
            <a:off x="533880" y="3552480"/>
            <a:ext cx="6463080" cy="2360160"/>
          </a:xfrm>
          <a:prstGeom prst="rect">
            <a:avLst/>
          </a:prstGeom>
          <a:ln>
            <a:noFill/>
          </a:ln>
        </p:spPr>
      </p:pic>
      <p:sp>
        <p:nvSpPr>
          <p:cNvPr id="400" name="CustomShape 4"/>
          <p:cNvSpPr/>
          <p:nvPr/>
        </p:nvSpPr>
        <p:spPr>
          <a:xfrm>
            <a:off x="496800" y="1228320"/>
            <a:ext cx="3729600" cy="100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微软雅黑"/>
                <a:ea typeface="微软雅黑"/>
              </a:rPr>
              <a:t>📂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数据窃取</a:t>
            </a:r>
            <a:endParaRPr b="0" lang="en-US" sz="1200" spc="-1" strike="noStrike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自动扫描本地“文档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/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桌面”，上传合同、方案文件 </a:t>
            </a:r>
            <a:endParaRPr b="0" lang="en-US" sz="1200" spc="-1" strike="noStrike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读取浏览器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Cookie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、账号登录信息 </a:t>
            </a:r>
            <a:endParaRPr b="0" lang="en-US" sz="1200" spc="-1" strike="noStrike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窃取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.env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、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API Key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、数据库配置 </a:t>
            </a:r>
            <a:endParaRPr b="0" lang="en-US" sz="1200" spc="-1" strike="noStrike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获取聊天记录、邮箱内容并打包发送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1" name="CustomShape 5"/>
          <p:cNvSpPr/>
          <p:nvPr/>
        </p:nvSpPr>
        <p:spPr>
          <a:xfrm>
            <a:off x="2256480" y="6020280"/>
            <a:ext cx="41691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Skill</a:t>
            </a:r>
            <a:r>
              <a:rPr b="0" lang="zh-CN" sz="1400" spc="-1" strike="noStrike">
                <a:solidFill>
                  <a:srgbClr val="ffffff"/>
                </a:solidFill>
                <a:latin typeface="Calibri"/>
              </a:rPr>
              <a:t>安全：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https://safeskill.qianxin.com/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2" name="CustomShape 6"/>
          <p:cNvSpPr/>
          <p:nvPr/>
        </p:nvSpPr>
        <p:spPr>
          <a:xfrm>
            <a:off x="7965360" y="1429200"/>
            <a:ext cx="2757960" cy="168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防护原则</a:t>
            </a:r>
            <a:br/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- 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只下载来源于</a:t>
            </a:r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SkillHub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的</a:t>
            </a:r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  <a:br/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- 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高权限必须确认</a:t>
            </a:r>
            <a:br/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- 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敏感操作默认拒绝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- 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关注</a:t>
            </a:r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的安全使用说明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3" name="CustomShape 7"/>
          <p:cNvSpPr/>
          <p:nvPr/>
        </p:nvSpPr>
        <p:spPr>
          <a:xfrm>
            <a:off x="4189320" y="1234800"/>
            <a:ext cx="3342600" cy="100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Bef>
                <a:spcPts val="2100"/>
              </a:spcBef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💻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远程控制</a:t>
            </a:r>
            <a:endParaRPr b="0" lang="en-US" sz="1200" spc="-1" strike="noStrike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执行终端命令下载并运行木马程序 </a:t>
            </a:r>
            <a:endParaRPr b="0" lang="en-US" sz="1200" spc="-1" strike="noStrike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创建后门用户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/ 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开启远程桌面权限 </a:t>
            </a:r>
            <a:endParaRPr b="0" lang="en-US" sz="1200" spc="-1" strike="noStrike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定时执行脚本（比如每天自动运行某段代码） </a:t>
            </a:r>
            <a:endParaRPr b="0" lang="en-US" sz="1200" spc="-1" strike="noStrike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调用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API 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接收远程指令继续执行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4" name="CustomShape 8"/>
          <p:cNvSpPr/>
          <p:nvPr/>
        </p:nvSpPr>
        <p:spPr>
          <a:xfrm>
            <a:off x="4226760" y="2429640"/>
            <a:ext cx="3305520" cy="100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Bef>
                <a:spcPts val="2100"/>
              </a:spcBef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🧹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破坏操作</a:t>
            </a:r>
            <a:endParaRPr b="0" lang="en-US" sz="1200" spc="-1" strike="noStrike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批量删除本地文件（如整个项目目录） </a:t>
            </a:r>
            <a:endParaRPr b="0" lang="en-US" sz="1200" spc="-1" strike="noStrike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清空回收站、覆盖关键数据 </a:t>
            </a:r>
            <a:endParaRPr b="0" lang="en-US" sz="1200" spc="-1" strike="noStrike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修改配置文件导致系统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/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软件无法启动 </a:t>
            </a:r>
            <a:endParaRPr b="0" lang="en-US" sz="1200" spc="-1" strike="noStrike">
              <a:latin typeface="Arial"/>
            </a:endParaRPr>
          </a:p>
          <a:p>
            <a:pPr indent="-2160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执行类似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rm -rf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、格式化等危险命令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5" name="CustomShape 9"/>
          <p:cNvSpPr/>
          <p:nvPr/>
        </p:nvSpPr>
        <p:spPr>
          <a:xfrm>
            <a:off x="496800" y="2333160"/>
            <a:ext cx="3729600" cy="100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🌐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隐蔽通信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定期向外部服务器发送系统信息、文件变化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把数据伪装成正常请求（比如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HTTP/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图片上传）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利用浏览器访问“看似正常”的网页进行数据回传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使用加密通道（如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HTTPS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）隐藏通信内容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6" name="CustomShape 10"/>
          <p:cNvSpPr/>
          <p:nvPr/>
        </p:nvSpPr>
        <p:spPr>
          <a:xfrm>
            <a:off x="3190680" y="829440"/>
            <a:ext cx="99180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攻击方式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407" name="图片 35" descr=""/>
          <p:cNvPicPr/>
          <p:nvPr/>
        </p:nvPicPr>
        <p:blipFill>
          <a:blip r:embed="rId3"/>
          <a:stretch/>
        </p:blipFill>
        <p:spPr>
          <a:xfrm>
            <a:off x="7244640" y="3527640"/>
            <a:ext cx="4291200" cy="2340360"/>
          </a:xfrm>
          <a:prstGeom prst="rect">
            <a:avLst/>
          </a:prstGeom>
          <a:ln>
            <a:noFill/>
          </a:ln>
        </p:spPr>
      </p:pic>
      <p:sp>
        <p:nvSpPr>
          <p:cNvPr id="408" name="CustomShape 11"/>
          <p:cNvSpPr/>
          <p:nvPr/>
        </p:nvSpPr>
        <p:spPr>
          <a:xfrm rot="16200000">
            <a:off x="44280" y="1676880"/>
            <a:ext cx="858600" cy="45360"/>
          </a:xfrm>
          <a:prstGeom prst="roundRect">
            <a:avLst>
              <a:gd name="adj" fmla="val 173161"/>
            </a:avLst>
          </a:prstGeom>
          <a:solidFill>
            <a:srgbClr val="6366f1"/>
          </a:solidFill>
          <a:ln w="12600">
            <a:solidFill>
              <a:srgbClr val="6366f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CustomShape 12"/>
          <p:cNvSpPr/>
          <p:nvPr/>
        </p:nvSpPr>
        <p:spPr>
          <a:xfrm>
            <a:off x="4160880" y="1228320"/>
            <a:ext cx="3342600" cy="1011240"/>
          </a:xfrm>
          <a:prstGeom prst="roundRect">
            <a:avLst>
              <a:gd name="adj" fmla="val 7452"/>
            </a:avLst>
          </a:prstGeom>
          <a:solidFill>
            <a:srgbClr val="ffffff">
              <a:alpha val="3000"/>
            </a:srgbClr>
          </a:solidFill>
          <a:ln w="1260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CustomShape 13"/>
          <p:cNvSpPr/>
          <p:nvPr/>
        </p:nvSpPr>
        <p:spPr>
          <a:xfrm>
            <a:off x="4160880" y="2406240"/>
            <a:ext cx="3342600" cy="1011240"/>
          </a:xfrm>
          <a:prstGeom prst="roundRect">
            <a:avLst>
              <a:gd name="adj" fmla="val 7452"/>
            </a:avLst>
          </a:prstGeom>
          <a:solidFill>
            <a:srgbClr val="ffffff">
              <a:alpha val="3000"/>
            </a:srgbClr>
          </a:solidFill>
          <a:ln w="1260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CustomShape 14"/>
          <p:cNvSpPr/>
          <p:nvPr/>
        </p:nvSpPr>
        <p:spPr>
          <a:xfrm>
            <a:off x="533880" y="2385360"/>
            <a:ext cx="3534840" cy="1011240"/>
          </a:xfrm>
          <a:prstGeom prst="roundRect">
            <a:avLst>
              <a:gd name="adj" fmla="val 7452"/>
            </a:avLst>
          </a:prstGeom>
          <a:solidFill>
            <a:srgbClr val="ffffff">
              <a:alpha val="3000"/>
            </a:srgbClr>
          </a:solidFill>
          <a:ln w="1260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CustomShape 15"/>
          <p:cNvSpPr/>
          <p:nvPr/>
        </p:nvSpPr>
        <p:spPr>
          <a:xfrm rot="16200000">
            <a:off x="66960" y="2813040"/>
            <a:ext cx="858600" cy="45360"/>
          </a:xfrm>
          <a:prstGeom prst="roundRect">
            <a:avLst>
              <a:gd name="adj" fmla="val 173161"/>
            </a:avLst>
          </a:prstGeom>
          <a:solidFill>
            <a:srgbClr val="ffc000"/>
          </a:solidFill>
          <a:ln w="12600">
            <a:solidFill>
              <a:srgbClr val="6366f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CustomShape 16"/>
          <p:cNvSpPr/>
          <p:nvPr/>
        </p:nvSpPr>
        <p:spPr>
          <a:xfrm rot="16200000">
            <a:off x="3738960" y="1703880"/>
            <a:ext cx="912240" cy="45360"/>
          </a:xfrm>
          <a:prstGeom prst="roundRect">
            <a:avLst>
              <a:gd name="adj" fmla="val 173161"/>
            </a:avLst>
          </a:prstGeom>
          <a:solidFill>
            <a:srgbClr val="00ceff"/>
          </a:solidFill>
          <a:ln w="12600">
            <a:solidFill>
              <a:srgbClr val="6366f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CustomShape 17"/>
          <p:cNvSpPr/>
          <p:nvPr/>
        </p:nvSpPr>
        <p:spPr>
          <a:xfrm rot="16200000">
            <a:off x="3782520" y="2836440"/>
            <a:ext cx="858600" cy="45360"/>
          </a:xfrm>
          <a:prstGeom prst="roundRect">
            <a:avLst>
              <a:gd name="adj" fmla="val 173161"/>
            </a:avLst>
          </a:prstGeom>
          <a:solidFill>
            <a:srgbClr val="ff3456"/>
          </a:solidFill>
          <a:ln w="12600">
            <a:solidFill>
              <a:srgbClr val="6366f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15" name="Image 8" descr="preencoded.png"/>
          <p:cNvPicPr/>
          <p:nvPr/>
        </p:nvPicPr>
        <p:blipFill>
          <a:blip r:embed="rId4"/>
          <a:stretch/>
        </p:blipFill>
        <p:spPr>
          <a:xfrm>
            <a:off x="8857080" y="1523880"/>
            <a:ext cx="266760" cy="266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图片 4" descr=""/>
          <p:cNvPicPr/>
          <p:nvPr/>
        </p:nvPicPr>
        <p:blipFill>
          <a:blip r:embed="rId1"/>
          <a:stretch/>
        </p:blipFill>
        <p:spPr>
          <a:xfrm>
            <a:off x="7684920" y="1757520"/>
            <a:ext cx="2698200" cy="4834440"/>
          </a:xfrm>
          <a:prstGeom prst="rect">
            <a:avLst/>
          </a:prstGeom>
          <a:ln>
            <a:noFill/>
          </a:ln>
        </p:spPr>
      </p:pic>
      <p:pic>
        <p:nvPicPr>
          <p:cNvPr id="417" name="Picture 2" descr=""/>
          <p:cNvPicPr/>
          <p:nvPr/>
        </p:nvPicPr>
        <p:blipFill>
          <a:blip r:embed="rId2"/>
          <a:stretch/>
        </p:blipFill>
        <p:spPr>
          <a:xfrm>
            <a:off x="1973160" y="4088880"/>
            <a:ext cx="4284360" cy="2485440"/>
          </a:xfrm>
          <a:prstGeom prst="rect">
            <a:avLst/>
          </a:prstGeom>
          <a:ln>
            <a:noFill/>
          </a:ln>
        </p:spPr>
      </p:pic>
      <p:sp>
        <p:nvSpPr>
          <p:cNvPr id="418" name="CustomShape 1"/>
          <p:cNvSpPr/>
          <p:nvPr/>
        </p:nvSpPr>
        <p:spPr>
          <a:xfrm>
            <a:off x="1200600" y="127080"/>
            <a:ext cx="982944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高校禁用</a:t>
            </a:r>
            <a:r>
              <a:rPr b="1" lang="en-US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+</a:t>
            </a:r>
            <a:r>
              <a:rPr b="1" lang="zh-CN" sz="2800" spc="-1" strike="noStrike">
                <a:solidFill>
                  <a:srgbClr val="ffffff"/>
                </a:solidFill>
                <a:latin typeface="微软雅黑"/>
                <a:ea typeface="微软雅黑"/>
              </a:rPr>
              <a:t>官方预警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419" name="图片 14" descr=""/>
          <p:cNvPicPr/>
          <p:nvPr/>
        </p:nvPicPr>
        <p:blipFill>
          <a:blip r:embed="rId3"/>
          <a:stretch/>
        </p:blipFill>
        <p:spPr>
          <a:xfrm>
            <a:off x="1973160" y="1757520"/>
            <a:ext cx="4284360" cy="2213640"/>
          </a:xfrm>
          <a:prstGeom prst="rect">
            <a:avLst/>
          </a:prstGeom>
          <a:ln>
            <a:noFill/>
          </a:ln>
        </p:spPr>
      </p:pic>
      <p:sp>
        <p:nvSpPr>
          <p:cNvPr id="420" name="CustomShape 2"/>
          <p:cNvSpPr/>
          <p:nvPr/>
        </p:nvSpPr>
        <p:spPr>
          <a:xfrm>
            <a:off x="1627200" y="944640"/>
            <a:ext cx="8975880" cy="51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北京大学、山东大学、西北工业大学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先后发布了预警通知。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北京建筑大学、华南师范大学、华中师范大学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等更是明确禁止在校园办公电脑、服务器上安装使用</a:t>
            </a:r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OpenClaw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。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CustomShape 1"/>
          <p:cNvSpPr/>
          <p:nvPr/>
        </p:nvSpPr>
        <p:spPr>
          <a:xfrm>
            <a:off x="1282320" y="2653560"/>
            <a:ext cx="610272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zh-CN" sz="3200" spc="-1" strike="noStrike">
                <a:solidFill>
                  <a:srgbClr val="ffffff"/>
                </a:solidFill>
                <a:latin typeface="微软雅黑"/>
                <a:ea typeface="微软雅黑"/>
              </a:rPr>
              <a:t>第三部分  万兴养虾安全须知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422" name="图片 5" descr=""/>
          <p:cNvPicPr/>
          <p:nvPr/>
        </p:nvPicPr>
        <p:blipFill>
          <a:blip r:embed="rId1"/>
          <a:stretch/>
        </p:blipFill>
        <p:spPr>
          <a:xfrm rot="604800">
            <a:off x="6824520" y="1974240"/>
            <a:ext cx="4928400" cy="3289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图片 1" descr=""/>
          <p:cNvPicPr/>
          <p:nvPr/>
        </p:nvPicPr>
        <p:blipFill>
          <a:blip r:embed="rId1"/>
          <a:stretch/>
        </p:blipFill>
        <p:spPr>
          <a:xfrm>
            <a:off x="1474200" y="1163520"/>
            <a:ext cx="9588240" cy="5229720"/>
          </a:xfrm>
          <a:prstGeom prst="rect">
            <a:avLst/>
          </a:prstGeom>
          <a:ln>
            <a:noFill/>
          </a:ln>
        </p:spPr>
      </p:pic>
      <p:sp>
        <p:nvSpPr>
          <p:cNvPr id="424" name="CustomShape 1"/>
          <p:cNvSpPr/>
          <p:nvPr/>
        </p:nvSpPr>
        <p:spPr>
          <a:xfrm>
            <a:off x="801720" y="288360"/>
            <a:ext cx="982944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万兴安全养虾须知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CustomShape 1"/>
          <p:cNvSpPr/>
          <p:nvPr/>
        </p:nvSpPr>
        <p:spPr>
          <a:xfrm>
            <a:off x="761760" y="3714120"/>
            <a:ext cx="5261040" cy="2503440"/>
          </a:xfrm>
          <a:prstGeom prst="roundRect">
            <a:avLst>
              <a:gd name="adj" fmla="val 5747"/>
            </a:avLst>
          </a:prstGeom>
          <a:solidFill>
            <a:srgbClr val="ffffff">
              <a:alpha val="3000"/>
            </a:srgbClr>
          </a:solidFill>
          <a:ln w="1260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CustomShape 2"/>
          <p:cNvSpPr/>
          <p:nvPr/>
        </p:nvSpPr>
        <p:spPr>
          <a:xfrm>
            <a:off x="9010440" y="-476280"/>
            <a:ext cx="2419200" cy="2419200"/>
          </a:xfrm>
          <a:prstGeom prst="ellipse">
            <a:avLst/>
          </a:prstGeom>
          <a:noFill/>
          <a:ln w="25560">
            <a:solidFill>
              <a:srgbClr val="a78bfa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CustomShape 3"/>
          <p:cNvSpPr/>
          <p:nvPr/>
        </p:nvSpPr>
        <p:spPr>
          <a:xfrm>
            <a:off x="9696240" y="190080"/>
            <a:ext cx="1066680" cy="1066680"/>
          </a:xfrm>
          <a:prstGeom prst="ellipse">
            <a:avLst/>
          </a:prstGeom>
          <a:noFill/>
          <a:ln w="12600">
            <a:solidFill>
              <a:srgbClr val="a78bfa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28" name="Image 1" descr="preencoded.png"/>
          <p:cNvPicPr/>
          <p:nvPr/>
        </p:nvPicPr>
        <p:blipFill>
          <a:blip r:embed="rId1"/>
          <a:srcRect l="-21" t="0" r="-21" b="0"/>
          <a:stretch/>
        </p:blipFill>
        <p:spPr>
          <a:xfrm>
            <a:off x="761760" y="1238040"/>
            <a:ext cx="10715400" cy="761400"/>
          </a:xfrm>
          <a:prstGeom prst="rect">
            <a:avLst/>
          </a:prstGeom>
          <a:ln>
            <a:noFill/>
          </a:ln>
        </p:spPr>
      </p:pic>
      <p:sp>
        <p:nvSpPr>
          <p:cNvPr id="429" name="CustomShape 4"/>
          <p:cNvSpPr/>
          <p:nvPr/>
        </p:nvSpPr>
        <p:spPr>
          <a:xfrm>
            <a:off x="761760" y="2286000"/>
            <a:ext cx="5261040" cy="1161720"/>
          </a:xfrm>
          <a:prstGeom prst="roundRect">
            <a:avLst>
              <a:gd name="adj" fmla="val 10318"/>
            </a:avLst>
          </a:prstGeom>
          <a:solidFill>
            <a:srgbClr val="ffffff">
              <a:alpha val="3000"/>
            </a:srgbClr>
          </a:solidFill>
          <a:ln w="12600">
            <a:solidFill>
              <a:srgbClr val="ffffff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30" name="Image 4" descr="preencoded.png"/>
          <p:cNvPicPr/>
          <p:nvPr/>
        </p:nvPicPr>
        <p:blipFill>
          <a:blip r:embed="rId2"/>
          <a:srcRect l="0" t="-95" r="0" b="-95"/>
          <a:stretch/>
        </p:blipFill>
        <p:spPr>
          <a:xfrm>
            <a:off x="571680" y="523800"/>
            <a:ext cx="237240" cy="380880"/>
          </a:xfrm>
          <a:prstGeom prst="rect">
            <a:avLst/>
          </a:prstGeom>
          <a:ln>
            <a:noFill/>
          </a:ln>
        </p:spPr>
      </p:pic>
      <p:sp>
        <p:nvSpPr>
          <p:cNvPr id="431" name="CustomShape 5"/>
          <p:cNvSpPr/>
          <p:nvPr/>
        </p:nvSpPr>
        <p:spPr>
          <a:xfrm>
            <a:off x="1238040" y="476280"/>
            <a:ext cx="982944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第一道锁</a:t>
            </a:r>
            <a:r>
              <a:rPr b="1" lang="en-US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 环境锁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432" name="Image 5" descr="preencoded.png"/>
          <p:cNvPicPr/>
          <p:nvPr/>
        </p:nvPicPr>
        <p:blipFill>
          <a:blip r:embed="rId3"/>
          <a:srcRect l="-709" t="0" r="-709" b="0"/>
          <a:stretch/>
        </p:blipFill>
        <p:spPr>
          <a:xfrm>
            <a:off x="1047960" y="1476720"/>
            <a:ext cx="304200" cy="266760"/>
          </a:xfrm>
          <a:prstGeom prst="rect">
            <a:avLst/>
          </a:prstGeom>
          <a:ln>
            <a:noFill/>
          </a:ln>
        </p:spPr>
      </p:pic>
      <p:sp>
        <p:nvSpPr>
          <p:cNvPr id="433" name="CustomShape 6"/>
          <p:cNvSpPr/>
          <p:nvPr/>
        </p:nvSpPr>
        <p:spPr>
          <a:xfrm>
            <a:off x="1524240" y="1380600"/>
            <a:ext cx="9792000" cy="58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a78bfa"/>
                </a:solidFill>
                <a:latin typeface="Noto Sans SC"/>
                <a:ea typeface="Noto Sans SC"/>
              </a:rPr>
              <a:t>核心理念：</a:t>
            </a:r>
            <a:r>
              <a:rPr b="1" lang="zh-CN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不要私自在办公电脑安装龙虾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4" name="CustomShape 7"/>
          <p:cNvSpPr/>
          <p:nvPr/>
        </p:nvSpPr>
        <p:spPr>
          <a:xfrm>
            <a:off x="1047960" y="2667240"/>
            <a:ext cx="418320" cy="418320"/>
          </a:xfrm>
          <a:prstGeom prst="ellipse">
            <a:avLst/>
          </a:prstGeom>
          <a:solidFill>
            <a:srgbClr val="0a192f"/>
          </a:solidFill>
          <a:ln w="2556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35" name="Image 6" descr="preencoded.png"/>
          <p:cNvPicPr/>
          <p:nvPr/>
        </p:nvPicPr>
        <p:blipFill>
          <a:blip r:embed="rId4"/>
          <a:srcRect l="-985" t="0" r="-985" b="0"/>
          <a:stretch/>
        </p:blipFill>
        <p:spPr>
          <a:xfrm>
            <a:off x="1147680" y="2790720"/>
            <a:ext cx="219240" cy="171720"/>
          </a:xfrm>
          <a:prstGeom prst="rect">
            <a:avLst/>
          </a:prstGeom>
          <a:ln>
            <a:noFill/>
          </a:ln>
        </p:spPr>
      </p:pic>
      <p:sp>
        <p:nvSpPr>
          <p:cNvPr id="436" name="CustomShape 8"/>
          <p:cNvSpPr/>
          <p:nvPr/>
        </p:nvSpPr>
        <p:spPr>
          <a:xfrm>
            <a:off x="1619280" y="2428560"/>
            <a:ext cx="3031920" cy="304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38bdf8"/>
                </a:solidFill>
                <a:latin typeface="Noto Sans SC"/>
                <a:ea typeface="Noto Sans SC"/>
              </a:rPr>
              <a:t>一、</a:t>
            </a:r>
            <a:r>
              <a:rPr b="1" lang="en-US" sz="1600" spc="-1" strike="noStrike">
                <a:solidFill>
                  <a:srgbClr val="38bdf8"/>
                </a:solidFill>
                <a:latin typeface="Noto Sans SC"/>
                <a:ea typeface="Noto Sans SC"/>
              </a:rPr>
              <a:t>OpenClaw</a:t>
            </a:r>
            <a:r>
              <a:rPr b="1" lang="zh-CN" sz="1600" spc="-1" strike="noStrike">
                <a:solidFill>
                  <a:srgbClr val="38bdf8"/>
                </a:solidFill>
                <a:latin typeface="Noto Sans SC"/>
                <a:ea typeface="Noto Sans SC"/>
              </a:rPr>
              <a:t>环境管理原则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37" name="CustomShape 9"/>
          <p:cNvSpPr/>
          <p:nvPr/>
        </p:nvSpPr>
        <p:spPr>
          <a:xfrm>
            <a:off x="1589760" y="2742120"/>
            <a:ext cx="3975840" cy="667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Noto Sans SC"/>
                <a:ea typeface="Noto Sans SC"/>
              </a:rPr>
              <a:t> • </a:t>
            </a:r>
            <a:r>
              <a:rPr b="1" lang="zh-CN" sz="1200" spc="-1" strike="noStrike">
                <a:solidFill>
                  <a:srgbClr val="ffffff"/>
                </a:solidFill>
                <a:latin typeface="Noto Sans SC"/>
                <a:ea typeface="Noto Sans SC"/>
              </a:rPr>
              <a:t>必须</a:t>
            </a:r>
            <a:r>
              <a:rPr b="0" lang="zh-CN" sz="1200" spc="-1" strike="noStrike">
                <a:solidFill>
                  <a:srgbClr val="e2e8f0"/>
                </a:solidFill>
                <a:latin typeface="Noto Sans SC"/>
                <a:ea typeface="Noto Sans SC"/>
              </a:rPr>
              <a:t>使用公司统一分配的</a:t>
            </a:r>
            <a:r>
              <a:rPr b="0" lang="en-US" sz="1200" spc="-1" strike="noStrike">
                <a:solidFill>
                  <a:srgbClr val="e2e8f0"/>
                </a:solidFill>
                <a:latin typeface="Noto Sans SC"/>
                <a:ea typeface="Noto Sans SC"/>
              </a:rPr>
              <a:t>OpenClaw</a:t>
            </a:r>
            <a:r>
              <a:rPr b="0" lang="zh-CN" sz="1200" spc="-1" strike="noStrike">
                <a:solidFill>
                  <a:srgbClr val="e2e8f0"/>
                </a:solidFill>
                <a:latin typeface="Noto Sans SC"/>
                <a:ea typeface="Noto Sans SC"/>
              </a:rPr>
              <a:t>机器。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Noto Sans SC"/>
                <a:ea typeface="Noto Sans SC"/>
              </a:rPr>
              <a:t> • </a:t>
            </a:r>
            <a:r>
              <a:rPr b="1" lang="zh-CN" sz="1200" spc="-1" strike="noStrike">
                <a:solidFill>
                  <a:srgbClr val="f87171"/>
                </a:solidFill>
                <a:latin typeface="Noto Sans SC"/>
                <a:ea typeface="Noto Sans SC"/>
              </a:rPr>
              <a:t>严禁</a:t>
            </a:r>
            <a:r>
              <a:rPr b="0" lang="zh-CN" sz="1200" spc="-1" strike="noStrike">
                <a:solidFill>
                  <a:srgbClr val="e2e8f0"/>
                </a:solidFill>
                <a:latin typeface="Noto Sans SC"/>
                <a:ea typeface="Noto Sans SC"/>
              </a:rPr>
              <a:t>使用办公电脑上安装使用</a:t>
            </a:r>
            <a:r>
              <a:rPr b="0" lang="en-US" sz="1200" spc="-1" strike="noStrike">
                <a:solidFill>
                  <a:srgbClr val="e2e8f0"/>
                </a:solidFill>
                <a:latin typeface="Noto Sans SC"/>
                <a:ea typeface="Noto Sans SC"/>
              </a:rPr>
              <a:t>OpenClaw</a:t>
            </a:r>
            <a:r>
              <a:rPr b="0" lang="zh-CN" sz="1200" spc="-1" strike="noStrike">
                <a:solidFill>
                  <a:srgbClr val="e2e8f0"/>
                </a:solidFill>
                <a:latin typeface="Noto Sans SC"/>
                <a:ea typeface="Noto Sans SC"/>
              </a:rPr>
              <a:t>。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438" name="图片 1" descr=""/>
          <p:cNvPicPr/>
          <p:nvPr/>
        </p:nvPicPr>
        <p:blipFill>
          <a:blip r:embed="rId5"/>
          <a:stretch/>
        </p:blipFill>
        <p:spPr>
          <a:xfrm>
            <a:off x="6334560" y="2790720"/>
            <a:ext cx="5206320" cy="2832840"/>
          </a:xfrm>
          <a:prstGeom prst="rect">
            <a:avLst/>
          </a:prstGeom>
          <a:ln>
            <a:noFill/>
          </a:ln>
        </p:spPr>
      </p:pic>
      <p:sp>
        <p:nvSpPr>
          <p:cNvPr id="439" name="CustomShape 10"/>
          <p:cNvSpPr/>
          <p:nvPr/>
        </p:nvSpPr>
        <p:spPr>
          <a:xfrm>
            <a:off x="1047960" y="3759120"/>
            <a:ext cx="4776480" cy="241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5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🦞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龙虾申请渠道（两种方式）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1.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云桌面方式</a:t>
            </a:r>
            <a:endParaRPr b="0" lang="en-US" sz="14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需自行安装和部署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OpenClaw 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灵活性高，适合个性化配置与调试场景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2.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虾塘（容器化）方式</a:t>
            </a:r>
            <a:endParaRPr b="0" lang="en-US" sz="14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开箱即用，无需额外部署 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环境标准化，适合快速体验与常规使用 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不适用于需要深度定制或复杂调试的场景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Image 1" descr="preencoded.png"/>
          <p:cNvPicPr/>
          <p:nvPr/>
        </p:nvPicPr>
        <p:blipFill>
          <a:blip r:embed="rId1"/>
          <a:srcRect l="0" t="-314" r="0" b="-314"/>
          <a:stretch/>
        </p:blipFill>
        <p:spPr>
          <a:xfrm>
            <a:off x="1238040" y="1047960"/>
            <a:ext cx="761400" cy="38160"/>
          </a:xfrm>
          <a:prstGeom prst="rect">
            <a:avLst/>
          </a:prstGeom>
          <a:ln>
            <a:noFill/>
          </a:ln>
        </p:spPr>
      </p:pic>
      <p:pic>
        <p:nvPicPr>
          <p:cNvPr id="441" name="Image 12" descr="preencoded.png"/>
          <p:cNvPicPr/>
          <p:nvPr/>
        </p:nvPicPr>
        <p:blipFill>
          <a:blip r:embed="rId2"/>
          <a:srcRect l="0" t="-95" r="0" b="-95"/>
          <a:stretch/>
        </p:blipFill>
        <p:spPr>
          <a:xfrm>
            <a:off x="571680" y="523800"/>
            <a:ext cx="237240" cy="380880"/>
          </a:xfrm>
          <a:prstGeom prst="rect">
            <a:avLst/>
          </a:prstGeom>
          <a:ln>
            <a:noFill/>
          </a:ln>
        </p:spPr>
      </p:pic>
      <p:sp>
        <p:nvSpPr>
          <p:cNvPr id="442" name="CustomShape 1"/>
          <p:cNvSpPr/>
          <p:nvPr/>
        </p:nvSpPr>
        <p:spPr>
          <a:xfrm>
            <a:off x="1238040" y="476280"/>
            <a:ext cx="982944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第二道锁  权限锁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443" name="图片 33" descr=""/>
          <p:cNvPicPr/>
          <p:nvPr/>
        </p:nvPicPr>
        <p:blipFill>
          <a:blip r:embed="rId3"/>
          <a:srcRect l="0" t="0" r="0" b="36698"/>
          <a:stretch/>
        </p:blipFill>
        <p:spPr>
          <a:xfrm>
            <a:off x="5167080" y="2351520"/>
            <a:ext cx="6866280" cy="3245040"/>
          </a:xfrm>
          <a:prstGeom prst="rect">
            <a:avLst/>
          </a:prstGeom>
          <a:ln>
            <a:noFill/>
          </a:ln>
        </p:spPr>
      </p:pic>
      <p:sp>
        <p:nvSpPr>
          <p:cNvPr id="444" name="CustomShape 2"/>
          <p:cNvSpPr/>
          <p:nvPr/>
        </p:nvSpPr>
        <p:spPr>
          <a:xfrm>
            <a:off x="690480" y="1891080"/>
            <a:ext cx="4476240" cy="405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🔐 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1.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最小权限原则（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Least Privilege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b="0" lang="en-US" sz="14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仅授予完成任务所需的最低权限 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避免“默认全开”或过度授权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🏢 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2.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公司内部应用权限控制</a:t>
            </a:r>
            <a:endParaRPr b="0" lang="en-US" sz="14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限制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OpenClaw 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访问敏感系统（如：财务、人事、客户数据） 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使用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API 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权限分级（只读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/ 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可写） 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所有调用需记录日志，便于审计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📂 </a:t>
            </a:r>
            <a:r>
              <a:rPr b="1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3. </a:t>
            </a:r>
            <a:r>
              <a:rPr b="1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本地文件访问管理</a:t>
            </a:r>
            <a:endParaRPr b="0" lang="en-US" sz="14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明确可访问目录范围（如仅限工作文件夹） 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禁止访问敏感路径（如系统目录、密钥文件） 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避免批量读取或上传本地数据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5" name="CustomShape 3"/>
          <p:cNvSpPr/>
          <p:nvPr/>
        </p:nvSpPr>
        <p:spPr>
          <a:xfrm>
            <a:off x="3312360" y="1261080"/>
            <a:ext cx="49359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微软雅黑"/>
                <a:ea typeface="微软雅黑"/>
              </a:rPr>
              <a:t>👉 </a:t>
            </a:r>
            <a:r>
              <a:rPr b="1" lang="en-US" sz="1800" spc="-1" strike="noStrike">
                <a:solidFill>
                  <a:srgbClr val="ffffff"/>
                </a:solidFill>
                <a:latin typeface="微软雅黑"/>
                <a:ea typeface="微软雅黑"/>
              </a:rPr>
              <a:t>“</a:t>
            </a:r>
            <a:r>
              <a:rPr b="1" lang="zh-CN" sz="1800" spc="-1" strike="noStrike">
                <a:solidFill>
                  <a:srgbClr val="ffffff"/>
                </a:solidFill>
                <a:latin typeface="微软雅黑"/>
                <a:ea typeface="微软雅黑"/>
              </a:rPr>
              <a:t>权限不是越多越好，而是刚刚好才安全”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Image 1" descr="preencoded.png"/>
          <p:cNvPicPr/>
          <p:nvPr/>
        </p:nvPicPr>
        <p:blipFill>
          <a:blip r:embed="rId1"/>
          <a:srcRect l="-19" t="0" r="-19" b="0"/>
          <a:stretch/>
        </p:blipFill>
        <p:spPr>
          <a:xfrm>
            <a:off x="761760" y="1342800"/>
            <a:ext cx="10705320" cy="761400"/>
          </a:xfrm>
          <a:prstGeom prst="rect">
            <a:avLst/>
          </a:prstGeom>
          <a:ln>
            <a:noFill/>
          </a:ln>
        </p:spPr>
      </p:pic>
      <p:pic>
        <p:nvPicPr>
          <p:cNvPr id="447" name="Image 6" descr="preencoded.png"/>
          <p:cNvPicPr/>
          <p:nvPr/>
        </p:nvPicPr>
        <p:blipFill>
          <a:blip r:embed="rId2"/>
          <a:stretch/>
        </p:blipFill>
        <p:spPr>
          <a:xfrm>
            <a:off x="571680" y="523800"/>
            <a:ext cx="475920" cy="380880"/>
          </a:xfrm>
          <a:prstGeom prst="rect">
            <a:avLst/>
          </a:prstGeom>
          <a:ln>
            <a:noFill/>
          </a:ln>
        </p:spPr>
      </p:pic>
      <p:sp>
        <p:nvSpPr>
          <p:cNvPr id="448" name="CustomShape 1"/>
          <p:cNvSpPr/>
          <p:nvPr/>
        </p:nvSpPr>
        <p:spPr>
          <a:xfrm>
            <a:off x="1238040" y="476280"/>
            <a:ext cx="1243008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第三道锁 数据锁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449" name="Image 7" descr="preencoded.png"/>
          <p:cNvPicPr/>
          <p:nvPr/>
        </p:nvPicPr>
        <p:blipFill>
          <a:blip r:embed="rId3"/>
          <a:srcRect l="-211" t="0" r="-211" b="0"/>
          <a:stretch/>
        </p:blipFill>
        <p:spPr>
          <a:xfrm>
            <a:off x="1047960" y="1581480"/>
            <a:ext cx="171720" cy="228240"/>
          </a:xfrm>
          <a:prstGeom prst="rect">
            <a:avLst/>
          </a:prstGeom>
          <a:ln>
            <a:noFill/>
          </a:ln>
        </p:spPr>
      </p:pic>
      <p:sp>
        <p:nvSpPr>
          <p:cNvPr id="450" name="CustomShape 2"/>
          <p:cNvSpPr/>
          <p:nvPr/>
        </p:nvSpPr>
        <p:spPr>
          <a:xfrm>
            <a:off x="1476720" y="1485360"/>
            <a:ext cx="9792000" cy="51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fbd2e"/>
                </a:solidFill>
                <a:latin typeface="Noto Sans SC"/>
                <a:ea typeface="Noto Sans SC"/>
              </a:rPr>
              <a:t>核心技巧：抽象化 </a:t>
            </a:r>
            <a:r>
              <a:rPr b="1" lang="en-US" sz="1300" spc="-1" strike="noStrike">
                <a:solidFill>
                  <a:srgbClr val="ffbd2e"/>
                </a:solidFill>
                <a:latin typeface="Noto Sans SC"/>
                <a:ea typeface="Noto Sans SC"/>
              </a:rPr>
              <a:t>(Abstraction) </a:t>
            </a:r>
            <a:r>
              <a:rPr b="1" lang="zh-CN" sz="1300" spc="-1" strike="noStrike">
                <a:solidFill>
                  <a:srgbClr val="ffbd2e"/>
                </a:solidFill>
                <a:latin typeface="Noto Sans SC"/>
                <a:ea typeface="Noto Sans SC"/>
              </a:rPr>
              <a:t>和 匿名化 </a:t>
            </a:r>
            <a:r>
              <a:rPr b="1" lang="en-US" sz="1300" spc="-1" strike="noStrike">
                <a:solidFill>
                  <a:srgbClr val="ffbd2e"/>
                </a:solidFill>
                <a:latin typeface="Noto Sans SC"/>
                <a:ea typeface="Noto Sans SC"/>
              </a:rPr>
              <a:t>(Anonymization)</a:t>
            </a:r>
            <a:r>
              <a:rPr b="1" lang="zh-CN" sz="1300" spc="-1" strike="noStrike">
                <a:solidFill>
                  <a:srgbClr val="ffbd2e"/>
                </a:solidFill>
                <a:latin typeface="Noto Sans SC"/>
                <a:ea typeface="Noto Sans SC"/>
              </a:rPr>
              <a:t>。</a:t>
            </a:r>
            <a:r>
              <a:rPr b="0" lang="zh-CN" sz="1300" spc="-1" strike="noStrike">
                <a:solidFill>
                  <a:srgbClr val="e2e8f0"/>
                </a:solidFill>
                <a:latin typeface="Noto Sans SC"/>
                <a:ea typeface="Noto Sans SC"/>
              </a:rPr>
              <a:t>把具体的数据转化为通用的场景描述，隐去所有可能识别出特定个体或商业机密的信息。关键点：</a:t>
            </a:r>
            <a:r>
              <a:rPr b="1" lang="zh-CN" sz="1300" spc="-1" strike="noStrike">
                <a:solidFill>
                  <a:srgbClr val="ffffff"/>
                </a:solidFill>
                <a:latin typeface="Noto Sans SC"/>
                <a:ea typeface="Noto Sans SC"/>
              </a:rPr>
              <a:t>描述问题，而不是展示数据。</a:t>
            </a:r>
            <a:endParaRPr b="0" lang="en-US" sz="1300" spc="-1" strike="noStrike">
              <a:latin typeface="Arial"/>
            </a:endParaRPr>
          </a:p>
        </p:txBody>
      </p:sp>
      <p:grpSp>
        <p:nvGrpSpPr>
          <p:cNvPr id="451" name="Group 3"/>
          <p:cNvGrpSpPr/>
          <p:nvPr/>
        </p:nvGrpSpPr>
        <p:grpSpPr>
          <a:xfrm>
            <a:off x="677160" y="4453920"/>
            <a:ext cx="10687320" cy="2122200"/>
            <a:chOff x="677160" y="4453920"/>
            <a:chExt cx="10687320" cy="2122200"/>
          </a:xfrm>
        </p:grpSpPr>
        <p:pic>
          <p:nvPicPr>
            <p:cNvPr id="452" name="Image 2" descr="preencoded.png"/>
            <p:cNvPicPr/>
            <p:nvPr/>
          </p:nvPicPr>
          <p:blipFill>
            <a:blip r:embed="rId4"/>
            <a:srcRect l="0" t="-25" r="0" b="-25"/>
            <a:stretch/>
          </p:blipFill>
          <p:spPr>
            <a:xfrm>
              <a:off x="677160" y="4453920"/>
              <a:ext cx="5047920" cy="475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53" name="Image 3" descr="preencoded.png"/>
            <p:cNvPicPr/>
            <p:nvPr/>
          </p:nvPicPr>
          <p:blipFill>
            <a:blip r:embed="rId5"/>
            <a:stretch/>
          </p:blipFill>
          <p:spPr>
            <a:xfrm>
              <a:off x="677160" y="4930200"/>
              <a:ext cx="5067360" cy="15426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54" name="Image 4" descr="preencoded.png"/>
            <p:cNvPicPr/>
            <p:nvPr/>
          </p:nvPicPr>
          <p:blipFill>
            <a:blip r:embed="rId6"/>
            <a:srcRect l="0" t="-25" r="0" b="-25"/>
            <a:stretch/>
          </p:blipFill>
          <p:spPr>
            <a:xfrm>
              <a:off x="6297120" y="4453920"/>
              <a:ext cx="5047920" cy="4759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55" name="Image 5" descr="preencoded.png"/>
            <p:cNvPicPr/>
            <p:nvPr/>
          </p:nvPicPr>
          <p:blipFill>
            <a:blip r:embed="rId7"/>
            <a:stretch/>
          </p:blipFill>
          <p:spPr>
            <a:xfrm>
              <a:off x="6297120" y="4930200"/>
              <a:ext cx="5067360" cy="1542600"/>
            </a:xfrm>
            <a:prstGeom prst="rect">
              <a:avLst/>
            </a:prstGeom>
            <a:ln>
              <a:noFill/>
            </a:ln>
          </p:spPr>
        </p:pic>
        <p:sp>
          <p:nvSpPr>
            <p:cNvPr id="456" name="CustomShape 4"/>
            <p:cNvSpPr/>
            <p:nvPr/>
          </p:nvSpPr>
          <p:spPr>
            <a:xfrm>
              <a:off x="868320" y="5120640"/>
              <a:ext cx="4695120" cy="1352520"/>
            </a:xfrm>
            <a:prstGeom prst="roundRect">
              <a:avLst>
                <a:gd name="adj" fmla="val 7972"/>
              </a:avLst>
            </a:prstGeom>
            <a:solidFill>
              <a:srgbClr val="ef4444">
                <a:alpha val="5000"/>
              </a:srgb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7" name="CustomShape 5"/>
            <p:cNvSpPr/>
            <p:nvPr/>
          </p:nvSpPr>
          <p:spPr>
            <a:xfrm>
              <a:off x="868320" y="5120640"/>
              <a:ext cx="28080" cy="1259640"/>
            </a:xfrm>
            <a:prstGeom prst="roundRect">
              <a:avLst>
                <a:gd name="adj" fmla="val 455414"/>
              </a:avLst>
            </a:prstGeom>
            <a:solidFill>
              <a:srgbClr val="ef4444"/>
            </a:solidFill>
            <a:ln w="12600">
              <a:solidFill>
                <a:srgbClr val="ef4444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8" name="CustomShape 6"/>
            <p:cNvSpPr/>
            <p:nvPr/>
          </p:nvSpPr>
          <p:spPr>
            <a:xfrm>
              <a:off x="6488280" y="5120640"/>
              <a:ext cx="4695120" cy="1419840"/>
            </a:xfrm>
            <a:prstGeom prst="roundRect">
              <a:avLst>
                <a:gd name="adj" fmla="val 7972"/>
              </a:avLst>
            </a:prstGeom>
            <a:solidFill>
              <a:srgbClr val="10b981">
                <a:alpha val="5000"/>
              </a:srgb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9" name="CustomShape 7"/>
            <p:cNvSpPr/>
            <p:nvPr/>
          </p:nvSpPr>
          <p:spPr>
            <a:xfrm>
              <a:off x="6488280" y="5120640"/>
              <a:ext cx="28080" cy="1259640"/>
            </a:xfrm>
            <a:prstGeom prst="roundRect">
              <a:avLst>
                <a:gd name="adj" fmla="val 455414"/>
              </a:avLst>
            </a:prstGeom>
            <a:solidFill>
              <a:srgbClr val="10b981"/>
            </a:solidFill>
            <a:ln w="12600">
              <a:solidFill>
                <a:srgbClr val="10b981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460" name="Image 8" descr="preencoded.png"/>
            <p:cNvPicPr/>
            <p:nvPr/>
          </p:nvPicPr>
          <p:blipFill>
            <a:blip r:embed="rId8"/>
            <a:stretch/>
          </p:blipFill>
          <p:spPr>
            <a:xfrm>
              <a:off x="868320" y="4591800"/>
              <a:ext cx="189720" cy="189720"/>
            </a:xfrm>
            <a:prstGeom prst="rect">
              <a:avLst/>
            </a:prstGeom>
            <a:ln>
              <a:noFill/>
            </a:ln>
          </p:spPr>
        </p:pic>
        <p:sp>
          <p:nvSpPr>
            <p:cNvPr id="461" name="CustomShape 8"/>
            <p:cNvSpPr/>
            <p:nvPr/>
          </p:nvSpPr>
          <p:spPr>
            <a:xfrm>
              <a:off x="1200960" y="4548960"/>
              <a:ext cx="4000320" cy="2768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zh-CN" sz="1500" spc="-1" strike="noStrike">
                  <a:solidFill>
                    <a:srgbClr val="ef4444"/>
                  </a:solidFill>
                  <a:latin typeface="Noto Sans SC"/>
                  <a:ea typeface="Noto Sans SC"/>
                </a:rPr>
                <a:t>错误示范 </a:t>
              </a:r>
              <a:r>
                <a:rPr b="1" lang="en-US" sz="1500" spc="-1" strike="noStrike">
                  <a:solidFill>
                    <a:srgbClr val="ef4444"/>
                  </a:solidFill>
                  <a:latin typeface="Noto Sans SC"/>
                  <a:ea typeface="Noto Sans SC"/>
                </a:rPr>
                <a:t>(</a:t>
              </a:r>
              <a:r>
                <a:rPr b="1" lang="zh-CN" sz="1500" spc="-1" strike="noStrike">
                  <a:solidFill>
                    <a:srgbClr val="ef4444"/>
                  </a:solidFill>
                  <a:latin typeface="Noto Sans SC"/>
                  <a:ea typeface="Noto Sans SC"/>
                </a:rPr>
                <a:t>直接粘贴敏感数据</a:t>
              </a:r>
              <a:r>
                <a:rPr b="1" lang="en-US" sz="1500" spc="-1" strike="noStrike">
                  <a:solidFill>
                    <a:srgbClr val="ef4444"/>
                  </a:solidFill>
                  <a:latin typeface="Noto Sans SC"/>
                  <a:ea typeface="Noto Sans SC"/>
                </a:rPr>
                <a:t>)</a:t>
              </a:r>
              <a:endParaRPr b="0" lang="en-US" sz="1500" spc="-1" strike="noStrike">
                <a:latin typeface="Arial"/>
              </a:endParaRPr>
            </a:p>
          </p:txBody>
        </p:sp>
        <p:sp>
          <p:nvSpPr>
            <p:cNvPr id="462" name="CustomShape 9"/>
            <p:cNvSpPr/>
            <p:nvPr/>
          </p:nvSpPr>
          <p:spPr>
            <a:xfrm>
              <a:off x="1058400" y="5215680"/>
              <a:ext cx="4362120" cy="121932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 “</a:t>
              </a:r>
              <a:r>
                <a:rPr b="0" lang="zh-CN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这是我们新产品</a:t>
              </a:r>
              <a:r>
                <a:rPr b="1" lang="en-US" sz="1200" spc="-1" strike="noStrike">
                  <a:solidFill>
                    <a:srgbClr val="fca5a5"/>
                  </a:solidFill>
                  <a:latin typeface="Courier New"/>
                  <a:ea typeface="Courier New"/>
                </a:rPr>
                <a:t>‘星辰计划’</a:t>
              </a:r>
              <a:r>
                <a:rPr b="0" lang="zh-CN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的用户反馈数据：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 </a:t>
              </a: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1. </a:t>
              </a:r>
              <a:r>
                <a:rPr b="1" lang="zh-CN" sz="1200" spc="-1" strike="noStrike">
                  <a:solidFill>
                    <a:srgbClr val="fca5a5"/>
                  </a:solidFill>
                  <a:latin typeface="Courier New"/>
                  <a:ea typeface="Courier New"/>
                </a:rPr>
                <a:t>张三 </a:t>
              </a:r>
              <a:r>
                <a:rPr b="1" lang="en-US" sz="1200" spc="-1" strike="noStrike">
                  <a:solidFill>
                    <a:srgbClr val="fca5a5"/>
                  </a:solidFill>
                  <a:latin typeface="Courier New"/>
                  <a:ea typeface="Courier New"/>
                </a:rPr>
                <a:t>(138xxxx1234)</a:t>
              </a: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: UI</a:t>
              </a:r>
              <a:r>
                <a:rPr b="0" lang="zh-CN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太难看了！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 </a:t>
              </a: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2. </a:t>
              </a:r>
              <a:r>
                <a:rPr b="1" lang="zh-CN" sz="1200" spc="-1" strike="noStrike">
                  <a:solidFill>
                    <a:srgbClr val="fca5a5"/>
                  </a:solidFill>
                  <a:latin typeface="Courier New"/>
                  <a:ea typeface="Courier New"/>
                </a:rPr>
                <a:t>李四 </a:t>
              </a:r>
              <a:r>
                <a:rPr b="1" lang="en-US" sz="1200" spc="-1" strike="noStrike">
                  <a:solidFill>
                    <a:srgbClr val="fca5a5"/>
                  </a:solidFill>
                  <a:latin typeface="Courier New"/>
                  <a:ea typeface="Courier New"/>
                </a:rPr>
                <a:t>(139xxxx5678)</a:t>
              </a: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: </a:t>
              </a:r>
              <a:r>
                <a:rPr b="0" lang="zh-CN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华为</a:t>
              </a: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Mate60</a:t>
              </a:r>
              <a:r>
                <a:rPr b="0" lang="zh-CN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上老是闪退！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9ca3af"/>
                  </a:solidFill>
                  <a:latin typeface="Courier New"/>
                  <a:ea typeface="Courier New"/>
                </a:rPr>
                <a:t>... [</a:t>
              </a:r>
              <a:r>
                <a:rPr b="0" lang="zh-CN" sz="1200" spc="-1" strike="noStrike">
                  <a:solidFill>
                    <a:srgbClr val="9ca3af"/>
                  </a:solidFill>
                  <a:latin typeface="Courier New"/>
                  <a:ea typeface="Courier New"/>
                </a:rPr>
                <a:t>此处粘贴了</a:t>
              </a:r>
              <a:r>
                <a:rPr b="0" lang="en-US" sz="1200" spc="-1" strike="noStrike">
                  <a:solidFill>
                    <a:srgbClr val="9ca3af"/>
                  </a:solidFill>
                  <a:latin typeface="Courier New"/>
                  <a:ea typeface="Courier New"/>
                </a:rPr>
                <a:t>50</a:t>
              </a:r>
              <a:r>
                <a:rPr b="0" lang="zh-CN" sz="1200" spc="-1" strike="noStrike">
                  <a:solidFill>
                    <a:srgbClr val="9ca3af"/>
                  </a:solidFill>
                  <a:latin typeface="Courier New"/>
                  <a:ea typeface="Courier New"/>
                </a:rPr>
                <a:t>条真实反馈</a:t>
              </a:r>
              <a:r>
                <a:rPr b="0" lang="en-US" sz="1200" spc="-1" strike="noStrike">
                  <a:solidFill>
                    <a:srgbClr val="9ca3af"/>
                  </a:solidFill>
                  <a:latin typeface="Courier New"/>
                  <a:ea typeface="Courier New"/>
                </a:rPr>
                <a:t>] ...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 </a:t>
              </a:r>
              <a:r>
                <a:rPr b="0" lang="zh-CN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请总结用户抱怨最多的三个问题。” </a:t>
              </a:r>
              <a:endParaRPr b="0" lang="en-US" sz="1200" spc="-1" strike="noStrike">
                <a:latin typeface="Arial"/>
              </a:endParaRPr>
            </a:p>
          </p:txBody>
        </p:sp>
        <p:pic>
          <p:nvPicPr>
            <p:cNvPr id="463" name="Image 9" descr="preencoded.png"/>
            <p:cNvPicPr/>
            <p:nvPr/>
          </p:nvPicPr>
          <p:blipFill>
            <a:blip r:embed="rId9"/>
            <a:stretch/>
          </p:blipFill>
          <p:spPr>
            <a:xfrm>
              <a:off x="6488280" y="4591800"/>
              <a:ext cx="189720" cy="189720"/>
            </a:xfrm>
            <a:prstGeom prst="rect">
              <a:avLst/>
            </a:prstGeom>
            <a:ln>
              <a:noFill/>
            </a:ln>
          </p:spPr>
        </p:pic>
        <p:sp>
          <p:nvSpPr>
            <p:cNvPr id="464" name="CustomShape 10"/>
            <p:cNvSpPr/>
            <p:nvPr/>
          </p:nvSpPr>
          <p:spPr>
            <a:xfrm>
              <a:off x="6820920" y="4548960"/>
              <a:ext cx="4000320" cy="2768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zh-CN" sz="1500" spc="-1" strike="noStrike">
                  <a:solidFill>
                    <a:srgbClr val="10b981"/>
                  </a:solidFill>
                  <a:latin typeface="Noto Sans SC"/>
                  <a:ea typeface="Noto Sans SC"/>
                </a:rPr>
                <a:t>正确示范 </a:t>
              </a:r>
              <a:r>
                <a:rPr b="1" lang="en-US" sz="1500" spc="-1" strike="noStrike">
                  <a:solidFill>
                    <a:srgbClr val="10b981"/>
                  </a:solidFill>
                  <a:latin typeface="Noto Sans SC"/>
                  <a:ea typeface="Noto Sans SC"/>
                </a:rPr>
                <a:t>(</a:t>
              </a:r>
              <a:r>
                <a:rPr b="1" lang="zh-CN" sz="1500" spc="-1" strike="noStrike">
                  <a:solidFill>
                    <a:srgbClr val="10b981"/>
                  </a:solidFill>
                  <a:latin typeface="Noto Sans SC"/>
                  <a:ea typeface="Noto Sans SC"/>
                </a:rPr>
                <a:t>抽象化提问</a:t>
              </a:r>
              <a:r>
                <a:rPr b="1" lang="en-US" sz="1500" spc="-1" strike="noStrike">
                  <a:solidFill>
                    <a:srgbClr val="10b981"/>
                  </a:solidFill>
                  <a:latin typeface="Noto Sans SC"/>
                  <a:ea typeface="Noto Sans SC"/>
                </a:rPr>
                <a:t>)</a:t>
              </a:r>
              <a:endParaRPr b="0" lang="en-US" sz="1500" spc="-1" strike="noStrike">
                <a:latin typeface="Arial"/>
              </a:endParaRPr>
            </a:p>
          </p:txBody>
        </p:sp>
        <p:sp>
          <p:nvSpPr>
            <p:cNvPr id="465" name="CustomShape 11"/>
            <p:cNvSpPr/>
            <p:nvPr/>
          </p:nvSpPr>
          <p:spPr>
            <a:xfrm>
              <a:off x="6668280" y="4962240"/>
              <a:ext cx="4403160" cy="16138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 “</a:t>
              </a:r>
              <a:r>
                <a:rPr b="1" lang="zh-CN" sz="1200" spc="-1" strike="noStrike">
                  <a:solidFill>
                    <a:srgbClr val="6ee7b7"/>
                  </a:solidFill>
                  <a:latin typeface="Courier New"/>
                  <a:ea typeface="Courier New"/>
                </a:rPr>
                <a:t>假设你是产品经理，收到一批关于新软件的反馈。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 </a:t>
              </a:r>
              <a:r>
                <a:rPr b="0" lang="zh-CN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主要集中在三个方面：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 </a:t>
              </a: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1. UI</a:t>
              </a:r>
              <a:r>
                <a:rPr b="0" lang="zh-CN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界面复杂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 </a:t>
              </a: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2. </a:t>
              </a:r>
              <a:r>
                <a:rPr b="0" lang="zh-CN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特定型号手机频繁闪退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 </a:t>
              </a: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3. </a:t>
              </a:r>
              <a:r>
                <a:rPr b="0" lang="zh-CN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电池消耗过快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 </a:t>
              </a:r>
              <a:r>
                <a:rPr b="0" lang="zh-CN" sz="1200" spc="-1" strike="noStrike">
                  <a:solidFill>
                    <a:srgbClr val="e2e8f0"/>
                  </a:solidFill>
                  <a:latin typeface="Courier New"/>
                  <a:ea typeface="Courier New"/>
                </a:rPr>
                <a:t>请帮我草拟一封给研发团队的邮件，清晰阐述这些问题并建议解决方案。” </a:t>
              </a:r>
              <a:endParaRPr b="0" lang="en-US" sz="1200" spc="-1" strike="noStrike">
                <a:latin typeface="Arial"/>
              </a:endParaRPr>
            </a:p>
          </p:txBody>
        </p:sp>
        <p:pic>
          <p:nvPicPr>
            <p:cNvPr id="466" name="Image 13" descr="preencoded.png"/>
            <p:cNvPicPr/>
            <p:nvPr/>
          </p:nvPicPr>
          <p:blipFill>
            <a:blip r:embed="rId10"/>
            <a:stretch/>
          </p:blipFill>
          <p:spPr>
            <a:xfrm>
              <a:off x="5772960" y="5691960"/>
              <a:ext cx="514440" cy="5144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67" name="Image 14" descr="preencoded.png"/>
            <p:cNvPicPr/>
            <p:nvPr/>
          </p:nvPicPr>
          <p:blipFill>
            <a:blip r:embed="rId11"/>
            <a:stretch/>
          </p:blipFill>
          <p:spPr>
            <a:xfrm>
              <a:off x="5887440" y="5815440"/>
              <a:ext cx="228240" cy="2282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68" name="CustomShape 12"/>
          <p:cNvSpPr/>
          <p:nvPr/>
        </p:nvSpPr>
        <p:spPr>
          <a:xfrm>
            <a:off x="2683800" y="1014480"/>
            <a:ext cx="731016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zh-CN" sz="1600" spc="72" strike="noStrike">
                <a:solidFill>
                  <a:srgbClr val="ffffff"/>
                </a:solidFill>
                <a:latin typeface="Noto Sans SC"/>
                <a:ea typeface="Noto Sans SC"/>
              </a:rPr>
              <a:t>学会“脱敏”你的问题 </a:t>
            </a:r>
            <a:r>
              <a:rPr b="1" lang="en-US" sz="1600" spc="72" strike="noStrike">
                <a:solidFill>
                  <a:srgbClr val="38bdf8"/>
                </a:solidFill>
                <a:latin typeface="Noto Sans SC"/>
                <a:ea typeface="Noto Sans SC"/>
              </a:rPr>
              <a:t>—— 提问的艺术 </a:t>
            </a:r>
            <a:r>
              <a:rPr b="1" lang="en-US" sz="1600" spc="72" strike="noStrike">
                <a:solidFill>
                  <a:srgbClr val="38bdf8"/>
                </a:solidFill>
                <a:latin typeface="Noto Sans SC"/>
                <a:ea typeface="Noto Sans SC"/>
              </a:rPr>
              <a:t>(Safe Prompting)</a:t>
            </a:r>
            <a:endParaRPr b="0" lang="en-US" sz="1600" spc="-1" strike="noStrike">
              <a:latin typeface="Arial"/>
            </a:endParaRPr>
          </a:p>
        </p:txBody>
      </p:sp>
      <p:grpSp>
        <p:nvGrpSpPr>
          <p:cNvPr id="469" name="Group 13"/>
          <p:cNvGrpSpPr/>
          <p:nvPr/>
        </p:nvGrpSpPr>
        <p:grpSpPr>
          <a:xfrm>
            <a:off x="687960" y="2303640"/>
            <a:ext cx="10687320" cy="1822680"/>
            <a:chOff x="687960" y="2303640"/>
            <a:chExt cx="10687320" cy="1822680"/>
          </a:xfrm>
        </p:grpSpPr>
        <p:sp>
          <p:nvSpPr>
            <p:cNvPr id="470" name="CustomShape 14"/>
            <p:cNvSpPr/>
            <p:nvPr/>
          </p:nvSpPr>
          <p:spPr>
            <a:xfrm>
              <a:off x="687960" y="2800440"/>
              <a:ext cx="10687320" cy="1303560"/>
            </a:xfrm>
            <a:prstGeom prst="roundRect">
              <a:avLst>
                <a:gd name="adj" fmla="val 12241"/>
              </a:avLst>
            </a:prstGeom>
            <a:solidFill>
              <a:srgbClr val="10b981">
                <a:alpha val="5000"/>
              </a:srgbClr>
            </a:solidFill>
            <a:ln w="12600">
              <a:solidFill>
                <a:srgbClr val="10b981">
                  <a:alpha val="2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1" name="CustomShape 15"/>
            <p:cNvSpPr/>
            <p:nvPr/>
          </p:nvSpPr>
          <p:spPr>
            <a:xfrm>
              <a:off x="955800" y="2303640"/>
              <a:ext cx="2781360" cy="2768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zh-CN" sz="1500" spc="-1" strike="noStrike">
                  <a:solidFill>
                    <a:srgbClr val="ffffff"/>
                  </a:solidFill>
                  <a:latin typeface="Noto Sans SC"/>
                  <a:ea typeface="Noto Sans SC"/>
                </a:rPr>
                <a:t>敏感文件保护</a:t>
              </a:r>
              <a:r>
                <a:rPr b="1" lang="en-US" sz="1500" spc="-1" strike="noStrike">
                  <a:solidFill>
                    <a:srgbClr val="ffffff"/>
                  </a:solidFill>
                  <a:latin typeface="Noto Sans SC"/>
                  <a:ea typeface="Noto Sans SC"/>
                </a:rPr>
                <a:t> </a:t>
              </a:r>
              <a:endParaRPr b="0" lang="en-US" sz="1500" spc="-1" strike="noStrike">
                <a:latin typeface="Arial"/>
              </a:endParaRPr>
            </a:p>
          </p:txBody>
        </p:sp>
        <p:pic>
          <p:nvPicPr>
            <p:cNvPr id="472" name="Image 10" descr="preencoded.png"/>
            <p:cNvPicPr/>
            <p:nvPr/>
          </p:nvPicPr>
          <p:blipFill>
            <a:blip r:embed="rId12"/>
            <a:stretch/>
          </p:blipFill>
          <p:spPr>
            <a:xfrm>
              <a:off x="688680" y="2338200"/>
              <a:ext cx="189720" cy="1897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73" name="Image 12" descr="preencoded.png"/>
            <p:cNvPicPr/>
            <p:nvPr/>
          </p:nvPicPr>
          <p:blipFill>
            <a:blip r:embed="rId13"/>
            <a:stretch/>
          </p:blipFill>
          <p:spPr>
            <a:xfrm>
              <a:off x="844200" y="3229560"/>
              <a:ext cx="304200" cy="304200"/>
            </a:xfrm>
            <a:prstGeom prst="rect">
              <a:avLst/>
            </a:prstGeom>
            <a:ln>
              <a:noFill/>
            </a:ln>
          </p:spPr>
        </p:pic>
        <p:sp>
          <p:nvSpPr>
            <p:cNvPr id="474" name="CustomShape 16"/>
            <p:cNvSpPr/>
            <p:nvPr/>
          </p:nvSpPr>
          <p:spPr>
            <a:xfrm>
              <a:off x="1277280" y="2873880"/>
              <a:ext cx="3074040" cy="11840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 marL="171360" indent="-1710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大模型</a:t>
              </a:r>
              <a:r>
                <a:rPr b="0" lang="en-US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API</a:t>
              </a: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密钥禁止明文存储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系统账号密码等敏感信息禁止发给龙虾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敏感数据脱敏后发给龙虾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使用私有化部署大模型（</a:t>
              </a:r>
              <a:r>
                <a:rPr b="0" lang="en-US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Qwen-235B</a:t>
              </a: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）</a:t>
              </a:r>
              <a:endParaRPr b="0" lang="en-US" sz="1200" spc="-1" strike="noStrike">
                <a:latin typeface="Arial"/>
              </a:endParaRPr>
            </a:p>
          </p:txBody>
        </p:sp>
        <p:pic>
          <p:nvPicPr>
            <p:cNvPr id="475" name="图片 41" descr=""/>
            <p:cNvPicPr/>
            <p:nvPr/>
          </p:nvPicPr>
          <p:blipFill>
            <a:blip r:embed="rId14"/>
            <a:stretch/>
          </p:blipFill>
          <p:spPr>
            <a:xfrm>
              <a:off x="6004440" y="2910240"/>
              <a:ext cx="4758120" cy="937080"/>
            </a:xfrm>
            <a:prstGeom prst="rect">
              <a:avLst/>
            </a:prstGeom>
            <a:ln>
              <a:noFill/>
            </a:ln>
          </p:spPr>
        </p:pic>
        <p:sp>
          <p:nvSpPr>
            <p:cNvPr id="476" name="CustomShape 17"/>
            <p:cNvSpPr/>
            <p:nvPr/>
          </p:nvSpPr>
          <p:spPr>
            <a:xfrm>
              <a:off x="5674680" y="3914280"/>
              <a:ext cx="5417640" cy="2120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https://alidocs.dingtalk.com/i/nodes/Amq4vjg890GoO9goTQ2XNzGvJ3kdP0wQ?utm_scene=person_space</a:t>
              </a:r>
              <a:endParaRPr b="0" lang="en-US" sz="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图片 2" descr=""/>
          <p:cNvPicPr/>
          <p:nvPr/>
        </p:nvPicPr>
        <p:blipFill>
          <a:blip r:embed="rId1"/>
          <a:stretch/>
        </p:blipFill>
        <p:spPr>
          <a:xfrm>
            <a:off x="5235120" y="1885680"/>
            <a:ext cx="6473880" cy="3941280"/>
          </a:xfrm>
          <a:prstGeom prst="rect">
            <a:avLst/>
          </a:prstGeom>
          <a:ln>
            <a:noFill/>
          </a:ln>
          <a:effectLst>
            <a:outerShdw algn="tl" blurRad="50800" dir="2700000" dist="37674" rotWithShape="0">
              <a:srgbClr val="000000">
                <a:alpha val="40000"/>
              </a:srgbClr>
            </a:outerShdw>
          </a:effectLst>
        </p:spPr>
      </p:pic>
      <p:grpSp>
        <p:nvGrpSpPr>
          <p:cNvPr id="478" name="Group 1"/>
          <p:cNvGrpSpPr/>
          <p:nvPr/>
        </p:nvGrpSpPr>
        <p:grpSpPr>
          <a:xfrm>
            <a:off x="579960" y="1885680"/>
            <a:ext cx="4467240" cy="1724040"/>
            <a:chOff x="579960" y="1885680"/>
            <a:chExt cx="4467240" cy="1724040"/>
          </a:xfrm>
        </p:grpSpPr>
        <p:sp>
          <p:nvSpPr>
            <p:cNvPr id="479" name="CustomShape 2"/>
            <p:cNvSpPr/>
            <p:nvPr/>
          </p:nvSpPr>
          <p:spPr>
            <a:xfrm>
              <a:off x="581760" y="1885680"/>
              <a:ext cx="4464360" cy="172404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0" name="CustomShape 3"/>
            <p:cNvSpPr/>
            <p:nvPr/>
          </p:nvSpPr>
          <p:spPr>
            <a:xfrm>
              <a:off x="579960" y="2366640"/>
              <a:ext cx="4467240" cy="11840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 marL="171360" indent="-1710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公司新闻，公关稿件，营销文案，多媒体广告等市场营销信息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已披露的财务报表，股东名单，董监高管名单等经营信息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公开的发言稿、学术论文、出版物等宣传信息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公司地址、网站地址、公开电话号码、公开传真号码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481" name="CustomShape 4"/>
            <p:cNvSpPr/>
            <p:nvPr/>
          </p:nvSpPr>
          <p:spPr>
            <a:xfrm>
              <a:off x="2265120" y="2000520"/>
              <a:ext cx="8942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可以发送</a:t>
              </a:r>
              <a:endParaRPr b="0" lang="en-US" sz="1400" spc="-1" strike="noStrike">
                <a:latin typeface="Arial"/>
              </a:endParaRPr>
            </a:p>
          </p:txBody>
        </p:sp>
        <p:pic>
          <p:nvPicPr>
            <p:cNvPr id="482" name="图片 9" descr=""/>
            <p:cNvPicPr/>
            <p:nvPr/>
          </p:nvPicPr>
          <p:blipFill>
            <a:blip r:embed="rId2"/>
            <a:stretch/>
          </p:blipFill>
          <p:spPr>
            <a:xfrm>
              <a:off x="1881720" y="1984680"/>
              <a:ext cx="312480" cy="31248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83" name="Group 5"/>
          <p:cNvGrpSpPr/>
          <p:nvPr/>
        </p:nvGrpSpPr>
        <p:grpSpPr>
          <a:xfrm>
            <a:off x="571680" y="3895200"/>
            <a:ext cx="4464360" cy="1937160"/>
            <a:chOff x="571680" y="3895200"/>
            <a:chExt cx="4464360" cy="1937160"/>
          </a:xfrm>
        </p:grpSpPr>
        <p:sp>
          <p:nvSpPr>
            <p:cNvPr id="484" name="CustomShape 6"/>
            <p:cNvSpPr/>
            <p:nvPr/>
          </p:nvSpPr>
          <p:spPr>
            <a:xfrm>
              <a:off x="571680" y="3895200"/>
              <a:ext cx="4464360" cy="19371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5" name="CustomShape 7"/>
            <p:cNvSpPr/>
            <p:nvPr/>
          </p:nvSpPr>
          <p:spPr>
            <a:xfrm>
              <a:off x="601920" y="4309560"/>
              <a:ext cx="4401720" cy="145764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marL="171360" indent="-1710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规章制度、公告或通知、企业微博、组织架构、员工姓名、座机号码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项目文档、会议纪要、工作机制、业务规划</a:t>
              </a:r>
              <a:endParaRPr b="0" lang="en-US" sz="1200" spc="-1" strike="noStrike">
                <a:latin typeface="Arial"/>
              </a:endParaRPr>
            </a:p>
            <a:p>
              <a:pPr marL="171360" indent="-1710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战略规划、资源部署、产品规划、系统设计、软件源代码、员工薪资、银行卡号、家庭住址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486" name="CustomShape 8"/>
            <p:cNvSpPr/>
            <p:nvPr/>
          </p:nvSpPr>
          <p:spPr>
            <a:xfrm>
              <a:off x="2211480" y="3913560"/>
              <a:ext cx="1785960" cy="3027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禁止发送（需脱敏）</a:t>
              </a:r>
              <a:endParaRPr b="0" lang="en-US" sz="1400" spc="-1" strike="noStrike">
                <a:latin typeface="Arial"/>
              </a:endParaRPr>
            </a:p>
          </p:txBody>
        </p:sp>
        <p:pic>
          <p:nvPicPr>
            <p:cNvPr id="487" name="图片 15" descr=""/>
            <p:cNvPicPr/>
            <p:nvPr/>
          </p:nvPicPr>
          <p:blipFill>
            <a:blip r:embed="rId3"/>
            <a:stretch/>
          </p:blipFill>
          <p:spPr>
            <a:xfrm>
              <a:off x="1892160" y="3959640"/>
              <a:ext cx="239400" cy="2232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88" name="CustomShape 9"/>
          <p:cNvSpPr/>
          <p:nvPr/>
        </p:nvSpPr>
        <p:spPr>
          <a:xfrm>
            <a:off x="4519080" y="1126440"/>
            <a:ext cx="298080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zh-CN" sz="2000" spc="-1" strike="noStrike">
                <a:solidFill>
                  <a:srgbClr val="ffffff"/>
                </a:solidFill>
                <a:latin typeface="微软雅黑"/>
                <a:ea typeface="微软雅黑"/>
              </a:rPr>
              <a:t>哪些数据可以发送给龙虾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489" name="Image 6" descr="preencoded.png"/>
          <p:cNvPicPr/>
          <p:nvPr/>
        </p:nvPicPr>
        <p:blipFill>
          <a:blip r:embed="rId4"/>
          <a:stretch/>
        </p:blipFill>
        <p:spPr>
          <a:xfrm>
            <a:off x="571680" y="523800"/>
            <a:ext cx="475920" cy="380880"/>
          </a:xfrm>
          <a:prstGeom prst="rect">
            <a:avLst/>
          </a:prstGeom>
          <a:ln>
            <a:noFill/>
          </a:ln>
        </p:spPr>
      </p:pic>
      <p:sp>
        <p:nvSpPr>
          <p:cNvPr id="490" name="CustomShape 10"/>
          <p:cNvSpPr/>
          <p:nvPr/>
        </p:nvSpPr>
        <p:spPr>
          <a:xfrm>
            <a:off x="1238040" y="476280"/>
            <a:ext cx="536076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第三道锁 数据锁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CustomShape 1"/>
          <p:cNvSpPr/>
          <p:nvPr/>
        </p:nvSpPr>
        <p:spPr>
          <a:xfrm>
            <a:off x="1238040" y="476280"/>
            <a:ext cx="3904920" cy="523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 </a:t>
            </a:r>
            <a:r>
              <a:rPr b="1" lang="zh-CN" sz="2800" spc="72" strike="noStrike">
                <a:solidFill>
                  <a:srgbClr val="ffffff"/>
                </a:solidFill>
                <a:latin typeface="Noto Sans SC"/>
                <a:ea typeface="Noto Sans SC"/>
              </a:rPr>
              <a:t>第四道锁 技能锁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2" name="CustomShape 2"/>
          <p:cNvSpPr/>
          <p:nvPr/>
        </p:nvSpPr>
        <p:spPr>
          <a:xfrm>
            <a:off x="2683800" y="1014480"/>
            <a:ext cx="731016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zh-CN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未经审核或具备高风险行为的 </a:t>
            </a:r>
            <a:r>
              <a:rPr b="1" lang="en-US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  <a:r>
              <a:rPr b="1" lang="zh-CN" sz="16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，不得在公司环境中使用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493" name="图片 4" descr=""/>
          <p:cNvPicPr/>
          <p:nvPr/>
        </p:nvPicPr>
        <p:blipFill>
          <a:blip r:embed="rId1"/>
          <a:srcRect l="38187" t="10131" r="38366" b="48675"/>
          <a:stretch/>
        </p:blipFill>
        <p:spPr>
          <a:xfrm>
            <a:off x="769680" y="533160"/>
            <a:ext cx="430200" cy="425160"/>
          </a:xfrm>
          <a:prstGeom prst="rect">
            <a:avLst/>
          </a:prstGeom>
          <a:ln>
            <a:noFill/>
          </a:ln>
        </p:spPr>
      </p:pic>
      <p:grpSp>
        <p:nvGrpSpPr>
          <p:cNvPr id="494" name="Group 3"/>
          <p:cNvGrpSpPr/>
          <p:nvPr/>
        </p:nvGrpSpPr>
        <p:grpSpPr>
          <a:xfrm>
            <a:off x="4911480" y="1614960"/>
            <a:ext cx="2843640" cy="4709880"/>
            <a:chOff x="4911480" y="1614960"/>
            <a:chExt cx="2843640" cy="4709880"/>
          </a:xfrm>
        </p:grpSpPr>
        <p:grpSp>
          <p:nvGrpSpPr>
            <p:cNvPr id="495" name="Group 4"/>
            <p:cNvGrpSpPr/>
            <p:nvPr/>
          </p:nvGrpSpPr>
          <p:grpSpPr>
            <a:xfrm>
              <a:off x="4911480" y="1614960"/>
              <a:ext cx="2843640" cy="4709880"/>
              <a:chOff x="4911480" y="1614960"/>
              <a:chExt cx="2843640" cy="4709880"/>
            </a:xfrm>
          </p:grpSpPr>
          <p:pic>
            <p:nvPicPr>
              <p:cNvPr id="496" name="图片 38" descr=""/>
              <p:cNvPicPr/>
              <p:nvPr/>
            </p:nvPicPr>
            <p:blipFill>
              <a:blip r:embed="rId2"/>
              <a:stretch/>
            </p:blipFill>
            <p:spPr>
              <a:xfrm>
                <a:off x="4911480" y="1614960"/>
                <a:ext cx="2843640" cy="470988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497" name="CustomShape 5"/>
              <p:cNvSpPr/>
              <p:nvPr/>
            </p:nvSpPr>
            <p:spPr>
              <a:xfrm>
                <a:off x="5805000" y="2800440"/>
                <a:ext cx="1069200" cy="196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0" lang="zh-CN" sz="700" spc="-1" strike="noStrike">
                    <a:solidFill>
                      <a:srgbClr val="000000"/>
                    </a:solidFill>
                    <a:latin typeface="Calibri"/>
                  </a:rPr>
                  <a:t>提交</a:t>
                </a:r>
                <a:r>
                  <a:rPr b="0" lang="en-US" sz="700" spc="-1" strike="noStrike">
                    <a:solidFill>
                      <a:srgbClr val="000000"/>
                    </a:solidFill>
                    <a:latin typeface="Calibri"/>
                  </a:rPr>
                  <a:t>Skill</a:t>
                </a:r>
                <a:r>
                  <a:rPr b="0" lang="zh-CN" sz="700" spc="-1" strike="noStrike">
                    <a:solidFill>
                      <a:srgbClr val="000000"/>
                    </a:solidFill>
                    <a:latin typeface="Calibri"/>
                  </a:rPr>
                  <a:t>名称申请上架</a:t>
                </a:r>
                <a:endParaRPr b="0" lang="en-US" sz="700" spc="-1" strike="noStrike">
                  <a:latin typeface="Arial"/>
                </a:endParaRPr>
              </a:p>
            </p:txBody>
          </p:sp>
        </p:grpSp>
        <p:sp>
          <p:nvSpPr>
            <p:cNvPr id="498" name="CustomShape 6"/>
            <p:cNvSpPr/>
            <p:nvPr/>
          </p:nvSpPr>
          <p:spPr>
            <a:xfrm flipH="1">
              <a:off x="7230600" y="3124080"/>
              <a:ext cx="493560" cy="63828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更换同类其他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Skill</a:t>
              </a:r>
              <a:endParaRPr b="0" lang="en-US" sz="900" spc="-1" strike="noStrike">
                <a:latin typeface="Arial"/>
              </a:endParaRPr>
            </a:p>
          </p:txBody>
        </p:sp>
      </p:grpSp>
      <p:pic>
        <p:nvPicPr>
          <p:cNvPr id="499" name="Image 2" descr="preencoded.png"/>
          <p:cNvPicPr/>
          <p:nvPr/>
        </p:nvPicPr>
        <p:blipFill>
          <a:blip r:embed="rId3"/>
          <a:srcRect l="0" t="-25" r="0" b="-25"/>
          <a:stretch/>
        </p:blipFill>
        <p:spPr>
          <a:xfrm>
            <a:off x="503640" y="1553760"/>
            <a:ext cx="4118760" cy="475920"/>
          </a:xfrm>
          <a:prstGeom prst="rect">
            <a:avLst/>
          </a:prstGeom>
          <a:ln>
            <a:noFill/>
          </a:ln>
        </p:spPr>
      </p:pic>
      <p:pic>
        <p:nvPicPr>
          <p:cNvPr id="500" name="Image 3" descr="preencoded.png"/>
          <p:cNvPicPr/>
          <p:nvPr/>
        </p:nvPicPr>
        <p:blipFill>
          <a:blip r:embed="rId4"/>
          <a:stretch/>
        </p:blipFill>
        <p:spPr>
          <a:xfrm>
            <a:off x="503640" y="2030040"/>
            <a:ext cx="4118760" cy="980640"/>
          </a:xfrm>
          <a:prstGeom prst="rect">
            <a:avLst/>
          </a:prstGeom>
          <a:ln>
            <a:noFill/>
          </a:ln>
        </p:spPr>
      </p:pic>
      <p:sp>
        <p:nvSpPr>
          <p:cNvPr id="501" name="CustomShape 7"/>
          <p:cNvSpPr/>
          <p:nvPr/>
        </p:nvSpPr>
        <p:spPr>
          <a:xfrm>
            <a:off x="696600" y="2167560"/>
            <a:ext cx="28440" cy="716040"/>
          </a:xfrm>
          <a:prstGeom prst="roundRect">
            <a:avLst>
              <a:gd name="adj" fmla="val 455414"/>
            </a:avLst>
          </a:prstGeom>
          <a:solidFill>
            <a:srgbClr val="ef4444"/>
          </a:solidFill>
          <a:ln w="126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CustomShape 8"/>
          <p:cNvSpPr/>
          <p:nvPr/>
        </p:nvSpPr>
        <p:spPr>
          <a:xfrm>
            <a:off x="926280" y="1599840"/>
            <a:ext cx="35409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禁止下载未经审核的 </a:t>
            </a:r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3" name="CustomShape 9"/>
          <p:cNvSpPr/>
          <p:nvPr/>
        </p:nvSpPr>
        <p:spPr>
          <a:xfrm>
            <a:off x="775080" y="2197440"/>
            <a:ext cx="4563720" cy="63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严禁从外部平台下载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（如：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ClawHub 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等） 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不得私自引入或安装来源不明的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 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防止恶意代码、数据泄露及合规风险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4" name="CustomShape 10"/>
          <p:cNvSpPr/>
          <p:nvPr/>
        </p:nvSpPr>
        <p:spPr>
          <a:xfrm>
            <a:off x="506520" y="1591920"/>
            <a:ext cx="67068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🚫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505" name="Image 4" descr="preencoded.png"/>
          <p:cNvPicPr/>
          <p:nvPr/>
        </p:nvPicPr>
        <p:blipFill>
          <a:blip r:embed="rId5"/>
          <a:srcRect l="0" t="-25" r="0" b="-25"/>
          <a:stretch/>
        </p:blipFill>
        <p:spPr>
          <a:xfrm>
            <a:off x="503640" y="3126960"/>
            <a:ext cx="4118760" cy="475920"/>
          </a:xfrm>
          <a:prstGeom prst="rect">
            <a:avLst/>
          </a:prstGeom>
          <a:ln>
            <a:noFill/>
          </a:ln>
        </p:spPr>
      </p:pic>
      <p:pic>
        <p:nvPicPr>
          <p:cNvPr id="506" name="Image 5" descr="preencoded.png"/>
          <p:cNvPicPr/>
          <p:nvPr/>
        </p:nvPicPr>
        <p:blipFill>
          <a:blip r:embed="rId6"/>
          <a:stretch/>
        </p:blipFill>
        <p:spPr>
          <a:xfrm>
            <a:off x="503640" y="3603600"/>
            <a:ext cx="4118760" cy="1409040"/>
          </a:xfrm>
          <a:prstGeom prst="rect">
            <a:avLst/>
          </a:prstGeom>
          <a:ln>
            <a:noFill/>
          </a:ln>
        </p:spPr>
      </p:pic>
      <p:sp>
        <p:nvSpPr>
          <p:cNvPr id="507" name="CustomShape 11"/>
          <p:cNvSpPr/>
          <p:nvPr/>
        </p:nvSpPr>
        <p:spPr>
          <a:xfrm>
            <a:off x="694800" y="3793680"/>
            <a:ext cx="28080" cy="1079640"/>
          </a:xfrm>
          <a:prstGeom prst="roundRect">
            <a:avLst>
              <a:gd name="adj" fmla="val 455414"/>
            </a:avLst>
          </a:prstGeom>
          <a:solidFill>
            <a:srgbClr val="10b981"/>
          </a:solidFill>
          <a:ln w="12600">
            <a:solidFill>
              <a:srgbClr val="10b98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CustomShape 12"/>
          <p:cNvSpPr/>
          <p:nvPr/>
        </p:nvSpPr>
        <p:spPr>
          <a:xfrm>
            <a:off x="792000" y="3722400"/>
            <a:ext cx="4563720" cy="11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1️⃣ AI</a:t>
            </a: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星球 → </a:t>
            </a:r>
            <a:r>
              <a:rPr b="1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SkillHub </a:t>
            </a: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已上架 </a:t>
            </a:r>
            <a:r>
              <a:rPr b="1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已通过公司安全审核 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可直接使用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2️⃣ </a:t>
            </a: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自研 </a:t>
            </a:r>
            <a:r>
              <a:rPr b="1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上架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SkillHub 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前必须完成安全审批 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审核通过后方可使用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9" name="CustomShape 13"/>
          <p:cNvSpPr/>
          <p:nvPr/>
        </p:nvSpPr>
        <p:spPr>
          <a:xfrm>
            <a:off x="907200" y="3196440"/>
            <a:ext cx="35409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统一使用合规 </a:t>
            </a:r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 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来源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0" name="CustomShape 14"/>
          <p:cNvSpPr/>
          <p:nvPr/>
        </p:nvSpPr>
        <p:spPr>
          <a:xfrm>
            <a:off x="473040" y="3165840"/>
            <a:ext cx="5817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511" name="Image 4" descr="preencoded.png"/>
          <p:cNvPicPr/>
          <p:nvPr/>
        </p:nvPicPr>
        <p:blipFill>
          <a:blip r:embed="rId7"/>
          <a:srcRect l="0" t="-25" r="0" b="-25"/>
          <a:stretch/>
        </p:blipFill>
        <p:spPr>
          <a:xfrm>
            <a:off x="503640" y="5128920"/>
            <a:ext cx="4118760" cy="475920"/>
          </a:xfrm>
          <a:prstGeom prst="rect">
            <a:avLst/>
          </a:prstGeom>
          <a:ln>
            <a:noFill/>
          </a:ln>
        </p:spPr>
      </p:pic>
      <p:pic>
        <p:nvPicPr>
          <p:cNvPr id="512" name="Image 5" descr="preencoded.png"/>
          <p:cNvPicPr/>
          <p:nvPr/>
        </p:nvPicPr>
        <p:blipFill>
          <a:blip r:embed="rId8"/>
          <a:stretch/>
        </p:blipFill>
        <p:spPr>
          <a:xfrm>
            <a:off x="506520" y="5585400"/>
            <a:ext cx="4107240" cy="932400"/>
          </a:xfrm>
          <a:prstGeom prst="rect">
            <a:avLst/>
          </a:prstGeom>
          <a:ln>
            <a:noFill/>
          </a:ln>
        </p:spPr>
      </p:pic>
      <p:sp>
        <p:nvSpPr>
          <p:cNvPr id="513" name="CustomShape 15"/>
          <p:cNvSpPr/>
          <p:nvPr/>
        </p:nvSpPr>
        <p:spPr>
          <a:xfrm>
            <a:off x="506520" y="5128920"/>
            <a:ext cx="5817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⚠️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4" name="CustomShape 16"/>
          <p:cNvSpPr/>
          <p:nvPr/>
        </p:nvSpPr>
        <p:spPr>
          <a:xfrm>
            <a:off x="842040" y="5175000"/>
            <a:ext cx="35409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遵守 </a:t>
            </a:r>
            <a:r>
              <a:rPr b="0" lang="en-US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 </a:t>
            </a:r>
            <a:r>
              <a:rPr b="0" lang="zh-CN" sz="1400" spc="-1" strike="noStrike">
                <a:solidFill>
                  <a:srgbClr val="ffffff"/>
                </a:solidFill>
                <a:latin typeface="微软雅黑"/>
                <a:ea typeface="微软雅黑"/>
              </a:rPr>
              <a:t>使用安全规范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5" name="CustomShape 17"/>
          <p:cNvSpPr/>
          <p:nvPr/>
        </p:nvSpPr>
        <p:spPr>
          <a:xfrm>
            <a:off x="775080" y="5710680"/>
            <a:ext cx="3562200" cy="63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严格按照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 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描述中的安全要求使用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不得超范围调用或修改用途</a:t>
            </a:r>
            <a:endParaRPr b="0" lang="en-US" sz="1200" spc="-1" strike="noStrike">
              <a:latin typeface="Arial"/>
            </a:endParaRPr>
          </a:p>
          <a:p>
            <a:pPr marL="171360" indent="-1710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涉及数据处理时注意权限与敏感信息保护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6" name="CustomShape 18"/>
          <p:cNvSpPr/>
          <p:nvPr/>
        </p:nvSpPr>
        <p:spPr>
          <a:xfrm>
            <a:off x="678960" y="5633280"/>
            <a:ext cx="28080" cy="719640"/>
          </a:xfrm>
          <a:prstGeom prst="roundRect">
            <a:avLst>
              <a:gd name="adj" fmla="val 455414"/>
            </a:avLst>
          </a:prstGeom>
          <a:solidFill>
            <a:schemeClr val="accent4"/>
          </a:solidFill>
          <a:ln w="12600">
            <a:solidFill>
              <a:srgbClr val="10b98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CustomShape 19"/>
          <p:cNvSpPr/>
          <p:nvPr/>
        </p:nvSpPr>
        <p:spPr>
          <a:xfrm>
            <a:off x="4614120" y="6353280"/>
            <a:ext cx="41072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所有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 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的引入与使用需符合公司数据安全与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使用规范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8" name="CustomShape 20"/>
          <p:cNvSpPr/>
          <p:nvPr/>
        </p:nvSpPr>
        <p:spPr>
          <a:xfrm>
            <a:off x="8156520" y="1686240"/>
            <a:ext cx="3533760" cy="419436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50000"/>
              </a:lnSpc>
            </a:pP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出现以下情况的 </a:t>
            </a:r>
            <a:r>
              <a:rPr b="1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，</a:t>
            </a:r>
            <a:r>
              <a:rPr b="1" lang="zh-CN" sz="1200" spc="-1" strike="noStrike">
                <a:solidFill>
                  <a:srgbClr val="ff0000"/>
                </a:solidFill>
                <a:latin typeface="微软雅黑"/>
                <a:ea typeface="微软雅黑"/>
              </a:rPr>
              <a:t>禁止</a:t>
            </a: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使用：</a:t>
            </a:r>
            <a:endParaRPr b="0" lang="en-US" sz="1200" spc="-1" strike="noStrike">
              <a:latin typeface="Arial"/>
            </a:endParaRPr>
          </a:p>
          <a:p>
            <a:pPr marL="228600" indent="-228240">
              <a:lnSpc>
                <a:spcPct val="15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包含恶意代码</a:t>
            </a:r>
            <a:br/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如隐藏后门、窃取数据、绕过安全控制、植入异常指令等 </a:t>
            </a:r>
            <a:endParaRPr b="0" lang="en-US" sz="1200" spc="-1" strike="noStrike">
              <a:latin typeface="Arial"/>
            </a:endParaRPr>
          </a:p>
          <a:p>
            <a:pPr marL="228600" indent="-228240">
              <a:lnSpc>
                <a:spcPct val="15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存在下载恶意软件行为</a:t>
            </a:r>
            <a:br/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如自动下载木马、病毒、未知脚本或其他高风险程序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出现以下情况的 </a:t>
            </a:r>
            <a:r>
              <a:rPr b="1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，需</a:t>
            </a:r>
            <a:r>
              <a:rPr b="1" lang="zh-CN" sz="1200" spc="-1" strike="noStrike">
                <a:solidFill>
                  <a:srgbClr val="ffc000"/>
                </a:solidFill>
                <a:latin typeface="微软雅黑"/>
                <a:ea typeface="微软雅黑"/>
              </a:rPr>
              <a:t>谨慎</a:t>
            </a: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使用并重点评估：</a:t>
            </a:r>
            <a:endParaRPr b="0" lang="en-US" sz="1200" spc="-1" strike="noStrike">
              <a:latin typeface="Arial"/>
            </a:endParaRPr>
          </a:p>
          <a:p>
            <a:pPr marL="228600" indent="-228240">
              <a:lnSpc>
                <a:spcPct val="15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b="1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执行高权限操作</a:t>
            </a:r>
            <a:br/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如 </a:t>
            </a:r>
            <a:r>
              <a:rPr b="0" lang="en-US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rm</a:t>
            </a: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、批量删除、系统配置修改、提权操作、覆盖关键文件等 </a:t>
            </a:r>
            <a:endParaRPr b="0" lang="en-US" sz="1200" spc="-1" strike="noStrike">
              <a:latin typeface="Arial"/>
            </a:endParaRPr>
          </a:p>
          <a:p>
            <a:pPr marL="228600" indent="-228240">
              <a:lnSpc>
                <a:spcPct val="15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涉及本地文件批量读写、系统目录访问、敏感命令执行等行为 </a:t>
            </a:r>
            <a:endParaRPr b="0" lang="en-US" sz="1200" spc="-1" strike="noStrike">
              <a:latin typeface="Arial"/>
            </a:endParaRPr>
          </a:p>
          <a:p>
            <a:pPr marL="228600" indent="-228240">
              <a:lnSpc>
                <a:spcPct val="15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b="0" lang="zh-CN" sz="1200" spc="-1" strike="noStrike">
                <a:solidFill>
                  <a:srgbClr val="ffffff"/>
                </a:solidFill>
                <a:latin typeface="微软雅黑"/>
                <a:ea typeface="微软雅黑"/>
              </a:rPr>
              <a:t>使用前应明确操作范围、影响对象和回滚措施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9" name="CustomShape 21"/>
          <p:cNvSpPr/>
          <p:nvPr/>
        </p:nvSpPr>
        <p:spPr>
          <a:xfrm>
            <a:off x="7810920" y="3452040"/>
            <a:ext cx="289800" cy="28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0" name="CustomShape 22"/>
          <p:cNvSpPr/>
          <p:nvPr/>
        </p:nvSpPr>
        <p:spPr>
          <a:xfrm>
            <a:off x="4622760" y="3951720"/>
            <a:ext cx="259560" cy="32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1" name="CustomShape 23"/>
          <p:cNvSpPr/>
          <p:nvPr/>
        </p:nvSpPr>
        <p:spPr>
          <a:xfrm>
            <a:off x="8224560" y="1411920"/>
            <a:ext cx="313092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 u="sng">
                <a:solidFill>
                  <a:srgbClr val="0563c1"/>
                </a:solidFill>
                <a:uFillTx/>
                <a:latin typeface="微软雅黑"/>
                <a:ea typeface="微软雅黑"/>
                <a:hlinkClick r:id="rId9"/>
              </a:rPr>
              <a:t>Skill</a:t>
            </a:r>
            <a:r>
              <a:rPr b="0" lang="zh-CN" sz="1200" spc="-1" strike="noStrike" u="sng">
                <a:solidFill>
                  <a:srgbClr val="0563c1"/>
                </a:solidFill>
                <a:uFillTx/>
                <a:latin typeface="微软雅黑"/>
                <a:ea typeface="微软雅黑"/>
                <a:hlinkClick r:id="rId10"/>
              </a:rPr>
              <a:t>编写规范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4205</TotalTime>
  <Application>LibreOffice/6.4.7.2$Linux_X86_64 LibreOffice_project/40$Build-2</Application>
  <Words>4252</Words>
  <Paragraphs>514</Paragraphs>
  <Company>Generated by Gen-Spark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2026-03-22T09:54:53Z</dcterms:created>
  <dc:creator>Visual Extract to PPTX Converter</dc:creator>
  <dc:description/>
  <dc:language>zh-CN</dc:language>
  <cp:lastModifiedBy/>
  <dcterms:modified xsi:type="dcterms:W3CDTF">2026-05-25T11:13:57Z</dcterms:modified>
  <cp:revision>734</cp:revision>
  <dc:subject>PptxGenJS Presentation</dc:subject>
  <dc:title>Multi-page HTML Content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Generated by Gen-Spark</vt:lpwstr>
  </property>
  <property fmtid="{D5CDD505-2E9C-101B-9397-08002B2CF9AE}" pid="4" name="HiddenSlides">
    <vt:i4>5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1</vt:i4>
  </property>
  <property fmtid="{D5CDD505-2E9C-101B-9397-08002B2CF9AE}" pid="8" name="Notes">
    <vt:i4>19</vt:i4>
  </property>
  <property fmtid="{D5CDD505-2E9C-101B-9397-08002B2CF9AE}" pid="9" name="PresentationFormat">
    <vt:lpwstr>宽屏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45</vt:i4>
  </property>
</Properties>
</file>